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4B8A6"/>
                </a:solidFill>
                <a:latin typeface="Arial"/>
              </a:defRPr>
            </a:pPr>
            <a:r>
              <a:t>NEXT-GENERATION IDENTITY SECURITY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Privacy-Preserving Selectively</a:t>
            </a:r>
            <a:br/>
            <a:r>
              <a:t>Disclosed eKYC System</a:t>
            </a:r>
          </a:p>
          <a:p>
            <a:pPr>
              <a:spcAft>
                <a:spcPts val="2800"/>
              </a:spcAft>
              <a:defRPr sz="1500">
                <a:solidFill>
                  <a:srgbClr val="0EA5E9"/>
                </a:solidFill>
                <a:latin typeface="Arial"/>
              </a:defRPr>
            </a:pPr>
            <a:r>
              <a:t>Zero-Knowledge Proofs (zk-SNARKs) • Merkle Trees • Post-Quantum Signatures • On-Device Biometrics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Project Supervisor Technical Presentation &amp; Architectural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MOTIVATION &amp;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Problem: Traditional KYC is Broken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7316"/>
                </a:solidFill>
                <a:latin typeface="Arial"/>
              </a:defRPr>
            </a:pPr>
            <a:r>
              <a:t>❌ Current Standard (Traditional KYC)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• Centralized Data Honeypots: </a:t>
            </a:r>
            <a:r>
              <a:rPr sz="1150">
                <a:solidFill>
                  <a:srgbClr val="94A3B8"/>
                </a:solidFill>
                <a:latin typeface="Arial"/>
              </a:rPr>
              <a:t>Users upload raw PDF scans and photos of Passports, Aadhaar, and PAN cards to corporate cloud servers.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• Catastrophic Oversharing: </a:t>
            </a:r>
            <a:r>
              <a:rPr sz="1150">
                <a:solidFill>
                  <a:srgbClr val="94A3B8"/>
                </a:solidFill>
                <a:latin typeface="Arial"/>
              </a:rPr>
              <a:t>To prove you are 18+ or a citizen, you must expose your exact birthdate, full home address, and government ID numbers.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• High Data Breach Risk: </a:t>
            </a:r>
            <a:r>
              <a:rPr sz="1150">
                <a:solidFill>
                  <a:srgbClr val="94A3B8"/>
                </a:solidFill>
                <a:latin typeface="Arial"/>
              </a:rPr>
              <a:t>Thousands of corporate databases leak identity cards every year, fueling rampant identity theft.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• Surveillance &amp; Tracking: </a:t>
            </a:r>
            <a:r>
              <a:rPr sz="1150">
                <a:solidFill>
                  <a:srgbClr val="94A3B8"/>
                </a:solidFill>
                <a:latin typeface="Arial"/>
              </a:rPr>
              <a:t>Verification lookups contact central servers, tracking where and when citizens present their identity.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• Third-Party Biometrics: </a:t>
            </a:r>
            <a:r>
              <a:rPr sz="1150">
                <a:solidFill>
                  <a:srgbClr val="94A3B8"/>
                </a:solidFill>
                <a:latin typeface="Arial"/>
              </a:rPr>
              <a:t>Selfies and face scans are sent across networks to black-box cloud biometric APIs.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Arial"/>
              </a:defRPr>
            </a:pPr>
            <a:r>
              <a:t>✔ Our Solution (Zero-Knowledge eKYC)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• Zero Data Honeypots: </a:t>
            </a:r>
            <a:r>
              <a:rPr sz="1150">
                <a:solidFill>
                  <a:srgbClr val="94A3B8"/>
                </a:solidFill>
                <a:latin typeface="Arial"/>
              </a:rPr>
              <a:t>Only an 800-byte mathematical proof is transmitted. Verifiers store zero raw personal records.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• Selective Disclosure: </a:t>
            </a:r>
            <a:r>
              <a:rPr sz="1150">
                <a:solidFill>
                  <a:srgbClr val="94A3B8"/>
                </a:solidFill>
                <a:latin typeface="Arial"/>
              </a:rPr>
              <a:t>Users prove predicates ('Age &gt;= 18', 'ID not expired') without revealing their birthdate or document numbers.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• Cryptographic Guarantee: </a:t>
            </a:r>
            <a:r>
              <a:rPr sz="1150">
                <a:solidFill>
                  <a:srgbClr val="94A3B8"/>
                </a:solidFill>
                <a:latin typeface="Arial"/>
              </a:rPr>
              <a:t>ZK proofs mathematically guarantee correctness without disclosing underlying data.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• Private Non-Revocation: </a:t>
            </a:r>
            <a:r>
              <a:rPr sz="1150">
                <a:solidFill>
                  <a:srgbClr val="94A3B8"/>
                </a:solidFill>
                <a:latin typeface="Arial"/>
              </a:rPr>
              <a:t>Sparse Merkle Trees (SMT) prove ID validity without contacting central servers or revealing user identities.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• 100% On-Device Biometrics: </a:t>
            </a:r>
            <a:r>
              <a:rPr sz="1150">
                <a:solidFill>
                  <a:srgbClr val="94A3B8"/>
                </a:solidFill>
                <a:latin typeface="Arial"/>
              </a:rPr>
              <a:t>Webcam liveness and face match run entirely in the browser. Zero image bytes leave the device.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CRYPTOGRAPHIC 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Foundational Concepts (Zero-Knowledge &amp; Merkle Trees)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rial"/>
              </a:defRPr>
            </a:pPr>
            <a:r>
              <a:t>Zero-Knowledge Proof (ZKP)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A cryptographic protocol where a Prover proves a statement is TRUE to a Verifier without revealing any underlying data.</a:t>
            </a:r>
          </a:p>
          <a:p>
            <a:pPr>
              <a:defRPr sz="950" i="1">
                <a:solidFill>
                  <a:srgbClr val="14B8A6"/>
                </a:solidFill>
                <a:latin typeface="Arial"/>
              </a:defRPr>
            </a:pPr>
            <a:r>
              <a:t>Analogy: Proving you have the key to a safe by extracting a requested prize without showing the key itself.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rial"/>
              </a:defRPr>
            </a:pPr>
            <a:r>
              <a:t>zk-SNARK &amp; Groth16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488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Succinct Non-Interactive Argument of Knowledge. Produces tiny proofs (~800 bytes) verified in milliseconds on CPU or smart contracts.</a:t>
            </a:r>
          </a:p>
          <a:p>
            <a:pPr>
              <a:defRPr sz="950" i="1">
                <a:solidFill>
                  <a:srgbClr val="14B8A6"/>
                </a:solidFill>
                <a:latin typeface="Arial"/>
              </a:defRPr>
            </a:pPr>
            <a:r>
              <a:t>Constraint-efficient pairing-friendly curve (BN128) optimized for zero-knowledge arithmetic circuits.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rial"/>
              </a:defRPr>
            </a:pPr>
            <a:r>
              <a:t>Poseidon Hash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1488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An algebraic hash function designed natively for ZK arithmetic circuits over large prime fields.</a:t>
            </a:r>
          </a:p>
          <a:p>
            <a:pPr>
              <a:defRPr sz="950" i="1">
                <a:solidFill>
                  <a:srgbClr val="14B8A6"/>
                </a:solidFill>
                <a:latin typeface="Arial"/>
              </a:defRPr>
            </a:pPr>
            <a:r>
              <a:t>Takes only ~240 constraints vs. ~25,000 constraints for SHA-256 (100x speedup in browser proof generation).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338328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rial"/>
              </a:defRPr>
            </a:pPr>
            <a:r>
              <a:t>Salted Merkle 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091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Each attribute (Name, DOB, ID) is salted: Leaf = Poseidon(Value, Salt) and organized into a depth-4 binary tree.</a:t>
            </a:r>
          </a:p>
          <a:p>
            <a:pPr>
              <a:defRPr sz="950" i="1">
                <a:solidFill>
                  <a:srgbClr val="14B8A6"/>
                </a:solidFill>
                <a:latin typeface="Arial"/>
              </a:defRPr>
            </a:pPr>
            <a:r>
              <a:t>256-bit random salts prevent rainbow tables or brute-force dictionary attacks against finite field values.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114800"/>
            <a:ext cx="338328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4251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rial"/>
              </a:defRPr>
            </a:pPr>
            <a:r>
              <a:t>Cryptographic Nullifier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7091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A deterministic single-use pseudo-random tag: Poseidon(holderSecret, verifierId, nonce).</a:t>
            </a:r>
          </a:p>
          <a:p>
            <a:pPr>
              <a:defRPr sz="950" i="1">
                <a:solidFill>
                  <a:srgbClr val="14B8A6"/>
                </a:solidFill>
                <a:latin typeface="Arial"/>
              </a:defRPr>
            </a:pPr>
            <a:r>
              <a:t>Prevents replay attacks and double-spending while keeping transactions across different services unlinkable.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114800"/>
            <a:ext cx="338328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4251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rial"/>
              </a:defRPr>
            </a:pPr>
            <a:r>
              <a:t>Sparse Merkle Tree (SMT)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7091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A 20-level tree with 1,048,576 nodes where default leaves are zero.</a:t>
            </a:r>
          </a:p>
          <a:p>
            <a:pPr>
              <a:defRPr sz="950" i="1">
                <a:solidFill>
                  <a:srgbClr val="14B8A6"/>
                </a:solidFill>
                <a:latin typeface="Arial"/>
              </a:defRPr>
            </a:pPr>
            <a:r>
              <a:t>Allows proving non-membership ('My ID is not revoked' &amp; 'My name is not on sanctions list') without revealing identity.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DECENTRALIZED IDENTITY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Three-Party Trust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rial"/>
              </a:defRPr>
            </a:pPr>
            <a:r>
              <a:t>1. ISSUER (Trust Anchor)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Entity: </a:t>
            </a:r>
            <a:r>
              <a:rPr sz="1100">
                <a:solidFill>
                  <a:srgbClr val="94A3B8"/>
                </a:solidFill>
              </a:rPr>
              <a:t>Government / University / Passport Seva / UIDAI.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Verification: </a:t>
            </a:r>
            <a:r>
              <a:rPr sz="1100">
                <a:solidFill>
                  <a:srgbClr val="94A3B8"/>
                </a:solidFill>
              </a:rPr>
              <a:t>Cross-checks citizen records against official databases.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Merkle Building: </a:t>
            </a:r>
            <a:r>
              <a:rPr sz="1100">
                <a:solidFill>
                  <a:srgbClr val="94A3B8"/>
                </a:solidFill>
              </a:rPr>
              <a:t>Builds depth-4 Poseidon Merkle Tree containing 9 salted leaves.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Hybrid Signing: </a:t>
            </a:r>
            <a:r>
              <a:rPr sz="1100">
                <a:solidFill>
                  <a:srgbClr val="94A3B8"/>
                </a:solidFill>
              </a:rPr>
              <a:t>Signs Merkle root with EdDSA (BabyJubJub) + Post-Quantum ML-DSA-65.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Strict Privacy: </a:t>
            </a:r>
            <a:r>
              <a:rPr sz="1100">
                <a:solidFill>
                  <a:srgbClr val="94A3B8"/>
                </a:solidFill>
              </a:rPr>
              <a:t>NEVER sees holder's private secret; only receives Poseidon(holderSecret).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B8A6"/>
                </a:solidFill>
                <a:latin typeface="Arial"/>
              </a:defRPr>
            </a:pPr>
            <a:r>
              <a:t>2. HOLDER (Citizen Wallet)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Client Storage: </a:t>
            </a:r>
            <a:r>
              <a:rPr sz="1100">
                <a:solidFill>
                  <a:srgbClr val="94A3B8"/>
                </a:solidFill>
              </a:rPr>
              <a:t>Encrypted local vault using PBKDF2 + AES-256-GCM.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Key Generation: </a:t>
            </a:r>
            <a:r>
              <a:rPr sz="1100">
                <a:solidFill>
                  <a:srgbClr val="94A3B8"/>
                </a:solidFill>
              </a:rPr>
              <a:t>Generates 31-byte holderSecret locally in browser RAM.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Liveness Check: </a:t>
            </a:r>
            <a:r>
              <a:rPr sz="1100">
                <a:solidFill>
                  <a:srgbClr val="94A3B8"/>
                </a:solidFill>
              </a:rPr>
              <a:t>Webcam anti-spoofing and face match computed 100% locally via Canvas &amp; WASM.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Witness &amp; Prover: </a:t>
            </a:r>
            <a:r>
              <a:rPr sz="1100">
                <a:solidFill>
                  <a:srgbClr val="94A3B8"/>
                </a:solidFill>
              </a:rPr>
              <a:t>snarkjs computes Groth16 zk-SNARK witness &amp; proof in ~1.4s.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Selective Proof: </a:t>
            </a:r>
            <a:r>
              <a:rPr sz="1100">
                <a:solidFill>
                  <a:srgbClr val="94A3B8"/>
                </a:solidFill>
              </a:rPr>
              <a:t>Discloses Name &amp; Uni; completely conceals DOB, NID, and Address.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  <a:latin typeface="Arial"/>
              </a:defRPr>
            </a:pPr>
            <a:r>
              <a:t>3. VERIFIER (Relying Party)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Entity: </a:t>
            </a:r>
            <a:r>
              <a:rPr sz="1100">
                <a:solidFill>
                  <a:srgbClr val="94A3B8"/>
                </a:solidFill>
              </a:rPr>
              <a:t>Bank, Telecom, Employer, or Ethereum Smart Contract.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Session Challenge: </a:t>
            </a:r>
            <a:r>
              <a:rPr sz="1100">
                <a:solidFill>
                  <a:srgbClr val="94A3B8"/>
                </a:solidFill>
              </a:rPr>
              <a:t>Sends single-use nonce, minimum age policy, and verifierId.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8-Point Validation: </a:t>
            </a:r>
            <a:r>
              <a:rPr sz="1100">
                <a:solidFill>
                  <a:srgbClr val="94A3B8"/>
                </a:solidFill>
              </a:rPr>
              <a:t>Checks Groth16 proof, EdDSA trust anchor, clock drift, SMT roots, and nullifier uniqueness.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Zero Knowledge: </a:t>
            </a:r>
            <a:r>
              <a:rPr sz="1100">
                <a:solidFill>
                  <a:srgbClr val="94A3B8"/>
                </a:solidFill>
              </a:rPr>
              <a:t>Learns that Age &gt;= 18 is true; learns zero information about DOB or ID.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Replay Protection: </a:t>
            </a:r>
            <a:r>
              <a:rPr sz="1100">
                <a:solidFill>
                  <a:srgbClr val="94A3B8"/>
                </a:solidFill>
              </a:rPr>
              <a:t>Records nullifier to prevent double-spending or replay attacks.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EXECUTION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End-to-End System Workflow (7 Lifecycle Steps)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188720" cy="5943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463040"/>
            <a:ext cx="9418320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94560" y="1508760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Local Keygen &amp; Vault: </a:t>
            </a:r>
            <a:r>
              <a:rPr sz="1100">
                <a:solidFill>
                  <a:srgbClr val="94A3B8"/>
                </a:solidFill>
                <a:latin typeface="Arial"/>
              </a:rPr>
              <a:t>User unlocks browser wallet. PBKDF2 derives AES key; holderSecret is generated locally in volatile RAM.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76272"/>
            <a:ext cx="1188720" cy="5943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176272"/>
            <a:ext cx="9418320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0" y="2221992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Document Parsing: </a:t>
            </a:r>
            <a:r>
              <a:rPr sz="1100">
                <a:solidFill>
                  <a:srgbClr val="94A3B8"/>
                </a:solidFill>
                <a:latin typeface="Arial"/>
              </a:rPr>
              <a:t>OCR/PDF parser extracts demographics. Mathematical checksums (Verhoeff D5 / ICAO 9303) validate authenticity.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9504"/>
            <a:ext cx="1188720" cy="5943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2889504"/>
            <a:ext cx="9418320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94560" y="2935224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Registry Cross-Check: </a:t>
            </a:r>
            <a:r>
              <a:rPr sz="1100">
                <a:solidFill>
                  <a:srgbClr val="94A3B8"/>
                </a:solidFill>
                <a:latin typeface="Arial"/>
              </a:rPr>
              <a:t>Issuer verifies document against UIDAI / MEA / NSDL registries with word-order-insensitive name matching.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02736"/>
            <a:ext cx="1188720" cy="5943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3602736"/>
            <a:ext cx="9418320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4560" y="3648456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FFFFFF"/>
                </a:solidFill>
                <a:latin typeface="Arial"/>
              </a:rPr>
              <a:t>Hybrid Credential Issuance: </a:t>
            </a:r>
            <a:r>
              <a:rPr sz="1100" dirty="0">
                <a:solidFill>
                  <a:srgbClr val="94A3B8"/>
                </a:solidFill>
                <a:latin typeface="Arial"/>
              </a:rPr>
              <a:t>Issuer builds 16-leaf Merkle Tree. Signs root with </a:t>
            </a:r>
            <a:r>
              <a:rPr sz="1100" dirty="0" err="1">
                <a:solidFill>
                  <a:srgbClr val="94A3B8"/>
                </a:solidFill>
                <a:latin typeface="Arial"/>
              </a:rPr>
              <a:t>EdDSA</a:t>
            </a:r>
            <a:r>
              <a:rPr sz="1100" dirty="0">
                <a:solidFill>
                  <a:srgbClr val="94A3B8"/>
                </a:solidFill>
                <a:latin typeface="Arial"/>
              </a:rPr>
              <a:t> + ML-DSA-65 post-quantum lattice signature.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15968"/>
            <a:ext cx="1188720" cy="5943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Arial"/>
              </a:defRPr>
            </a:pPr>
            <a:r>
              <a:t>Step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315968"/>
            <a:ext cx="9418320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94560" y="4361688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On-Device Biometrics: </a:t>
            </a:r>
            <a:r>
              <a:rPr sz="1100">
                <a:solidFill>
                  <a:srgbClr val="94A3B8"/>
                </a:solidFill>
                <a:latin typeface="Arial"/>
              </a:rPr>
              <a:t>Webcam captures 6 frames. Micro-motion flux confirms liveness; HOG cosine similarity matches face photo.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188720" cy="5943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Arial"/>
              </a:defRPr>
            </a:pPr>
            <a:r>
              <a:t>Step 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5029200"/>
            <a:ext cx="9418320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94560" y="5074920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Groth16 Proof Generation: </a:t>
            </a:r>
            <a:r>
              <a:rPr sz="1100">
                <a:solidFill>
                  <a:srgbClr val="94A3B8"/>
                </a:solidFill>
                <a:latin typeface="Arial"/>
              </a:rPr>
              <a:t>Circom circuit checks age, expiry, SMT non-revocation, and binds holderSecret to session nonce.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742431"/>
            <a:ext cx="1188720" cy="5943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Arial"/>
              </a:defRPr>
            </a:pPr>
            <a:r>
              <a:t>Step 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5742431"/>
            <a:ext cx="9418320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94560" y="5788151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Verification &amp; Nullifier: </a:t>
            </a:r>
            <a:r>
              <a:rPr sz="1100">
                <a:solidFill>
                  <a:srgbClr val="94A3B8"/>
                </a:solidFill>
                <a:latin typeface="Arial"/>
              </a:rPr>
              <a:t>Gateway / Smart contract runs 8-point check, records nullifier, and accepts verified claim in ~0.02s.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ZERO-KNOWLEDGE CIRCUIT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Circom Circuit Architecture (selective_disclosure.circom)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rial"/>
              </a:defRPr>
            </a:pPr>
            <a:r>
              <a:t>Merkle Tree Slot Layout (Depth 4 = 16 Leaves)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B8A6"/>
                </a:solidFill>
              </a:rPr>
              <a:t>Slot 0 [IDX_NAME]: </a:t>
            </a:r>
            <a:r>
              <a:rPr sz="1050">
                <a:solidFill>
                  <a:srgbClr val="94A3B8"/>
                </a:solidFill>
              </a:rPr>
              <a:t>NameValue (SHA-256 mod p) - PUBLIC SIGNAL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</a:rPr>
              <a:t>Slot 1 [IDX_DOB]: </a:t>
            </a:r>
            <a:r>
              <a:rPr sz="1050">
                <a:solidFill>
                  <a:srgbClr val="94A3B8"/>
                </a:solidFill>
              </a:rPr>
              <a:t>Date of Birth (YYYYMMDD) - 🔒 PRIVATE WITNESS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</a:rPr>
              <a:t>Slot 2 [NATIONALITY]: </a:t>
            </a:r>
            <a:r>
              <a:rPr sz="1050">
                <a:solidFill>
                  <a:srgbClr val="94A3B8"/>
                </a:solidFill>
              </a:rPr>
              <a:t>3-letter country code (e.g., IND) - 🔒 PRIVATE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</a:rPr>
              <a:t>Slot 3 [NID]: </a:t>
            </a:r>
            <a:r>
              <a:rPr sz="1050">
                <a:solidFill>
                  <a:srgbClr val="94A3B8"/>
                </a:solidFill>
              </a:rPr>
              <a:t>National ID / Passport string - 🔒 PRIVATE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</a:rPr>
              <a:t>Slot 4 [ADDRESS]: </a:t>
            </a:r>
            <a:r>
              <a:rPr sz="1050">
                <a:solidFill>
                  <a:srgbClr val="94A3B8"/>
                </a:solidFill>
              </a:rPr>
              <a:t>Residential address - 🔒 PRIVATE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B8A6"/>
                </a:solidFill>
              </a:rPr>
              <a:t>Slot 5 [IDX_UNI]: </a:t>
            </a:r>
            <a:r>
              <a:rPr sz="1050">
                <a:solidFill>
                  <a:srgbClr val="94A3B8"/>
                </a:solidFill>
              </a:rPr>
              <a:t>University / Org value - PUBLIC SIGNAL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</a:rPr>
              <a:t>Slot 6 [HOLDER]: </a:t>
            </a:r>
            <a:r>
              <a:rPr sz="1050">
                <a:solidFill>
                  <a:srgbClr val="94A3B8"/>
                </a:solidFill>
              </a:rPr>
              <a:t>holderCommitment == Poseidon(holderSecret) - 🔒 PRIVATE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</a:rPr>
              <a:t>Slot 7 [EXPIRY]: </a:t>
            </a:r>
            <a:r>
              <a:rPr sz="1050">
                <a:solidFill>
                  <a:srgbClr val="94A3B8"/>
                </a:solidFill>
              </a:rPr>
              <a:t>Expiry date (YYYYMMDD) - 🔒 PRIVATE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</a:rPr>
              <a:t>Slot 8 [CREDID]: </a:t>
            </a:r>
            <a:r>
              <a:rPr sz="1050">
                <a:solidFill>
                  <a:srgbClr val="94A3B8"/>
                </a:solidFill>
              </a:rPr>
              <a:t>Unique ID checked against Revocation SMT - 🔒 PRIVATE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</a:rPr>
              <a:t>Slots 9..15: </a:t>
            </a:r>
            <a:r>
              <a:rPr sz="1050">
                <a:solidFill>
                  <a:srgbClr val="94A3B8"/>
                </a:solidFill>
              </a:rPr>
              <a:t>Zero-padding leaves completing Depth-4 Tree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B8A6"/>
                </a:solidFill>
                <a:latin typeface="Arial"/>
              </a:defRPr>
            </a:pPr>
            <a:r>
              <a:t>In-Circuit Mathematical 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</a:rPr>
              <a:t>1. EdDSAPoseidonVerifier: </a:t>
            </a:r>
            <a:r>
              <a:rPr sz="1000">
                <a:solidFill>
                  <a:srgbClr val="94A3B8"/>
                </a:solidFill>
              </a:rPr>
              <a:t>Verifies the private merkleRoot was signed by authorized issuer (issuerAx, issuerAy). Root is never exposed!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</a:rPr>
              <a:t>2. Holder Commitment Binding: </a:t>
            </a:r>
            <a:r>
              <a:rPr sz="1000">
                <a:solidFill>
                  <a:srgbClr val="94A3B8"/>
                </a:solidFill>
              </a:rPr>
              <a:t>Calculates Poseidon(holderSecret) and checks equality with leaf[6]. Stolen credentials without secret are useless.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</a:rPr>
              <a:t>3. FixedMerkleInclusion: </a:t>
            </a:r>
            <a:r>
              <a:rPr sz="1000">
                <a:solidFill>
                  <a:srgbClr val="94A3B8"/>
                </a:solidFill>
              </a:rPr>
              <a:t>Hardcoded slot indices compile directions as constants, drastically reducing R1CS constraint count.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</a:rPr>
              <a:t>4. Age Predicate (No Field Wrap): </a:t>
            </a:r>
            <a:r>
              <a:rPr sz="1000">
                <a:solidFill>
                  <a:srgbClr val="94A3B8"/>
                </a:solidFill>
              </a:rPr>
              <a:t>dob &lt;= today - minAge * 10000. Num2Bits(32) + LessEqThan(32) prevent negative modulo wraparound cheats.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</a:rPr>
              <a:t>5. Expiry Check: </a:t>
            </a:r>
            <a:r>
              <a:rPr sz="1000">
                <a:solidFill>
                  <a:srgbClr val="94A3B8"/>
                </a:solidFill>
              </a:rPr>
              <a:t>GreaterThan(32) enforces expiry &gt; today.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</a:rPr>
              <a:t>6. SMT Non-Revocation Check: </a:t>
            </a:r>
            <a:r>
              <a:rPr sz="1000">
                <a:solidFill>
                  <a:srgbClr val="94A3B8"/>
                </a:solidFill>
              </a:rPr>
              <a:t>SMTVerifier(20) proves credId is ABSENT from the 20-level revocation tree root.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</a:rPr>
              <a:t>7. Nullifier Computation: </a:t>
            </a:r>
            <a:r>
              <a:rPr sz="1000">
                <a:solidFill>
                  <a:srgbClr val="94A3B8"/>
                </a:solidFill>
              </a:rPr>
              <a:t>Computes Poseidon(holderSecret, verifierId, nonce) as public signal output.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DOCUMENT AUTHENTICITY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Tri-Registry Document Authentication &amp; Checksums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rial"/>
              </a:defRPr>
            </a:pPr>
            <a:r>
              <a:t>Indian Aadhaar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50" b="1">
                <a:solidFill>
                  <a:srgbClr val="14B8A6"/>
                </a:solidFill>
                <a:latin typeface="Arial"/>
              </a:defRPr>
            </a:pPr>
            <a:r>
              <a:t>Authority: UIDAI Government Registry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Verhoeff D5 Checksum: Validates 12th check digit using dihedral group D5 permutations.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Catches 100% of single-digit transpositions and adjacent typo errors.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Cross-references registered UID records in UIDAI database.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Word-order-insensitive name matching (e.g. 'Karan Singh Negi' == 'NEGI KARAN SINGH').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Anti-Leak Security: Rejection error never leaks registered citizen names.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rial"/>
              </a:defRPr>
            </a:pPr>
            <a:r>
              <a:t>Indian PAN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50" b="1">
                <a:solidFill>
                  <a:srgbClr val="14B8A6"/>
                </a:solidFill>
                <a:latin typeface="Arial"/>
              </a:defRPr>
            </a:pPr>
            <a:r>
              <a:t>Authority: Income Tax / NSDL Registry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Pattern Verification: Strict regex ^[A-Z]{5}[0-9]{4}[A-Z]$ syntax check.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Cross-checks tax registry records against NSDL database.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Validates full name and date of birth alignment.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Prevents fraudulent or synthetic tax identification numbers.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Permanent validity: PAN credentials do not expire.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rial"/>
              </a:defRPr>
            </a:pPr>
            <a:r>
              <a:t>International Passports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50" b="1">
                <a:solidFill>
                  <a:srgbClr val="14B8A6"/>
                </a:solidFill>
                <a:latin typeface="Arial"/>
              </a:defRPr>
            </a:pPr>
            <a:r>
              <a:t>Authority: Passport Seva / MEA Registry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ICAO Doc 9303 (TD3 MRZ): Modulus-10 checksum with [7, 3, 1] repetitive weighting.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Validates document number, birthdate check digit, and overall MRZ integrity.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Cross-checks official Ministry of External Affairs database.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Full demographic consistency check (Given names, Surname, Expiry).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Zero false accepts on scanned machine-readable zones.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BIOMETRIC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100% On-Device Biometric Engine &amp; Anti-Spoofing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rial"/>
              </a:defRPr>
            </a:pPr>
            <a:r>
              <a:t>Anti-Spoofing Liveness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Webcam Sampling: </a:t>
            </a:r>
            <a:r>
              <a:rPr sz="1100">
                <a:solidFill>
                  <a:srgbClr val="94A3B8"/>
                </a:solidFill>
              </a:rPr>
              <a:t>Captures 6 continuous video frames over a 1.8-second temporal window.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Micro-Motion Flux: </a:t>
            </a:r>
            <a:r>
              <a:rPr sz="1100">
                <a:solidFill>
                  <a:srgbClr val="94A3B8"/>
                </a:solidFill>
              </a:rPr>
              <a:t>Computes frame-to-frame pixel dynamics across RGB channels.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Spoof Rejection: </a:t>
            </a:r>
            <a:r>
              <a:rPr sz="1100">
                <a:solidFill>
                  <a:srgbClr val="94A3B8"/>
                </a:solidFill>
              </a:rPr>
              <a:t>Static printed photos and screen replays have motion &lt; 0.5% -&gt; REJECTED.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Loop Rejection: </a:t>
            </a:r>
            <a:r>
              <a:rPr sz="1100">
                <a:solidFill>
                  <a:srgbClr val="94A3B8"/>
                </a:solidFill>
              </a:rPr>
              <a:t>Video loops or sudden cuts have motion &gt; 45% -&gt; REJECTED.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Natural Living Window: </a:t>
            </a:r>
            <a:r>
              <a:rPr sz="1100">
                <a:solidFill>
                  <a:srgbClr val="94A3B8"/>
                </a:solidFill>
              </a:rPr>
              <a:t>Living human micro-motions (blinking, breathing, micro-tremors) fall cleanly between 1.2% and 45% -&gt; ACCEPTED.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B8A6"/>
                </a:solidFill>
                <a:latin typeface="Arial"/>
              </a:defRPr>
            </a:pPr>
            <a:r>
              <a:t>Facial Geometry &amp; Cosine Similarity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HOG Feature Extraction: </a:t>
            </a:r>
            <a:r>
              <a:rPr sz="1100">
                <a:solidFill>
                  <a:srgbClr val="94A3B8"/>
                </a:solidFill>
              </a:rPr>
              <a:t>Extracts normalized 64-bin Histogram of Oriented Gradients (HOG) vectors for live face and ID photo.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Cosine Similarity Metric: </a:t>
            </a:r>
            <a:r>
              <a:rPr sz="1100">
                <a:solidFill>
                  <a:srgbClr val="94A3B8"/>
                </a:solidFill>
              </a:rPr>
              <a:t>Computes cosine angle: Similarity = (v_live . v_doc) / (||v_live|| * ||v_doc||).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Matching Threshold: </a:t>
            </a:r>
            <a:r>
              <a:rPr sz="1100">
                <a:solidFill>
                  <a:srgbClr val="94A3B8"/>
                </a:solidFill>
              </a:rPr>
              <a:t>If similarity &gt;= 65%, facial match passes.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Zero Network Transit: </a:t>
            </a:r>
            <a:r>
              <a:rPr sz="1100">
                <a:solidFill>
                  <a:srgbClr val="94A3B8"/>
                </a:solidFill>
              </a:rPr>
              <a:t>Executed entirely in browser Canvas/WASM. Zero images or vectors are transmitted over HTTP.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Instant Memory Cleanup: </a:t>
            </a:r>
            <a:r>
              <a:rPr sz="1100">
                <a:solidFill>
                  <a:srgbClr val="94A3B8"/>
                </a:solidFill>
              </a:rPr>
              <a:t>Canvas objects and feature vectors are wiped from browser RAM immediately after verification.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COMPLIANCE &amp;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Zero-Knowledge AML Sanctions &amp; Revocation SMT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7316"/>
                </a:solidFill>
                <a:latin typeface="Arial"/>
              </a:defRPr>
            </a:pPr>
            <a:r>
              <a:t>zk-AML Sanctions Screening (OFAC/PEP)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The Problem: </a:t>
            </a:r>
            <a:r>
              <a:rPr sz="1100">
                <a:solidFill>
                  <a:srgbClr val="94A3B8"/>
                </a:solidFill>
              </a:rPr>
              <a:t>Traditional AML requires banks to scan customer names against global watchlists, disclosing identities to third parties.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Sanctions Sparse Merkle Tree: </a:t>
            </a:r>
            <a:r>
              <a:rPr sz="1100">
                <a:solidFill>
                  <a:srgbClr val="94A3B8"/>
                </a:solidFill>
              </a:rPr>
              <a:t>OFAC / UN / PEP watchlists are compiled into a 20-level Sparse Merkle Tree (capacity 1,048,576).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Identity Key: </a:t>
            </a:r>
            <a:r>
              <a:rPr sz="1100">
                <a:solidFill>
                  <a:srgbClr val="94A3B8"/>
                </a:solidFill>
              </a:rPr>
              <a:t>Key = (Poseidon(toField(Name), DOB) mod (2^20 - 1)) + 1.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Cryptographic Non-Membership: </a:t>
            </a:r>
            <a:r>
              <a:rPr sz="1100">
                <a:solidFill>
                  <a:srgbClr val="94A3B8"/>
                </a:solidFill>
              </a:rPr>
              <a:t>Clean citizens generate a mathematical proof that their key is NOT in the sanctions tree.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Automated Blocking: </a:t>
            </a:r>
            <a:r>
              <a:rPr sz="1100">
                <a:solidFill>
                  <a:srgbClr val="94A3B8"/>
                </a:solidFill>
              </a:rPr>
              <a:t>Sanctioned individuals attempting verification fail proof generation with an immediate watchlist match error.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rial"/>
              </a:defRPr>
            </a:pPr>
            <a:r>
              <a:t>Cryptographic Revocation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The Challenge: </a:t>
            </a:r>
            <a:r>
              <a:rPr sz="1100">
                <a:solidFill>
                  <a:srgbClr val="94A3B8"/>
                </a:solidFill>
              </a:rPr>
              <a:t>How do you revoke a stolen or expired ID without checking a centralized database that tracks user activity?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Revocation SMT: </a:t>
            </a:r>
            <a:r>
              <a:rPr sz="1100">
                <a:solidFill>
                  <a:srgbClr val="94A3B8"/>
                </a:solidFill>
              </a:rPr>
              <a:t>Revoked credIds are inserted into a 20-level Sparse Merkle Tree managed by the issuer.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Public Revocation Root: </a:t>
            </a:r>
            <a:r>
              <a:rPr sz="1100">
                <a:solidFill>
                  <a:srgbClr val="94A3B8"/>
                </a:solidFill>
              </a:rPr>
              <a:t>The current 32-byte SMT root is published on the gateway and Ethereum contract.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In-Circuit Non-Revocation: </a:t>
            </a:r>
            <a:r>
              <a:rPr sz="1100">
                <a:solidFill>
                  <a:srgbClr val="94A3B8"/>
                </a:solidFill>
              </a:rPr>
              <a:t>The Circom circuit verifies credId is absent from the revocation root before generating a valid proof.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Zero Activity Tracking: </a:t>
            </a:r>
            <a:r>
              <a:rPr sz="1100">
                <a:solidFill>
                  <a:srgbClr val="94A3B8"/>
                </a:solidFill>
              </a:rPr>
              <a:t>Verifiers confirm credential validity without knowing whose ID is being presented.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FUTURE-PROOF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Post-Quantum Hybrid Cryptography (ML-DSA-65)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7316"/>
                </a:solidFill>
                <a:latin typeface="Arial"/>
              </a:defRPr>
            </a:pPr>
            <a:r>
              <a:t>Why Classical ZK Credentials Are Vulnerable to Quantum Computers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Standard zk-SNARK credentials rely on elliptic curve cryptography (BabyJubJub, Ed25519, secp256k1). Shor's algorithm running on large-scale quantum computers can break discrete logarithms and forge digital signatures. This project introduces a hybrid dual-signing 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51206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rial"/>
              </a:defRPr>
            </a:pPr>
            <a:r>
              <a:t>Layer 1: Classical EdDSA-Poseidon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Curve: </a:t>
            </a:r>
            <a:r>
              <a:rPr sz="1100">
                <a:solidFill>
                  <a:srgbClr val="94A3B8"/>
                </a:solidFill>
              </a:rPr>
              <a:t>BabyJubJub twisted Edwards curve.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Role: </a:t>
            </a:r>
            <a:r>
              <a:rPr sz="1100">
                <a:solidFill>
                  <a:srgbClr val="94A3B8"/>
                </a:solidFill>
              </a:rPr>
              <a:t>Verified IN-CIRCUIT by Groth16 zk-SNARK.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Performance: </a:t>
            </a:r>
            <a:r>
              <a:rPr sz="1100">
                <a:solidFill>
                  <a:srgbClr val="94A3B8"/>
                </a:solidFill>
              </a:rPr>
              <a:t>Ultra-fast in-browser witness generation (~1.4s).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Proof Size: </a:t>
            </a:r>
            <a:r>
              <a:rPr sz="1100">
                <a:solidFill>
                  <a:srgbClr val="94A3B8"/>
                </a:solidFill>
              </a:rPr>
              <a:t>Succinct 800-byte proof representation.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51206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B8A6"/>
                </a:solidFill>
                <a:latin typeface="Arial"/>
              </a:defRPr>
            </a:pPr>
            <a:r>
              <a:t>Layer 2: Post-Quantum ML-DSA-65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3832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Standard: </a:t>
            </a:r>
            <a:r>
              <a:rPr sz="1100">
                <a:solidFill>
                  <a:srgbClr val="94A3B8"/>
                </a:solidFill>
              </a:rPr>
              <a:t>NIST FIPS 204 (Module-Lattice Digital Signature / Dilithium3).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Role: </a:t>
            </a:r>
            <a:r>
              <a:rPr sz="1100">
                <a:solidFill>
                  <a:srgbClr val="94A3B8"/>
                </a:solidFill>
              </a:rPr>
              <a:t>Verified AT IMPORT by User Wallet prior to accepting credentials.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Security: </a:t>
            </a:r>
            <a:r>
              <a:rPr sz="1100">
                <a:solidFill>
                  <a:srgbClr val="94A3B8"/>
                </a:solidFill>
              </a:rPr>
              <a:t>Hardness based on shortest vector problems in high-dimensional lattices; immune to Shor's algorithm.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Dual Security: </a:t>
            </a:r>
            <a:r>
              <a:rPr sz="1100">
                <a:solidFill>
                  <a:srgbClr val="94A3B8"/>
                </a:solidFill>
              </a:rPr>
              <a:t>An attacker must break BOTH BabyJubJub AND Module-Lattices to forge a credential.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BLOCKCHAIN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Ethereum Smart Contracts (On-Chain Verification)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rial"/>
              </a:defRPr>
            </a:pPr>
            <a:r>
              <a:t>EKYCRegistry.sol (Registry &amp; Verifier)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Trust Anchor: </a:t>
            </a:r>
            <a:r>
              <a:rPr sz="1100">
                <a:solidFill>
                  <a:srgbClr val="94A3B8"/>
                </a:solidFill>
              </a:rPr>
              <a:t>Stores authorized issuer public key hashes: keccak256(Ax, Ay).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Revocation Sync: </a:t>
            </a:r>
            <a:r>
              <a:rPr sz="1100">
                <a:solidFill>
                  <a:srgbClr val="94A3B8"/>
                </a:solidFill>
              </a:rPr>
              <a:t>Issuers update revocationRoot on-chain. Stale proofs are rejected.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Front-Running Protection: </a:t>
            </a:r>
            <a:r>
              <a:rPr sz="1100">
                <a:solidFill>
                  <a:srgbClr val="94A3B8"/>
                </a:solidFill>
              </a:rPr>
              <a:t>verifierId is bound to msg.sender. Attackers cannot steal a proof from the mempool and execute it.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Nullifier Storage: </a:t>
            </a:r>
            <a:r>
              <a:rPr sz="1100">
                <a:solidFill>
                  <a:srgbClr val="94A3B8"/>
                </a:solidFill>
              </a:rPr>
              <a:t>Maintains mapping(uint256 =&gt; bool) usedNullifier to prevent replay attacks.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Civil Date Calculation: </a:t>
            </a:r>
            <a:r>
              <a:rPr sz="1100">
                <a:solidFill>
                  <a:srgbClr val="94A3B8"/>
                </a:solidFill>
              </a:rPr>
              <a:t>Uses Howard Hinnant's algorithm to compute YYYYMMDD from block.timestamp, preventing clock tampering.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B8A6"/>
                </a:solidFill>
                <a:latin typeface="Arial"/>
              </a:defRPr>
            </a:pPr>
            <a:r>
              <a:t>Groth16Verifier.sol &amp; Gas Economics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Pairing Verifier: </a:t>
            </a:r>
            <a:r>
              <a:rPr sz="1100">
                <a:solidFill>
                  <a:srgbClr val="94A3B8"/>
                </a:solidFill>
              </a:rPr>
              <a:t>Generated from circuit setup. Checks elliptic curve pairing equations over BN128 curve: e(A, B) = e(alpha, beta) * e(x * gamma, delta) * e(C, delta).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EVM Precompiles: </a:t>
            </a:r>
            <a:r>
              <a:rPr sz="1100">
                <a:solidFill>
                  <a:srgbClr val="94A3B8"/>
                </a:solidFill>
              </a:rPr>
              <a:t>Utilizes alt_bn128 pairing precompiles (0x06, 0x07, 0x08) built directly into Ethereum.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Gas Cost: </a:t>
            </a:r>
            <a:r>
              <a:rPr sz="1100">
                <a:solidFill>
                  <a:srgbClr val="94A3B8"/>
                </a:solidFill>
              </a:rPr>
              <a:t>Takes only ~250,000 gas, making it 5x cheaper than PLONK and 20x cheaper than STARKs.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</a:rPr>
              <a:t>• Off-Chain &amp; On-Chain Parity: </a:t>
            </a:r>
            <a:r>
              <a:rPr sz="1100">
                <a:solidFill>
                  <a:srgbClr val="94A3B8"/>
                </a:solidFill>
              </a:rPr>
              <a:t>Identical 10 public signals are checked both off-chain via Node.js Gateway and on-chain via Solidity.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TESTING &amp; PERFORMANCE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Empirical Validation: 35 Automated Tests &amp;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  <a:latin typeface="Arial"/>
              </a:defRPr>
            </a:pPr>
            <a:r>
              <a:t>35 / 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2E8F0"/>
                </a:solidFill>
                <a:latin typeface="Arial"/>
              </a:defRPr>
            </a:pPr>
            <a:r>
              <a:t>Automated Tests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4688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6459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EA5E9"/>
                </a:solidFill>
                <a:latin typeface="Arial"/>
              </a:defRPr>
            </a:pPr>
            <a:r>
              <a:t>~1.4 sec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2E8F0"/>
                </a:solidFill>
                <a:latin typeface="Arial"/>
              </a:defRPr>
            </a:pPr>
            <a:r>
              <a:t>In-Browser Proof 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4688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6459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  <a:latin typeface="Arial"/>
              </a:defRPr>
            </a:pPr>
            <a:r>
              <a:t>~0.02 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488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2E8F0"/>
                </a:solidFill>
                <a:latin typeface="Arial"/>
              </a:defRPr>
            </a:pPr>
            <a:r>
              <a:t>Gateway Verification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554480"/>
            <a:ext cx="24688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855F7"/>
                </a:solidFill>
                <a:latin typeface="Arial"/>
              </a:defRPr>
            </a:pPr>
            <a:r>
              <a:t>~800 bytes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1488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2E8F0"/>
                </a:solidFill>
                <a:latin typeface="Arial"/>
              </a:defRPr>
            </a:pPr>
            <a:r>
              <a:t>Compact zk-SNARK Proof Size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26080"/>
            <a:ext cx="3383280" cy="3383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063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rial"/>
              </a:defRPr>
            </a:pPr>
            <a:r>
              <a:t>20 Registry Unit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7472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✔ Verhoeff D5 Aadhaar checksum verification.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✔ Word-order-insensitive name matching.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✔ UIDAI &amp; Passport Seva genuine match.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✔ Fake document &amp; imposter rejection.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✔ Anti-leak error handling.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926080"/>
            <a:ext cx="3383280" cy="3383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063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B8A6"/>
                </a:solidFill>
                <a:latin typeface="Arial"/>
              </a:defRPr>
            </a:pPr>
            <a:r>
              <a:t>3 zk-AML Unit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47472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✔ 20-level Sparse Merkle Tree compilation.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✔ Clean citizen non-membership proof generation.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✔ Watchlist blocking: Sanctioned entries rejected.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✔ Zero-knowledge identity privacy preserved.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926080"/>
            <a:ext cx="3383280" cy="3383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3063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  <a:latin typeface="Arial"/>
              </a:defRPr>
            </a:pPr>
            <a:r>
              <a:t>12 E2E Cryptographic Tests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7472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✔ Hybrid EdDSA + ML-DSA-65 signature check.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✔ Zero data leakage in presentation JSON.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✔ Session replay &amp; wrong nonce rejection.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✔ Untrusted issuer &amp; forged ML-DSA rejection.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✔ Predicate check: 37-yr-old cannot prove age &gt;= 40.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PROJECT ROADMAP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Conclusion &amp; Future Research Directions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Arial"/>
              </a:defRPr>
            </a:pPr>
            <a:r>
              <a:t>Key Achievements of This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✔ Complete Elimination of Data Honeypots: Verifiers store zero raw personal records.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✔ Mathematical Selective Disclosure: Proves age, university, and status while concealing sensitive identity markers.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✔ 100% Client-Side Privacy: Biometrics and zero-knowledge proof generation occur entirely inside the user's browser.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✔ Tri-Registry Support: Full Indian identity ecosystem support (UIDAI Aadhaar, NSDL PAN, MEA Passport).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✔ Post-Quantum Ready: Dual signature architecture immune to future quantum computing decryption attacks.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✔ Production Tested: Comprehensive automated test suites across all layers.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rial"/>
              </a:defRPr>
            </a:pPr>
            <a:r>
              <a:t>Future Research &amp; Commercial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➔ W3C DID &amp; Verifiable Credentials (VC): Aligning data formats with official W3C digital identity standards.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➔ Hardware Secure Enclave Integration: Binding holderSecret to Apple Secure Enclave / Android StrongBox.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➔ Layer-2 Rollup Deployment: Deploying EKYCRegistry on Arbitrum / Optimism for sub-cent verification fees.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➔ Anonymous Multi-Credential Aggregation: Proving combined predicates across separate IDs in a single unified proof.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➔ Native Mobile SDK: Packaging core WASM prover into iOS and Android React Native libraries.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2662</Words>
  <Application>Microsoft Office PowerPoint</Application>
  <PresentationFormat>Widescreen</PresentationFormat>
  <Paragraphs>235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Karan Singh Negi</cp:lastModifiedBy>
  <cp:revision>2</cp:revision>
  <dcterms:created xsi:type="dcterms:W3CDTF">2013-01-27T09:14:16Z</dcterms:created>
  <dcterms:modified xsi:type="dcterms:W3CDTF">2026-10-06T17:15:28Z</dcterms:modified>
  <cp:category/>
</cp:coreProperties>
</file>