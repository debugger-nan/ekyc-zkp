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4" r:id="rId19"/>
  </p:sldIdLst>
  <p:sldSz cx="18288000" cy="10287000"/>
  <p:notesSz cx="6858000" cy="9144000"/>
  <p:embeddedFontLst>
    <p:embeddedFont>
      <p:font typeface="DM Sans" pitchFamily="2" charset="0"/>
      <p:regular r:id="rId20"/>
    </p:embeddedFont>
    <p:embeddedFont>
      <p:font typeface="DM Sans Bold" charset="0"/>
      <p:regular r:id="rId21"/>
    </p:embeddedFont>
    <p:embeddedFont>
      <p:font typeface="DM Sans Italics" panose="020B0604020202020204" charset="0"/>
      <p:regular r:id="rId22"/>
    </p:embeddedFont>
    <p:embeddedFont>
      <p:font typeface="Merriweather Bold" panose="020B0604020202020204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7" d="100"/>
          <a:sy n="47" d="100"/>
        </p:scale>
        <p:origin x="483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171700" y="2784719"/>
            <a:ext cx="14821852" cy="3702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20"/>
              </a:lnSpc>
            </a:pPr>
            <a:r>
              <a:rPr lang="en-US" sz="8100" b="1">
                <a:solidFill>
                  <a:srgbClr val="F8FAFC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ZKP Identity Systems:</a:t>
            </a:r>
          </a:p>
          <a:p>
            <a:pPr algn="l">
              <a:lnSpc>
                <a:spcPts val="9720"/>
              </a:lnSpc>
            </a:pPr>
            <a:r>
              <a:rPr lang="en-US" sz="8100" b="1">
                <a:solidFill>
                  <a:srgbClr val="F8FAFC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Research Gaps &amp; Limitations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171700" y="6697189"/>
            <a:ext cx="14116050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2700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A 6-Member Team Critical Review of Current Literature &amp; Decentralized Bottlenecks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86750" y="4021931"/>
            <a:ext cx="1714500" cy="85725"/>
            <a:chOff x="0" y="0"/>
            <a:chExt cx="2286000" cy="1143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86000" cy="114300"/>
            </a:xfrm>
            <a:custGeom>
              <a:avLst/>
              <a:gdLst/>
              <a:ahLst/>
              <a:cxnLst/>
              <a:rect l="l" t="t" r="r" b="b"/>
              <a:pathLst>
                <a:path w="2286000" h="114300">
                  <a:moveTo>
                    <a:pt x="0" y="0"/>
                  </a:moveTo>
                  <a:lnTo>
                    <a:pt x="2286000" y="0"/>
                  </a:lnTo>
                  <a:lnTo>
                    <a:pt x="2286000" y="11430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00A896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3315767" y="4526756"/>
            <a:ext cx="11656457" cy="1152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40"/>
              </a:lnSpc>
            </a:pPr>
            <a:r>
              <a:rPr lang="en-US" sz="7200" b="1">
                <a:solidFill>
                  <a:srgbClr val="0A192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The Reviewed Literature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421856" y="5888831"/>
            <a:ext cx="11444288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0"/>
              </a:lnSpc>
            </a:pPr>
            <a:r>
              <a:rPr lang="en-US" sz="270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Analyzing two foundational papers on cryptographic identity constraints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57250" y="2507456"/>
            <a:ext cx="7929562" cy="6700838"/>
            <a:chOff x="0" y="0"/>
            <a:chExt cx="10572750" cy="893445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10572750" cy="8934450"/>
            </a:xfrm>
            <a:custGeom>
              <a:avLst/>
              <a:gdLst/>
              <a:ahLst/>
              <a:cxnLst/>
              <a:rect l="l" t="t" r="r" b="b"/>
              <a:pathLst>
                <a:path w="10572750" h="8934450">
                  <a:moveTo>
                    <a:pt x="0" y="0"/>
                  </a:moveTo>
                  <a:lnTo>
                    <a:pt x="10572750" y="0"/>
                  </a:lnTo>
                  <a:lnTo>
                    <a:pt x="10572750" y="8934450"/>
                  </a:lnTo>
                  <a:lnTo>
                    <a:pt x="0" y="8934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06" b="-106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9501188" y="2507456"/>
            <a:ext cx="7929562" cy="6700838"/>
            <a:chOff x="0" y="0"/>
            <a:chExt cx="10572750" cy="8934450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10572750" cy="8934450"/>
            </a:xfrm>
            <a:custGeom>
              <a:avLst/>
              <a:gdLst/>
              <a:ahLst/>
              <a:cxnLst/>
              <a:rect l="l" t="t" r="r" b="b"/>
              <a:pathLst>
                <a:path w="10572750" h="8934450">
                  <a:moveTo>
                    <a:pt x="0" y="0"/>
                  </a:moveTo>
                  <a:lnTo>
                    <a:pt x="10572750" y="0"/>
                  </a:lnTo>
                  <a:lnTo>
                    <a:pt x="10572750" y="8934450"/>
                  </a:lnTo>
                  <a:lnTo>
                    <a:pt x="0" y="8934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06" b="-106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1371600" y="3102769"/>
            <a:ext cx="7245906" cy="1076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3375" b="1">
                <a:solidFill>
                  <a:srgbClr val="00A896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[1] Survey of Advancements (2024)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71600" y="4441031"/>
            <a:ext cx="6900862" cy="1924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25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Zhou et al. explore the broad transition from centralized models to Self-Sovereign Identity (SSI) frameworks. The paper heavily critiques the scalability constraints of current blockchains.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71600" y="6484144"/>
            <a:ext cx="6900862" cy="1924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25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It provides an in-depth theoretical analysis of the strict trade-offs between zk-SNARKs and zk-STARKs concerning performance, storage, and setup transparency.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015538" y="3331369"/>
            <a:ext cx="7245906" cy="1076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3375" b="1">
                <a:solidFill>
                  <a:srgbClr val="00A896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[2] Selectively Disclosed eKYC (2025)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015538" y="4669631"/>
            <a:ext cx="6900862" cy="1466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25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Ahmed et al. deliver a practical, code-based implementation of an eKYC system utilizing Merkle Trees and Groth16 zk-SNARKs.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015538" y="6255544"/>
            <a:ext cx="6900862" cy="1924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25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It successfully demonstrates single-proof selective disclosure (e.g., verifying age or nationality) but highlights severe edge-computing limitations when proving on low-power devices.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57250" y="857250"/>
            <a:ext cx="17402175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1">
                <a:solidFill>
                  <a:srgbClr val="0A192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Paper 1 vs. Paper 2 Overview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57250" y="2550319"/>
            <a:ext cx="7929562" cy="6615112"/>
            <a:chOff x="0" y="0"/>
            <a:chExt cx="10572750" cy="882015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10572750" cy="8820150"/>
            </a:xfrm>
            <a:custGeom>
              <a:avLst/>
              <a:gdLst/>
              <a:ahLst/>
              <a:cxnLst/>
              <a:rect l="l" t="t" r="r" b="b"/>
              <a:pathLst>
                <a:path w="10572750" h="8820150">
                  <a:moveTo>
                    <a:pt x="0" y="0"/>
                  </a:moveTo>
                  <a:lnTo>
                    <a:pt x="10572750" y="0"/>
                  </a:lnTo>
                  <a:lnTo>
                    <a:pt x="10572750" y="8820150"/>
                  </a:lnTo>
                  <a:lnTo>
                    <a:pt x="0" y="88201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07" b="-107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9501188" y="2550319"/>
            <a:ext cx="7929562" cy="6615112"/>
            <a:chOff x="0" y="0"/>
            <a:chExt cx="10572750" cy="8820150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10572750" cy="8820150"/>
            </a:xfrm>
            <a:custGeom>
              <a:avLst/>
              <a:gdLst/>
              <a:ahLst/>
              <a:cxnLst/>
              <a:rect l="l" t="t" r="r" b="b"/>
              <a:pathLst>
                <a:path w="10572750" h="8820150">
                  <a:moveTo>
                    <a:pt x="0" y="0"/>
                  </a:moveTo>
                  <a:lnTo>
                    <a:pt x="10572750" y="0"/>
                  </a:lnTo>
                  <a:lnTo>
                    <a:pt x="10572750" y="8820150"/>
                  </a:lnTo>
                  <a:lnTo>
                    <a:pt x="0" y="88201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07" b="-107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1371600" y="3145631"/>
            <a:ext cx="7245906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3375" b="1">
                <a:solidFill>
                  <a:srgbClr val="0A192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zk-SNARKs (Paper 2)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71600" y="3940969"/>
            <a:ext cx="6900862" cy="1924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25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Leveraged for their extreme succinctness and rapid verification times (clocked at just 1.8ms on-chain). This makes them incredibly cost-effective for blockchain verification.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71600" y="5984081"/>
            <a:ext cx="6900862" cy="2381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25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However, they demand a rigid "trusted setup" process—creating the infamous "toxic waste" risk—and rely entirely on elliptic curve cryptography, which Paper 1 warns is mathematically fragile against future advancements.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015538" y="3145631"/>
            <a:ext cx="7245906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3375" b="1">
                <a:solidFill>
                  <a:srgbClr val="00A896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zk-STARKs (Paper 1)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015538" y="3940969"/>
            <a:ext cx="6900862" cy="1924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25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Designed to be fully transparent, eliminating the need for a trusted setup phase by utilizing hash functions and error-correcting codes instead of elliptic curves.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015538" y="5984081"/>
            <a:ext cx="6900862" cy="2381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25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They offer robust post-quantum security but suffer from severe "proof bloat." The significantly larger proof sizes place immense strain on the inherently limited storage capabilities of decentralized networks.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57250" y="857250"/>
            <a:ext cx="17402175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1">
                <a:solidFill>
                  <a:srgbClr val="0A192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Architectural Divergence: SNARKs vs. STARKs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57250" y="2357438"/>
            <a:ext cx="5143500" cy="7000875"/>
            <a:chOff x="0" y="0"/>
            <a:chExt cx="6858000" cy="93345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6858000" cy="9334500"/>
            </a:xfrm>
            <a:custGeom>
              <a:avLst/>
              <a:gdLst/>
              <a:ahLst/>
              <a:cxnLst/>
              <a:rect l="l" t="t" r="r" b="b"/>
              <a:pathLst>
                <a:path w="6858000" h="9334500">
                  <a:moveTo>
                    <a:pt x="0" y="0"/>
                  </a:moveTo>
                  <a:lnTo>
                    <a:pt x="6858000" y="0"/>
                  </a:lnTo>
                  <a:lnTo>
                    <a:pt x="6858000" y="9334500"/>
                  </a:lnTo>
                  <a:lnTo>
                    <a:pt x="0" y="9334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6572250" y="2357438"/>
            <a:ext cx="5143500" cy="7000875"/>
            <a:chOff x="0" y="0"/>
            <a:chExt cx="6858000" cy="9334500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6858000" cy="9334500"/>
            </a:xfrm>
            <a:custGeom>
              <a:avLst/>
              <a:gdLst/>
              <a:ahLst/>
              <a:cxnLst/>
              <a:rect l="l" t="t" r="r" b="b"/>
              <a:pathLst>
                <a:path w="6858000" h="9334500">
                  <a:moveTo>
                    <a:pt x="0" y="0"/>
                  </a:moveTo>
                  <a:lnTo>
                    <a:pt x="6858000" y="0"/>
                  </a:lnTo>
                  <a:lnTo>
                    <a:pt x="6858000" y="9334500"/>
                  </a:lnTo>
                  <a:lnTo>
                    <a:pt x="0" y="9334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2287250" y="2357438"/>
            <a:ext cx="5143500" cy="7000875"/>
            <a:chOff x="0" y="0"/>
            <a:chExt cx="6858000" cy="9334500"/>
          </a:xfrm>
        </p:grpSpPr>
        <p:sp>
          <p:nvSpPr>
            <p:cNvPr id="7" name="Freeform 7" descr="image.png"/>
            <p:cNvSpPr/>
            <p:nvPr/>
          </p:nvSpPr>
          <p:spPr>
            <a:xfrm>
              <a:off x="0" y="0"/>
              <a:ext cx="6858000" cy="9334500"/>
            </a:xfrm>
            <a:custGeom>
              <a:avLst/>
              <a:gdLst/>
              <a:ahLst/>
              <a:cxnLst/>
              <a:rect l="l" t="t" r="r" b="b"/>
              <a:pathLst>
                <a:path w="6858000" h="9334500">
                  <a:moveTo>
                    <a:pt x="0" y="0"/>
                  </a:moveTo>
                  <a:lnTo>
                    <a:pt x="6858000" y="0"/>
                  </a:lnTo>
                  <a:lnTo>
                    <a:pt x="6858000" y="9334500"/>
                  </a:lnTo>
                  <a:lnTo>
                    <a:pt x="0" y="9334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1300162" y="4191000"/>
            <a:ext cx="4470559" cy="952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1">
                <a:solidFill>
                  <a:srgbClr val="0A192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The "Toxic Waste" Risk [1][2]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00162" y="5262562"/>
            <a:ext cx="4257675" cy="3295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25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Highly efficient zk-SNARKs (like Groth16, used in Paper 2) depend entirely on a centralized trusted setup phase. If initial parameters are compromised, malicious actors can easily forge identity proofs.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015162" y="4191000"/>
            <a:ext cx="4470559" cy="4810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1">
                <a:solidFill>
                  <a:srgbClr val="0A192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Proof Size Bloat [1]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015162" y="4791075"/>
            <a:ext cx="4257675" cy="3752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25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Paper 1 notes that while zk-STARKs remove the trusted setup requirement (increasing transparency), they produce significantly larger proofs. This exerts immense pressure on limited blockchain bandwidth and storage.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730162" y="4191000"/>
            <a:ext cx="4470559" cy="4810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1">
                <a:solidFill>
                  <a:srgbClr val="0A192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Regulatory Friction [1]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730162" y="4791075"/>
            <a:ext cx="4257675" cy="3295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25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There remains a severe legal tension highlighted in Paper 1. Absolute mathematical privacy provided by ZKPs often clashes directly with mandatory compliance laws requiring lawful data access and auditing.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300162" y="3028950"/>
            <a:ext cx="685800" cy="685800"/>
            <a:chOff x="0" y="0"/>
            <a:chExt cx="914400" cy="914400"/>
          </a:xfrm>
        </p:grpSpPr>
        <p:sp>
          <p:nvSpPr>
            <p:cNvPr id="15" name="Freeform 15" descr="image.png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041" b="-1041"/>
              </a:stretch>
            </a:blipFill>
          </p:spPr>
        </p:sp>
      </p:grpSp>
      <p:grpSp>
        <p:nvGrpSpPr>
          <p:cNvPr id="16" name="Group 16"/>
          <p:cNvGrpSpPr/>
          <p:nvPr/>
        </p:nvGrpSpPr>
        <p:grpSpPr>
          <a:xfrm>
            <a:off x="7015162" y="3028950"/>
            <a:ext cx="514350" cy="685800"/>
            <a:chOff x="0" y="0"/>
            <a:chExt cx="685800" cy="914400"/>
          </a:xfrm>
        </p:grpSpPr>
        <p:sp>
          <p:nvSpPr>
            <p:cNvPr id="17" name="Freeform 17" descr="image.png"/>
            <p:cNvSpPr/>
            <p:nvPr/>
          </p:nvSpPr>
          <p:spPr>
            <a:xfrm>
              <a:off x="0" y="0"/>
              <a:ext cx="685800" cy="914400"/>
            </a:xfrm>
            <a:custGeom>
              <a:avLst/>
              <a:gdLst/>
              <a:ahLst/>
              <a:cxnLst/>
              <a:rect l="l" t="t" r="r" b="b"/>
              <a:pathLst>
                <a:path w="685800" h="914400">
                  <a:moveTo>
                    <a:pt x="0" y="0"/>
                  </a:moveTo>
                  <a:lnTo>
                    <a:pt x="685800" y="0"/>
                  </a:lnTo>
                  <a:lnTo>
                    <a:pt x="6858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388" r="-1388"/>
              </a:stretch>
            </a:blipFill>
          </p:spPr>
        </p:sp>
      </p:grpSp>
      <p:grpSp>
        <p:nvGrpSpPr>
          <p:cNvPr id="18" name="Group 18"/>
          <p:cNvGrpSpPr/>
          <p:nvPr/>
        </p:nvGrpSpPr>
        <p:grpSpPr>
          <a:xfrm>
            <a:off x="12730162" y="3028950"/>
            <a:ext cx="857250" cy="685800"/>
            <a:chOff x="0" y="0"/>
            <a:chExt cx="1143000" cy="914400"/>
          </a:xfrm>
        </p:grpSpPr>
        <p:sp>
          <p:nvSpPr>
            <p:cNvPr id="19" name="Freeform 19" descr="image.png"/>
            <p:cNvSpPr/>
            <p:nvPr/>
          </p:nvSpPr>
          <p:spPr>
            <a:xfrm>
              <a:off x="0" y="0"/>
              <a:ext cx="1143000" cy="914400"/>
            </a:xfrm>
            <a:custGeom>
              <a:avLst/>
              <a:gdLst/>
              <a:ahLst/>
              <a:cxnLst/>
              <a:rect l="l" t="t" r="r" b="b"/>
              <a:pathLst>
                <a:path w="1143000" h="914400">
                  <a:moveTo>
                    <a:pt x="0" y="0"/>
                  </a:moveTo>
                  <a:lnTo>
                    <a:pt x="1143000" y="0"/>
                  </a:lnTo>
                  <a:lnTo>
                    <a:pt x="11430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833" r="-833"/>
              </a:stretch>
            </a:blipFill>
          </p:spPr>
        </p:sp>
      </p:grpSp>
      <p:sp>
        <p:nvSpPr>
          <p:cNvPr id="20" name="TextBox 20"/>
          <p:cNvSpPr txBox="1"/>
          <p:nvPr/>
        </p:nvSpPr>
        <p:spPr>
          <a:xfrm>
            <a:off x="857250" y="857250"/>
            <a:ext cx="17402175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1">
                <a:solidFill>
                  <a:srgbClr val="0A192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Core Setup &amp; Cryptographic Limitations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57250" y="2286000"/>
            <a:ext cx="16573500" cy="7143750"/>
            <a:chOff x="0" y="0"/>
            <a:chExt cx="22098000" cy="9525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2098000" cy="9525000"/>
            </a:xfrm>
            <a:custGeom>
              <a:avLst/>
              <a:gdLst/>
              <a:ahLst/>
              <a:cxnLst/>
              <a:rect l="l" t="t" r="r" b="b"/>
              <a:pathLst>
                <a:path w="22098000" h="9525000">
                  <a:moveTo>
                    <a:pt x="0" y="0"/>
                  </a:moveTo>
                  <a:lnTo>
                    <a:pt x="22098000" y="0"/>
                  </a:lnTo>
                  <a:lnTo>
                    <a:pt x="22098000" y="9525000"/>
                  </a:lnTo>
                  <a:lnTo>
                    <a:pt x="0" y="9525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857250" y="7469981"/>
            <a:ext cx="15744825" cy="1466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250" i="1">
                <a:solidFill>
                  <a:srgbClr val="334155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Both papers agree: Generating proofs is extremely resource-hungry. Paper 1 emphasizes STARKs' heavy polynomial evaluations and FFT operations, while Paper 2 confirms SNARK generation takes over ~312ms locally, compared to a mere ~1.8ms for verification.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57250" y="857250"/>
            <a:ext cx="17402175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1">
                <a:solidFill>
                  <a:srgbClr val="0A192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Computational &amp; Resource Overheads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501188" y="2634701"/>
            <a:ext cx="7929562" cy="5715000"/>
            <a:chOff x="0" y="0"/>
            <a:chExt cx="10572750" cy="7620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10572750" cy="7620000"/>
            </a:xfrm>
            <a:custGeom>
              <a:avLst/>
              <a:gdLst/>
              <a:ahLst/>
              <a:cxnLst/>
              <a:rect l="l" t="t" r="r" b="b"/>
              <a:pathLst>
                <a:path w="10572750" h="7620000">
                  <a:moveTo>
                    <a:pt x="0" y="0"/>
                  </a:moveTo>
                  <a:lnTo>
                    <a:pt x="10572750" y="0"/>
                  </a:lnTo>
                  <a:lnTo>
                    <a:pt x="10572750" y="7620000"/>
                  </a:lnTo>
                  <a:lnTo>
                    <a:pt x="0" y="7620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25" b="-125"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857250" y="2529926"/>
            <a:ext cx="7929562" cy="1750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18"/>
              </a:lnSpc>
            </a:pPr>
            <a:r>
              <a:rPr lang="en-US" sz="2700" b="1">
                <a:solidFill>
                  <a:srgbClr val="0A192F"/>
                </a:solidFill>
                <a:latin typeface="DM Sans Bold"/>
                <a:ea typeface="DM Sans Bold"/>
                <a:cs typeface="DM Sans Bold"/>
                <a:sym typeface="DM Sans Bold"/>
              </a:rPr>
              <a:t>Paper 2 highlights the severe constraints of processing complex cryptography on mobile hardware.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14425" y="4556446"/>
            <a:ext cx="100012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81112" y="4470721"/>
            <a:ext cx="7505700" cy="1009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25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Generating cryptographic proofs on standard, low-power user devices introduces critical performance bottlenecks.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14425" y="5756596"/>
            <a:ext cx="100012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81112" y="5670871"/>
            <a:ext cx="7505700" cy="1466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25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High computational demand drains smartphone batteries rapidly and prevents instantaneous, real-time application responses.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14425" y="7413946"/>
            <a:ext cx="100012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81112" y="7328221"/>
            <a:ext cx="7505700" cy="1466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25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This friction directly impedes mass adoption for everyday eKYC tasks like banking or event access on standard consumer hardware.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9501188" y="2634701"/>
            <a:ext cx="7929562" cy="5715000"/>
            <a:chOff x="0" y="0"/>
            <a:chExt cx="10572750" cy="7620000"/>
          </a:xfrm>
        </p:grpSpPr>
        <p:sp>
          <p:nvSpPr>
            <p:cNvPr id="12" name="Freeform 12" descr="image.png"/>
            <p:cNvSpPr/>
            <p:nvPr/>
          </p:nvSpPr>
          <p:spPr>
            <a:xfrm>
              <a:off x="0" y="0"/>
              <a:ext cx="10572750" cy="7620000"/>
            </a:xfrm>
            <a:custGeom>
              <a:avLst/>
              <a:gdLst/>
              <a:ahLst/>
              <a:cxnLst/>
              <a:rect l="l" t="t" r="r" b="b"/>
              <a:pathLst>
                <a:path w="10572750" h="7620000">
                  <a:moveTo>
                    <a:pt x="0" y="0"/>
                  </a:moveTo>
                  <a:lnTo>
                    <a:pt x="10572750" y="0"/>
                  </a:lnTo>
                  <a:lnTo>
                    <a:pt x="10572750" y="7620000"/>
                  </a:lnTo>
                  <a:lnTo>
                    <a:pt x="0" y="7620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25" b="-125"/>
              </a:stretch>
            </a:blipFill>
          </p:spPr>
        </p:sp>
      </p:grpSp>
      <p:sp>
        <p:nvSpPr>
          <p:cNvPr id="13" name="TextBox 13"/>
          <p:cNvSpPr txBox="1"/>
          <p:nvPr/>
        </p:nvSpPr>
        <p:spPr>
          <a:xfrm>
            <a:off x="857250" y="857250"/>
            <a:ext cx="17402175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1">
                <a:solidFill>
                  <a:srgbClr val="0A192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Edge Computing Challenges [2]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821656" y="2857500"/>
            <a:ext cx="6000750" cy="6000750"/>
            <a:chOff x="0" y="0"/>
            <a:chExt cx="8001000" cy="8001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8001000" cy="8001000"/>
            </a:xfrm>
            <a:custGeom>
              <a:avLst/>
              <a:gdLst/>
              <a:ahLst/>
              <a:cxnLst/>
              <a:rect l="l" t="t" r="r" b="b"/>
              <a:pathLst>
                <a:path w="8001000" h="8001000">
                  <a:moveTo>
                    <a:pt x="0" y="0"/>
                  </a:moveTo>
                  <a:lnTo>
                    <a:pt x="8001000" y="0"/>
                  </a:lnTo>
                  <a:lnTo>
                    <a:pt x="8001000" y="8001000"/>
                  </a:lnTo>
                  <a:lnTo>
                    <a:pt x="0" y="800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19" r="-119"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9501188" y="2405063"/>
            <a:ext cx="8326041" cy="1152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>
                <a:solidFill>
                  <a:srgbClr val="0A192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The Hidden Costs of Selective Disclosure [2]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501188" y="3748088"/>
            <a:ext cx="7929562" cy="2381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25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To enable selective disclosure without revealing a user's full profile, Paper 2 pairs Groth16 zk-SNARKs with complex Merkle trees. Each unique identity attribute (e.g., DOB, Name) must be hashed with a cryptographic salt to form the independent leaves of the tree.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501188" y="6248400"/>
            <a:ext cx="7929562" cy="2838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25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While mathematically elegant, this demands that the user's mobile device recompute specific hashes and exact Merkle paths every single time a proof is requested. On low-power edge devices, this intensive hashing creates a major computational bottleneck before the actual ZKP generation even begins.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878806" y="2914650"/>
            <a:ext cx="5886450" cy="5886450"/>
            <a:chOff x="0" y="0"/>
            <a:chExt cx="7848600" cy="7848600"/>
          </a:xfrm>
        </p:grpSpPr>
        <p:sp>
          <p:nvSpPr>
            <p:cNvPr id="8" name="Freeform 8" descr="image.png"/>
            <p:cNvSpPr/>
            <p:nvPr/>
          </p:nvSpPr>
          <p:spPr>
            <a:xfrm>
              <a:off x="0" y="0"/>
              <a:ext cx="7848600" cy="7848600"/>
            </a:xfrm>
            <a:custGeom>
              <a:avLst/>
              <a:gdLst/>
              <a:ahLst/>
              <a:cxnLst/>
              <a:rect l="l" t="t" r="r" b="b"/>
              <a:pathLst>
                <a:path w="7848600" h="7848600">
                  <a:moveTo>
                    <a:pt x="0" y="0"/>
                  </a:moveTo>
                  <a:lnTo>
                    <a:pt x="7848600" y="0"/>
                  </a:lnTo>
                  <a:lnTo>
                    <a:pt x="7848600" y="7848600"/>
                  </a:lnTo>
                  <a:lnTo>
                    <a:pt x="0" y="7848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19" r="-118"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857250" y="857250"/>
            <a:ext cx="17402175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1">
                <a:solidFill>
                  <a:srgbClr val="0A192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Merkle Tree Dependencies &amp; Bottlenecks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14500" y="2646607"/>
            <a:ext cx="15716250" cy="16724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250" b="1">
                <a:solidFill>
                  <a:srgbClr val="0A192F"/>
                </a:solidFill>
                <a:latin typeface="DM Sans Bold"/>
                <a:ea typeface="DM Sans Bold"/>
                <a:cs typeface="DM Sans Bold"/>
                <a:sym typeface="DM Sans Bold"/>
              </a:rPr>
              <a:t>Decentralized Storage Constraints [1]</a:t>
            </a:r>
            <a:r>
              <a:rPr lang="en-US" sz="225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Paper 1 emphasizes that every node maintains a copy of transactions. High volumes of ZKP data (especially STARKs) cause severe scalability issues due to finite on-chain capacity.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714500" y="4723876"/>
            <a:ext cx="15716250" cy="16724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250" b="1">
                <a:solidFill>
                  <a:srgbClr val="0A192F"/>
                </a:solidFill>
                <a:latin typeface="DM Sans Bold"/>
                <a:ea typeface="DM Sans Bold"/>
                <a:cs typeface="DM Sans Bold"/>
                <a:sym typeface="DM Sans Bold"/>
              </a:rPr>
              <a:t>Verification Latency &amp; Consensus [1]</a:t>
            </a:r>
            <a:r>
              <a:rPr lang="en-US" sz="225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The time required to compute proofs locally, compounded by blockchain consensus delays, creates sluggishness. This makes systems unsuitable for high-velocity environments requiring rapid response times.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714500" y="6801145"/>
            <a:ext cx="15716250" cy="16724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250" b="1">
                <a:solidFill>
                  <a:srgbClr val="0A192F"/>
                </a:solidFill>
                <a:latin typeface="DM Sans Bold"/>
                <a:ea typeface="DM Sans Bold"/>
                <a:cs typeface="DM Sans Bold"/>
                <a:sym typeface="DM Sans Bold"/>
              </a:rPr>
              <a:t>Gas Costs for Live Networks [2]</a:t>
            </a:r>
            <a:r>
              <a:rPr lang="en-US" sz="225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While Paper 2 optimized their implementation, deploying verifier contracts and routinely storing Merkle roots on networks like Ethereum incurs compounding gas fees, raising sustainability concerns for large-scale eKYC.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857250" y="2756144"/>
            <a:ext cx="457200" cy="485775"/>
            <a:chOff x="0" y="0"/>
            <a:chExt cx="609600" cy="647700"/>
          </a:xfrm>
        </p:grpSpPr>
        <p:sp>
          <p:nvSpPr>
            <p:cNvPr id="6" name="Freeform 6" descr="image.png"/>
            <p:cNvSpPr/>
            <p:nvPr/>
          </p:nvSpPr>
          <p:spPr>
            <a:xfrm>
              <a:off x="0" y="0"/>
              <a:ext cx="609600" cy="647700"/>
            </a:xfrm>
            <a:custGeom>
              <a:avLst/>
              <a:gdLst/>
              <a:ahLst/>
              <a:cxnLst/>
              <a:rect l="l" t="t" r="r" b="b"/>
              <a:pathLst>
                <a:path w="609600" h="647700">
                  <a:moveTo>
                    <a:pt x="0" y="0"/>
                  </a:moveTo>
                  <a:lnTo>
                    <a:pt x="609600" y="0"/>
                  </a:lnTo>
                  <a:lnTo>
                    <a:pt x="609600" y="647700"/>
                  </a:lnTo>
                  <a:lnTo>
                    <a:pt x="0" y="647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857250" y="4833414"/>
            <a:ext cx="400050" cy="485775"/>
            <a:chOff x="0" y="0"/>
            <a:chExt cx="533400" cy="647700"/>
          </a:xfrm>
        </p:grpSpPr>
        <p:sp>
          <p:nvSpPr>
            <p:cNvPr id="8" name="Freeform 8" descr="image.png"/>
            <p:cNvSpPr/>
            <p:nvPr/>
          </p:nvSpPr>
          <p:spPr>
            <a:xfrm>
              <a:off x="0" y="0"/>
              <a:ext cx="533400" cy="647700"/>
            </a:xfrm>
            <a:custGeom>
              <a:avLst/>
              <a:gdLst/>
              <a:ahLst/>
              <a:cxnLst/>
              <a:rect l="l" t="t" r="r" b="b"/>
              <a:pathLst>
                <a:path w="533400" h="647700">
                  <a:moveTo>
                    <a:pt x="0" y="0"/>
                  </a:moveTo>
                  <a:lnTo>
                    <a:pt x="533400" y="0"/>
                  </a:lnTo>
                  <a:lnTo>
                    <a:pt x="533400" y="647700"/>
                  </a:lnTo>
                  <a:lnTo>
                    <a:pt x="0" y="647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857250" y="6910683"/>
            <a:ext cx="457200" cy="485775"/>
            <a:chOff x="0" y="0"/>
            <a:chExt cx="609600" cy="647700"/>
          </a:xfrm>
        </p:grpSpPr>
        <p:sp>
          <p:nvSpPr>
            <p:cNvPr id="10" name="Freeform 10" descr="image.png"/>
            <p:cNvSpPr/>
            <p:nvPr/>
          </p:nvSpPr>
          <p:spPr>
            <a:xfrm>
              <a:off x="0" y="0"/>
              <a:ext cx="609600" cy="647700"/>
            </a:xfrm>
            <a:custGeom>
              <a:avLst/>
              <a:gdLst/>
              <a:ahLst/>
              <a:cxnLst/>
              <a:rect l="l" t="t" r="r" b="b"/>
              <a:pathLst>
                <a:path w="609600" h="647700">
                  <a:moveTo>
                    <a:pt x="0" y="0"/>
                  </a:moveTo>
                  <a:lnTo>
                    <a:pt x="609600" y="0"/>
                  </a:lnTo>
                  <a:lnTo>
                    <a:pt x="609600" y="647700"/>
                  </a:lnTo>
                  <a:lnTo>
                    <a:pt x="0" y="647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857250" y="857250"/>
            <a:ext cx="17402175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1">
                <a:solidFill>
                  <a:srgbClr val="0A192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Scalability, Storage &amp; Latency Limits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57250" y="1693069"/>
            <a:ext cx="16573500" cy="8329612"/>
            <a:chOff x="0" y="0"/>
            <a:chExt cx="22098000" cy="1110615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2098000" cy="11106150"/>
            </a:xfrm>
            <a:custGeom>
              <a:avLst/>
              <a:gdLst/>
              <a:ahLst/>
              <a:cxnLst/>
              <a:rect l="l" t="t" r="r" b="b"/>
              <a:pathLst>
                <a:path w="22098000" h="11106150">
                  <a:moveTo>
                    <a:pt x="0" y="0"/>
                  </a:moveTo>
                  <a:lnTo>
                    <a:pt x="22098000" y="0"/>
                  </a:lnTo>
                  <a:lnTo>
                    <a:pt x="22098000" y="11106150"/>
                  </a:lnTo>
                  <a:lnTo>
                    <a:pt x="0" y="111061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85" b="-85"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857250" y="7884319"/>
            <a:ext cx="15744825" cy="1924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250" i="1">
                <a:solidFill>
                  <a:srgbClr val="334155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Paper 2's specific implementation on the Ethereum Virtual Testnet revealed steep initial deployment overheads. While actively verifying a proof and securely storing the Merkle root are relatively lightweight operations, deploying the fundamental verifier contract itself consumes roughly 100,000 gas—representing a substantial cost barrier for widespread enterprise scaling.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57250" y="264319"/>
            <a:ext cx="17402175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1">
                <a:solidFill>
                  <a:srgbClr val="0A192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Testnet Gas Cost Distribution [2]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57250" y="4791075"/>
            <a:ext cx="7929562" cy="1809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75"/>
              </a:lnSpc>
            </a:pPr>
            <a:r>
              <a:rPr lang="en-US" sz="16875" b="1">
                <a:solidFill>
                  <a:srgbClr val="00A896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0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57250" y="6815138"/>
            <a:ext cx="7929562" cy="4429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1">
                <a:solidFill>
                  <a:srgbClr val="0A192F"/>
                </a:solidFill>
                <a:latin typeface="DM Sans Bold"/>
                <a:ea typeface="DM Sans Bold"/>
                <a:cs typeface="DM Sans Bold"/>
                <a:sym typeface="DM Sans Bold"/>
              </a:rPr>
              <a:t>Functional User Wallets [2]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501188" y="3074194"/>
            <a:ext cx="8326041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3375" b="1">
                <a:solidFill>
                  <a:srgbClr val="0A192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Critical Missing Infrastructure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501188" y="3726656"/>
            <a:ext cx="7929562" cy="1924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25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Paper 2 explicitly points out the absence of a fully functional, intuitive user wallet. End-users cannot be expected to manually manage complex cryptographic salts, hashing parameters, and Zero-Knowledge proofs.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501188" y="6055519"/>
            <a:ext cx="7929562" cy="2381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25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Furthermore, Paper 1 highlights a massive </a:t>
            </a:r>
            <a:r>
              <a:rPr lang="en-US" sz="2250" b="1">
                <a:solidFill>
                  <a:srgbClr val="334155"/>
                </a:solidFill>
                <a:latin typeface="DM Sans Bold"/>
                <a:ea typeface="DM Sans Bold"/>
                <a:cs typeface="DM Sans Bold"/>
                <a:sym typeface="DM Sans Bold"/>
              </a:rPr>
              <a:t>legacy interoperability</a:t>
            </a:r>
            <a:r>
              <a:rPr lang="en-US" sz="225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challenge. Bridging these decentralized protocols with traditional Web2 banking databases requires robust middleware that does not currently exist as an industry standard.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57250" y="857250"/>
            <a:ext cx="17402175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1">
                <a:solidFill>
                  <a:srgbClr val="0A192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The UX &amp; Interoperability Gap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57250" y="4874419"/>
            <a:ext cx="16573500" cy="1104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270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Paper 1 identifies the structural disconnect preventing Web3 ZKP adoption in standard enterprise environments.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57250" y="6722269"/>
            <a:ext cx="16573500" cy="85725"/>
            <a:chOff x="0" y="0"/>
            <a:chExt cx="22098000" cy="1143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2098000" cy="114300"/>
            </a:xfrm>
            <a:custGeom>
              <a:avLst/>
              <a:gdLst/>
              <a:ahLst/>
              <a:cxnLst/>
              <a:rect l="l" t="t" r="r" b="b"/>
              <a:pathLst>
                <a:path w="22098000" h="114300">
                  <a:moveTo>
                    <a:pt x="0" y="0"/>
                  </a:moveTo>
                  <a:lnTo>
                    <a:pt x="22098000" y="0"/>
                  </a:lnTo>
                  <a:lnTo>
                    <a:pt x="22098000" y="11430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sp>
        <p:nvSpPr>
          <p:cNvPr id="5" name="TextBox 5"/>
          <p:cNvSpPr txBox="1"/>
          <p:nvPr/>
        </p:nvSpPr>
        <p:spPr>
          <a:xfrm>
            <a:off x="761952" y="7265194"/>
            <a:ext cx="4002453" cy="400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0"/>
              </a:lnSpc>
            </a:pPr>
            <a:r>
              <a:rPr lang="en-US" sz="2475" b="1">
                <a:solidFill>
                  <a:srgbClr val="00A896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Web2 Foundations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57250" y="7822406"/>
            <a:ext cx="3811857" cy="18788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8"/>
              </a:lnSpc>
            </a:pPr>
            <a:r>
              <a:rPr lang="en-US" sz="1912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Traditional service providers (banks, hospitals) operate exclusively on centralized databases utilizing legacy protocols like SAML or OAuth.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015836" y="3614738"/>
            <a:ext cx="4002453" cy="400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0"/>
              </a:lnSpc>
            </a:pPr>
            <a:r>
              <a:rPr lang="en-US" sz="2475" b="1">
                <a:solidFill>
                  <a:srgbClr val="00A896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Protocol Mismatch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111125" y="4171950"/>
            <a:ext cx="3811857" cy="18788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8"/>
              </a:lnSpc>
            </a:pPr>
            <a:r>
              <a:rPr lang="en-US" sz="1912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These older Web2 systems cannot natively interact with or verify modern Web3 cryptographic primitives, creating a hard data silo.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269711" y="7265194"/>
            <a:ext cx="4002453" cy="400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0"/>
              </a:lnSpc>
            </a:pPr>
            <a:r>
              <a:rPr lang="en-US" sz="2475" b="1">
                <a:solidFill>
                  <a:srgbClr val="00A896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Middleware Void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365009" y="7822406"/>
            <a:ext cx="3811857" cy="18788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8"/>
              </a:lnSpc>
            </a:pPr>
            <a:r>
              <a:rPr lang="en-US" sz="1912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There remains a critical lack of standardized middleware capable of translating ZKPs into verified formats understandable by legacy IT infrastructure.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523595" y="3250406"/>
            <a:ext cx="4002453" cy="400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0"/>
              </a:lnSpc>
            </a:pPr>
            <a:r>
              <a:rPr lang="en-US" sz="2475" b="1">
                <a:solidFill>
                  <a:srgbClr val="00A896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Regulatory Clash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618893" y="3807619"/>
            <a:ext cx="3811857" cy="22431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8"/>
              </a:lnSpc>
            </a:pPr>
            <a:r>
              <a:rPr lang="en-US" sz="1912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Even if translation succeeds, immutable zero-knowledge systems directly conflict with laws requiring deep data modifiability and clear audit trails (e.g., GDPR).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2556015" y="6557962"/>
            <a:ext cx="414338" cy="414338"/>
            <a:chOff x="0" y="0"/>
            <a:chExt cx="552450" cy="55245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52450" cy="552450"/>
            </a:xfrm>
            <a:custGeom>
              <a:avLst/>
              <a:gdLst/>
              <a:ahLst/>
              <a:cxnLst/>
              <a:rect l="l" t="t" r="r" b="b"/>
              <a:pathLst>
                <a:path w="552450" h="552450">
                  <a:moveTo>
                    <a:pt x="0" y="276225"/>
                  </a:moveTo>
                  <a:cubicBezTo>
                    <a:pt x="0" y="123698"/>
                    <a:pt x="123698" y="0"/>
                    <a:pt x="276225" y="0"/>
                  </a:cubicBezTo>
                  <a:cubicBezTo>
                    <a:pt x="428752" y="0"/>
                    <a:pt x="552450" y="123698"/>
                    <a:pt x="552450" y="276225"/>
                  </a:cubicBezTo>
                  <a:cubicBezTo>
                    <a:pt x="552450" y="428752"/>
                    <a:pt x="428752" y="552450"/>
                    <a:pt x="276225" y="552450"/>
                  </a:cubicBezTo>
                  <a:cubicBezTo>
                    <a:pt x="123698" y="552450"/>
                    <a:pt x="0" y="428752"/>
                    <a:pt x="0" y="276225"/>
                  </a:cubicBezTo>
                  <a:close/>
                </a:path>
              </a:pathLst>
            </a:custGeom>
            <a:solidFill>
              <a:srgbClr val="FFFFFF"/>
            </a:solidFill>
            <a:ln w="71438" cap="sq">
              <a:solidFill>
                <a:srgbClr val="00A896"/>
              </a:solidFill>
              <a:prstDash val="solid"/>
              <a:miter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6809889" y="6557962"/>
            <a:ext cx="414338" cy="414338"/>
            <a:chOff x="0" y="0"/>
            <a:chExt cx="552450" cy="55245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52450" cy="552450"/>
            </a:xfrm>
            <a:custGeom>
              <a:avLst/>
              <a:gdLst/>
              <a:ahLst/>
              <a:cxnLst/>
              <a:rect l="l" t="t" r="r" b="b"/>
              <a:pathLst>
                <a:path w="552450" h="552450">
                  <a:moveTo>
                    <a:pt x="0" y="276225"/>
                  </a:moveTo>
                  <a:cubicBezTo>
                    <a:pt x="0" y="123698"/>
                    <a:pt x="123698" y="0"/>
                    <a:pt x="276225" y="0"/>
                  </a:cubicBezTo>
                  <a:cubicBezTo>
                    <a:pt x="428752" y="0"/>
                    <a:pt x="552450" y="123698"/>
                    <a:pt x="552450" y="276225"/>
                  </a:cubicBezTo>
                  <a:cubicBezTo>
                    <a:pt x="552450" y="428752"/>
                    <a:pt x="428752" y="552450"/>
                    <a:pt x="276225" y="552450"/>
                  </a:cubicBezTo>
                  <a:cubicBezTo>
                    <a:pt x="123698" y="552450"/>
                    <a:pt x="0" y="428752"/>
                    <a:pt x="0" y="276225"/>
                  </a:cubicBezTo>
                  <a:close/>
                </a:path>
              </a:pathLst>
            </a:custGeom>
            <a:solidFill>
              <a:srgbClr val="FFFFFF"/>
            </a:solidFill>
            <a:ln w="71438" cap="sq">
              <a:solidFill>
                <a:srgbClr val="00A896"/>
              </a:solidFill>
              <a:prstDash val="solid"/>
              <a:miter/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11063773" y="6557962"/>
            <a:ext cx="414338" cy="414338"/>
            <a:chOff x="0" y="0"/>
            <a:chExt cx="552450" cy="55245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552450" cy="552450"/>
            </a:xfrm>
            <a:custGeom>
              <a:avLst/>
              <a:gdLst/>
              <a:ahLst/>
              <a:cxnLst/>
              <a:rect l="l" t="t" r="r" b="b"/>
              <a:pathLst>
                <a:path w="552450" h="552450">
                  <a:moveTo>
                    <a:pt x="0" y="276225"/>
                  </a:moveTo>
                  <a:cubicBezTo>
                    <a:pt x="0" y="123698"/>
                    <a:pt x="123698" y="0"/>
                    <a:pt x="276225" y="0"/>
                  </a:cubicBezTo>
                  <a:cubicBezTo>
                    <a:pt x="428752" y="0"/>
                    <a:pt x="552450" y="123698"/>
                    <a:pt x="552450" y="276225"/>
                  </a:cubicBezTo>
                  <a:cubicBezTo>
                    <a:pt x="552450" y="428752"/>
                    <a:pt x="428752" y="552450"/>
                    <a:pt x="276225" y="552450"/>
                  </a:cubicBezTo>
                  <a:cubicBezTo>
                    <a:pt x="123698" y="552450"/>
                    <a:pt x="0" y="428752"/>
                    <a:pt x="0" y="276225"/>
                  </a:cubicBezTo>
                  <a:close/>
                </a:path>
              </a:pathLst>
            </a:custGeom>
            <a:solidFill>
              <a:srgbClr val="FFFFFF"/>
            </a:solidFill>
            <a:ln w="71438" cap="sq">
              <a:solidFill>
                <a:srgbClr val="00A896"/>
              </a:solidFill>
              <a:prstDash val="solid"/>
              <a:miter/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15317648" y="6557962"/>
            <a:ext cx="414338" cy="414338"/>
            <a:chOff x="0" y="0"/>
            <a:chExt cx="552450" cy="55245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552450" cy="552450"/>
            </a:xfrm>
            <a:custGeom>
              <a:avLst/>
              <a:gdLst/>
              <a:ahLst/>
              <a:cxnLst/>
              <a:rect l="l" t="t" r="r" b="b"/>
              <a:pathLst>
                <a:path w="552450" h="552450">
                  <a:moveTo>
                    <a:pt x="0" y="276225"/>
                  </a:moveTo>
                  <a:cubicBezTo>
                    <a:pt x="0" y="123698"/>
                    <a:pt x="123698" y="0"/>
                    <a:pt x="276225" y="0"/>
                  </a:cubicBezTo>
                  <a:cubicBezTo>
                    <a:pt x="428752" y="0"/>
                    <a:pt x="552450" y="123698"/>
                    <a:pt x="552450" y="276225"/>
                  </a:cubicBezTo>
                  <a:cubicBezTo>
                    <a:pt x="552450" y="428752"/>
                    <a:pt x="428752" y="552450"/>
                    <a:pt x="276225" y="552450"/>
                  </a:cubicBezTo>
                  <a:cubicBezTo>
                    <a:pt x="123698" y="552450"/>
                    <a:pt x="0" y="428752"/>
                    <a:pt x="0" y="276225"/>
                  </a:cubicBezTo>
                  <a:close/>
                </a:path>
              </a:pathLst>
            </a:custGeom>
            <a:solidFill>
              <a:srgbClr val="FFFFFF"/>
            </a:solidFill>
            <a:ln w="71438" cap="sq">
              <a:solidFill>
                <a:srgbClr val="00A896"/>
              </a:solidFill>
              <a:prstDash val="solid"/>
              <a:miter/>
            </a:ln>
          </p:spPr>
        </p:sp>
      </p:grpSp>
      <p:sp>
        <p:nvSpPr>
          <p:cNvPr id="21" name="TextBox 21"/>
          <p:cNvSpPr txBox="1"/>
          <p:nvPr/>
        </p:nvSpPr>
        <p:spPr>
          <a:xfrm>
            <a:off x="857250" y="857250"/>
            <a:ext cx="17402175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1">
                <a:solidFill>
                  <a:srgbClr val="0A192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The Legacy Integration Hurdle [1]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3000" y="857250"/>
            <a:ext cx="8026003" cy="1714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1">
                <a:solidFill>
                  <a:srgbClr val="0A192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The Post-Quantum Threat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9501188" y="0"/>
            <a:ext cx="8786812" cy="10287000"/>
            <a:chOff x="0" y="0"/>
            <a:chExt cx="11715750" cy="13716000"/>
          </a:xfrm>
        </p:grpSpPr>
        <p:sp>
          <p:nvSpPr>
            <p:cNvPr id="4" name="Freeform 4" descr="image.png"/>
            <p:cNvSpPr/>
            <p:nvPr/>
          </p:nvSpPr>
          <p:spPr>
            <a:xfrm>
              <a:off x="0" y="0"/>
              <a:ext cx="11715750" cy="13716000"/>
            </a:xfrm>
            <a:custGeom>
              <a:avLst/>
              <a:gdLst/>
              <a:ahLst/>
              <a:cxnLst/>
              <a:rect l="l" t="t" r="r" b="b"/>
              <a:pathLst>
                <a:path w="11715750" h="13716000">
                  <a:moveTo>
                    <a:pt x="0" y="0"/>
                  </a:moveTo>
                  <a:lnTo>
                    <a:pt x="11715750" y="0"/>
                  </a:lnTo>
                  <a:lnTo>
                    <a:pt x="1171575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5" name="TextBox 5"/>
          <p:cNvSpPr txBox="1"/>
          <p:nvPr/>
        </p:nvSpPr>
        <p:spPr>
          <a:xfrm>
            <a:off x="1143000" y="3356962"/>
            <a:ext cx="8026003" cy="581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>
                <a:solidFill>
                  <a:srgbClr val="0A192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A Looming Security Crisis [1]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43000" y="4209450"/>
            <a:ext cx="7643812" cy="1045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362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Paper 1 emphasizes a critical existential threat to systems relying on zk-SNARKs: Quantum Computing.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43000" y="5526586"/>
            <a:ext cx="7643812" cy="15256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362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Because zk-SNARKs depend heavily on elliptic curve cryptography, they are theoretically trivial to break once sufficiently powerful quantum computers arrive.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43000" y="7323687"/>
            <a:ext cx="7643812" cy="15256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362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This impending crisis mandates transitioning identity frameworks to post-quantum resistant algorithms like zk-STARKs, despite their current storage drawbacks.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86750" y="4021931"/>
            <a:ext cx="1714500" cy="85725"/>
            <a:chOff x="0" y="0"/>
            <a:chExt cx="2286000" cy="1143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86000" cy="114300"/>
            </a:xfrm>
            <a:custGeom>
              <a:avLst/>
              <a:gdLst/>
              <a:ahLst/>
              <a:cxnLst/>
              <a:rect l="l" t="t" r="r" b="b"/>
              <a:pathLst>
                <a:path w="2286000" h="114300">
                  <a:moveTo>
                    <a:pt x="0" y="0"/>
                  </a:moveTo>
                  <a:lnTo>
                    <a:pt x="2286000" y="0"/>
                  </a:lnTo>
                  <a:lnTo>
                    <a:pt x="2286000" y="11430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00A896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2693194" y="4526756"/>
            <a:ext cx="12901612" cy="1152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40"/>
              </a:lnSpc>
            </a:pPr>
            <a:r>
              <a:rPr lang="en-US" sz="7200" b="1">
                <a:solidFill>
                  <a:srgbClr val="F8FAFC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Future Research Directions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200525" y="5888831"/>
            <a:ext cx="9886950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0"/>
              </a:lnSpc>
            </a:pPr>
            <a:r>
              <a:rPr lang="en-US" sz="2700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Action items for our 6-member team based on identified gaps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57250" y="2293144"/>
            <a:ext cx="5143500" cy="7129243"/>
            <a:chOff x="0" y="0"/>
            <a:chExt cx="6858000" cy="9505658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6858000" cy="9505696"/>
            </a:xfrm>
            <a:custGeom>
              <a:avLst/>
              <a:gdLst/>
              <a:ahLst/>
              <a:cxnLst/>
              <a:rect l="l" t="t" r="r" b="b"/>
              <a:pathLst>
                <a:path w="6858000" h="9505696">
                  <a:moveTo>
                    <a:pt x="0" y="0"/>
                  </a:moveTo>
                  <a:lnTo>
                    <a:pt x="6858000" y="0"/>
                  </a:lnTo>
                  <a:lnTo>
                    <a:pt x="6858000" y="9505696"/>
                  </a:lnTo>
                  <a:lnTo>
                    <a:pt x="0" y="95056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01" b="-10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6572250" y="2293144"/>
            <a:ext cx="5143500" cy="7129243"/>
            <a:chOff x="0" y="0"/>
            <a:chExt cx="6858000" cy="9505658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6858000" cy="9505696"/>
            </a:xfrm>
            <a:custGeom>
              <a:avLst/>
              <a:gdLst/>
              <a:ahLst/>
              <a:cxnLst/>
              <a:rect l="l" t="t" r="r" b="b"/>
              <a:pathLst>
                <a:path w="6858000" h="9505696">
                  <a:moveTo>
                    <a:pt x="0" y="0"/>
                  </a:moveTo>
                  <a:lnTo>
                    <a:pt x="6858000" y="0"/>
                  </a:lnTo>
                  <a:lnTo>
                    <a:pt x="6858000" y="9505696"/>
                  </a:lnTo>
                  <a:lnTo>
                    <a:pt x="0" y="95056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01" b="-101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2287250" y="2293144"/>
            <a:ext cx="5143500" cy="7129243"/>
            <a:chOff x="0" y="0"/>
            <a:chExt cx="6858000" cy="9505658"/>
          </a:xfrm>
        </p:grpSpPr>
        <p:sp>
          <p:nvSpPr>
            <p:cNvPr id="7" name="Freeform 7" descr="image.png"/>
            <p:cNvSpPr/>
            <p:nvPr/>
          </p:nvSpPr>
          <p:spPr>
            <a:xfrm>
              <a:off x="0" y="0"/>
              <a:ext cx="6858000" cy="9505696"/>
            </a:xfrm>
            <a:custGeom>
              <a:avLst/>
              <a:gdLst/>
              <a:ahLst/>
              <a:cxnLst/>
              <a:rect l="l" t="t" r="r" b="b"/>
              <a:pathLst>
                <a:path w="6858000" h="9505696">
                  <a:moveTo>
                    <a:pt x="0" y="0"/>
                  </a:moveTo>
                  <a:lnTo>
                    <a:pt x="6858000" y="0"/>
                  </a:lnTo>
                  <a:lnTo>
                    <a:pt x="6858000" y="9505696"/>
                  </a:lnTo>
                  <a:lnTo>
                    <a:pt x="0" y="95056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01" b="-101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228725" y="2664619"/>
            <a:ext cx="4400550" cy="3143250"/>
            <a:chOff x="0" y="0"/>
            <a:chExt cx="5867400" cy="4191000"/>
          </a:xfrm>
        </p:grpSpPr>
        <p:sp>
          <p:nvSpPr>
            <p:cNvPr id="9" name="Freeform 9" descr="image.png"/>
            <p:cNvSpPr/>
            <p:nvPr/>
          </p:nvSpPr>
          <p:spPr>
            <a:xfrm>
              <a:off x="0" y="0"/>
              <a:ext cx="5867400" cy="4191000"/>
            </a:xfrm>
            <a:custGeom>
              <a:avLst/>
              <a:gdLst/>
              <a:ahLst/>
              <a:cxnLst/>
              <a:rect l="l" t="t" r="r" b="b"/>
              <a:pathLst>
                <a:path w="5867400" h="4191000">
                  <a:moveTo>
                    <a:pt x="0" y="0"/>
                  </a:moveTo>
                  <a:lnTo>
                    <a:pt x="5867400" y="0"/>
                  </a:lnTo>
                  <a:lnTo>
                    <a:pt x="5867400" y="4191000"/>
                  </a:lnTo>
                  <a:lnTo>
                    <a:pt x="0" y="419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64" b="-64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6943725" y="2664619"/>
            <a:ext cx="4400550" cy="3143250"/>
            <a:chOff x="0" y="0"/>
            <a:chExt cx="5867400" cy="4191000"/>
          </a:xfrm>
        </p:grpSpPr>
        <p:sp>
          <p:nvSpPr>
            <p:cNvPr id="11" name="Freeform 11" descr="image.png"/>
            <p:cNvSpPr/>
            <p:nvPr/>
          </p:nvSpPr>
          <p:spPr>
            <a:xfrm>
              <a:off x="0" y="0"/>
              <a:ext cx="5867400" cy="4191000"/>
            </a:xfrm>
            <a:custGeom>
              <a:avLst/>
              <a:gdLst/>
              <a:ahLst/>
              <a:cxnLst/>
              <a:rect l="l" t="t" r="r" b="b"/>
              <a:pathLst>
                <a:path w="5867400" h="4191000">
                  <a:moveTo>
                    <a:pt x="0" y="0"/>
                  </a:moveTo>
                  <a:lnTo>
                    <a:pt x="5867400" y="0"/>
                  </a:lnTo>
                  <a:lnTo>
                    <a:pt x="5867400" y="4191000"/>
                  </a:lnTo>
                  <a:lnTo>
                    <a:pt x="0" y="419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96" r="-96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12658725" y="2664619"/>
            <a:ext cx="4400550" cy="3143250"/>
            <a:chOff x="0" y="0"/>
            <a:chExt cx="5867400" cy="4191000"/>
          </a:xfrm>
        </p:grpSpPr>
        <p:sp>
          <p:nvSpPr>
            <p:cNvPr id="13" name="Freeform 13" descr="image.png"/>
            <p:cNvSpPr/>
            <p:nvPr/>
          </p:nvSpPr>
          <p:spPr>
            <a:xfrm>
              <a:off x="0" y="0"/>
              <a:ext cx="5867400" cy="4191000"/>
            </a:xfrm>
            <a:custGeom>
              <a:avLst/>
              <a:gdLst/>
              <a:ahLst/>
              <a:cxnLst/>
              <a:rect l="l" t="t" r="r" b="b"/>
              <a:pathLst>
                <a:path w="5867400" h="4191000">
                  <a:moveTo>
                    <a:pt x="0" y="0"/>
                  </a:moveTo>
                  <a:lnTo>
                    <a:pt x="5867400" y="0"/>
                  </a:lnTo>
                  <a:lnTo>
                    <a:pt x="5867400" y="4191000"/>
                  </a:lnTo>
                  <a:lnTo>
                    <a:pt x="0" y="419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96" r="-96"/>
              </a:stretch>
            </a:blipFill>
          </p:spPr>
        </p:sp>
      </p:grpSp>
      <p:sp>
        <p:nvSpPr>
          <p:cNvPr id="14" name="TextBox 14"/>
          <p:cNvSpPr txBox="1"/>
          <p:nvPr/>
        </p:nvSpPr>
        <p:spPr>
          <a:xfrm>
            <a:off x="1228725" y="6165056"/>
            <a:ext cx="4620578" cy="4429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>
                <a:solidFill>
                  <a:srgbClr val="0A192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Wallet UI Abstraction [2]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28725" y="6703219"/>
            <a:ext cx="4400550" cy="21333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025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Our UX team must focus on abstracting complex SNARK generation into intuitive, mobile-friendly interfaces to bridge the usability gap.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943725" y="6165056"/>
            <a:ext cx="4620578" cy="4429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>
                <a:solidFill>
                  <a:srgbClr val="0A192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Post-Quantum Crypto [1]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943725" y="6703219"/>
            <a:ext cx="4400550" cy="17219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025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Our cryptography members will investigate scaling transparent, quantum-resistant STARK algorithms to replace vulnerable trusted setups.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658725" y="6165056"/>
            <a:ext cx="4620578" cy="4429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>
                <a:solidFill>
                  <a:srgbClr val="0A192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Legacy Integration [1]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658725" y="6703219"/>
            <a:ext cx="4400550" cy="21333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025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Our backend developers will research standardized middleware to allow seamless ZKP credential validation across Web2 and Web3 boundaries.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1243012" y="2678906"/>
            <a:ext cx="4371975" cy="3114675"/>
            <a:chOff x="0" y="0"/>
            <a:chExt cx="5829300" cy="4152900"/>
          </a:xfrm>
        </p:grpSpPr>
        <p:sp>
          <p:nvSpPr>
            <p:cNvPr id="21" name="Freeform 21" descr="image.png"/>
            <p:cNvSpPr/>
            <p:nvPr/>
          </p:nvSpPr>
          <p:spPr>
            <a:xfrm>
              <a:off x="0" y="0"/>
              <a:ext cx="5829300" cy="4152900"/>
            </a:xfrm>
            <a:custGeom>
              <a:avLst/>
              <a:gdLst/>
              <a:ahLst/>
              <a:cxnLst/>
              <a:rect l="l" t="t" r="r" b="b"/>
              <a:pathLst>
                <a:path w="5829300" h="4152900">
                  <a:moveTo>
                    <a:pt x="0" y="0"/>
                  </a:moveTo>
                  <a:lnTo>
                    <a:pt x="5829300" y="0"/>
                  </a:lnTo>
                  <a:lnTo>
                    <a:pt x="5829300" y="4152900"/>
                  </a:lnTo>
                  <a:lnTo>
                    <a:pt x="0" y="415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196" b="-196"/>
              </a:stretch>
            </a:blipFill>
          </p:spPr>
        </p:sp>
      </p:grpSp>
      <p:grpSp>
        <p:nvGrpSpPr>
          <p:cNvPr id="22" name="Group 22"/>
          <p:cNvGrpSpPr/>
          <p:nvPr/>
        </p:nvGrpSpPr>
        <p:grpSpPr>
          <a:xfrm>
            <a:off x="6958012" y="2678906"/>
            <a:ext cx="4371975" cy="3114675"/>
            <a:chOff x="0" y="0"/>
            <a:chExt cx="5829300" cy="4152900"/>
          </a:xfrm>
        </p:grpSpPr>
        <p:sp>
          <p:nvSpPr>
            <p:cNvPr id="23" name="Freeform 23" descr="image.png"/>
            <p:cNvSpPr/>
            <p:nvPr/>
          </p:nvSpPr>
          <p:spPr>
            <a:xfrm>
              <a:off x="0" y="0"/>
              <a:ext cx="5829300" cy="4152900"/>
            </a:xfrm>
            <a:custGeom>
              <a:avLst/>
              <a:gdLst/>
              <a:ahLst/>
              <a:cxnLst/>
              <a:rect l="l" t="t" r="r" b="b"/>
              <a:pathLst>
                <a:path w="5829300" h="4152900">
                  <a:moveTo>
                    <a:pt x="0" y="0"/>
                  </a:moveTo>
                  <a:lnTo>
                    <a:pt x="5829300" y="0"/>
                  </a:lnTo>
                  <a:lnTo>
                    <a:pt x="5829300" y="4152900"/>
                  </a:lnTo>
                  <a:lnTo>
                    <a:pt x="0" y="415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t="-33" b="-34"/>
              </a:stretch>
            </a:blipFill>
          </p:spPr>
        </p:sp>
      </p:grpSp>
      <p:grpSp>
        <p:nvGrpSpPr>
          <p:cNvPr id="24" name="Group 24"/>
          <p:cNvGrpSpPr/>
          <p:nvPr/>
        </p:nvGrpSpPr>
        <p:grpSpPr>
          <a:xfrm>
            <a:off x="12673012" y="2678906"/>
            <a:ext cx="4371975" cy="3114675"/>
            <a:chOff x="0" y="0"/>
            <a:chExt cx="5829300" cy="4152900"/>
          </a:xfrm>
        </p:grpSpPr>
        <p:sp>
          <p:nvSpPr>
            <p:cNvPr id="25" name="Freeform 25" descr="image.png"/>
            <p:cNvSpPr/>
            <p:nvPr/>
          </p:nvSpPr>
          <p:spPr>
            <a:xfrm>
              <a:off x="0" y="0"/>
              <a:ext cx="5829300" cy="4152900"/>
            </a:xfrm>
            <a:custGeom>
              <a:avLst/>
              <a:gdLst/>
              <a:ahLst/>
              <a:cxnLst/>
              <a:rect l="l" t="t" r="r" b="b"/>
              <a:pathLst>
                <a:path w="5829300" h="4152900">
                  <a:moveTo>
                    <a:pt x="0" y="0"/>
                  </a:moveTo>
                  <a:lnTo>
                    <a:pt x="5829300" y="0"/>
                  </a:lnTo>
                  <a:lnTo>
                    <a:pt x="5829300" y="4152900"/>
                  </a:lnTo>
                  <a:lnTo>
                    <a:pt x="0" y="415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t="-33" b="-34"/>
              </a:stretch>
            </a:blipFill>
          </p:spPr>
        </p:sp>
      </p:grpSp>
      <p:sp>
        <p:nvSpPr>
          <p:cNvPr id="26" name="TextBox 26"/>
          <p:cNvSpPr txBox="1"/>
          <p:nvPr/>
        </p:nvSpPr>
        <p:spPr>
          <a:xfrm>
            <a:off x="857250" y="857250"/>
            <a:ext cx="17402175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1">
                <a:solidFill>
                  <a:srgbClr val="0A192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Team Focus: Addressing the Gaps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57250" y="2252062"/>
            <a:ext cx="16573500" cy="7211616"/>
            <a:chOff x="0" y="0"/>
            <a:chExt cx="22098000" cy="9615488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2098000" cy="9615424"/>
            </a:xfrm>
            <a:custGeom>
              <a:avLst/>
              <a:gdLst/>
              <a:ahLst/>
              <a:cxnLst/>
              <a:rect l="l" t="t" r="r" b="b"/>
              <a:pathLst>
                <a:path w="22098000" h="9615424">
                  <a:moveTo>
                    <a:pt x="0" y="0"/>
                  </a:moveTo>
                  <a:lnTo>
                    <a:pt x="22098000" y="0"/>
                  </a:lnTo>
                  <a:lnTo>
                    <a:pt x="22098000" y="9615424"/>
                  </a:lnTo>
                  <a:lnTo>
                    <a:pt x="0" y="96154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23" b="-124"/>
              </a:stretch>
            </a:blipFill>
          </p:spPr>
        </p:sp>
      </p:grp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857250" y="2252067"/>
          <a:ext cx="16535401" cy="7143750"/>
        </p:xfrm>
        <a:graphic>
          <a:graphicData uri="http://schemas.openxmlformats.org/drawingml/2006/table">
            <a:tbl>
              <a:tblPr/>
              <a:tblGrid>
                <a:gridCol w="38841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818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693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28749">
                <a:tc>
                  <a:txBody>
                    <a:bodyPr/>
                    <a:lstStyle/>
                    <a:p>
                      <a:pPr algn="l">
                        <a:lnSpc>
                          <a:spcPts val="2970"/>
                        </a:lnSpc>
                        <a:defRPr/>
                      </a:pPr>
                      <a:r>
                        <a:rPr lang="en-US" sz="2475" b="1">
                          <a:solidFill>
                            <a:srgbClr val="FFFFFF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Identified Gap / Constraint</a:t>
                      </a:r>
                      <a:endParaRPr lang="en-US" sz="1100"/>
                    </a:p>
                  </a:txBody>
                  <a:tcPr marL="63500" marR="63500" marT="63500" marB="6350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70"/>
                        </a:lnSpc>
                        <a:defRPr/>
                      </a:pPr>
                      <a:r>
                        <a:rPr lang="en-US" sz="2475" b="1">
                          <a:solidFill>
                            <a:srgbClr val="FFFFFF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Paper 1 (Survey 2024)</a:t>
                      </a:r>
                      <a:endParaRPr lang="en-US" sz="1100"/>
                    </a:p>
                  </a:txBody>
                  <a:tcPr marL="63500" marR="63500" marT="63500" marB="6350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70"/>
                        </a:lnSpc>
                        <a:defRPr/>
                      </a:pPr>
                      <a:r>
                        <a:rPr lang="en-US" sz="2475" b="1">
                          <a:solidFill>
                            <a:srgbClr val="FFFFFF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Paper 2 (eKYC 2025)</a:t>
                      </a:r>
                      <a:endParaRPr lang="en-US" sz="1100"/>
                    </a:p>
                  </a:txBody>
                  <a:tcPr marL="63500" marR="63500" marT="63500" marB="6350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28749">
                <a:tc>
                  <a:txBody>
                    <a:bodyPr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 b="1">
                          <a:solidFill>
                            <a:srgbClr val="334155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Cryptographic Setup</a:t>
                      </a:r>
                      <a:endParaRPr lang="en-US" sz="1100"/>
                    </a:p>
                  </a:txBody>
                  <a:tcPr marL="63500" marR="63500" marT="63500" marB="6350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STARKs lack trusted setups but bloat bandwidth with large proofs.</a:t>
                      </a:r>
                      <a:endParaRPr lang="en-US" sz="1100"/>
                    </a:p>
                  </a:txBody>
                  <a:tcPr marL="63500" marR="63500" marT="63500" marB="6350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SNARKs (Groth16) offer tiny proofs but risk compromised setups.</a:t>
                      </a:r>
                      <a:endParaRPr lang="en-US" sz="1100"/>
                    </a:p>
                  </a:txBody>
                  <a:tcPr marL="63500" marR="63500" marT="63500" marB="6350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28749">
                <a:tc>
                  <a:txBody>
                    <a:bodyPr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 b="1">
                          <a:solidFill>
                            <a:srgbClr val="334155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Hardware &amp; Computation</a:t>
                      </a:r>
                      <a:endParaRPr lang="en-US" sz="1100"/>
                    </a:p>
                  </a:txBody>
                  <a:tcPr marL="63500" marR="63500" marT="63500" marB="6350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High latency caused by intensive polynomial evaluation.</a:t>
                      </a:r>
                      <a:endParaRPr lang="en-US" sz="1100"/>
                    </a:p>
                  </a:txBody>
                  <a:tcPr marL="63500" marR="63500" marT="63500" marB="6350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Edge computing limits severely hinder mobile device proof generation.</a:t>
                      </a:r>
                      <a:endParaRPr lang="en-US" sz="1100"/>
                    </a:p>
                  </a:txBody>
                  <a:tcPr marL="63500" marR="63500" marT="63500" marB="6350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28749">
                <a:tc>
                  <a:txBody>
                    <a:bodyPr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 b="1">
                          <a:solidFill>
                            <a:srgbClr val="334155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System Integration &amp; UX</a:t>
                      </a:r>
                      <a:endParaRPr lang="en-US" sz="1100"/>
                    </a:p>
                  </a:txBody>
                  <a:tcPr marL="63500" marR="63500" marT="63500" marB="6350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Severe friction with legacy systems and a lack of industry standards.</a:t>
                      </a:r>
                      <a:endParaRPr lang="en-US" sz="1100"/>
                    </a:p>
                  </a:txBody>
                  <a:tcPr marL="63500" marR="63500" marT="63500" marB="6350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Identifies a complete absence of a functional, abstracted user wallet.</a:t>
                      </a:r>
                      <a:endParaRPr lang="en-US" sz="1100"/>
                    </a:p>
                  </a:txBody>
                  <a:tcPr marL="63500" marR="63500" marT="63500" marB="6350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28754">
                <a:tc>
                  <a:txBody>
                    <a:bodyPr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 b="1">
                          <a:solidFill>
                            <a:srgbClr val="334155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Privacy vs. Architecture</a:t>
                      </a:r>
                      <a:endParaRPr lang="en-US" sz="1100"/>
                    </a:p>
                  </a:txBody>
                  <a:tcPr marL="63500" marR="63500" marT="63500" marB="6350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Tension exists between ZKP absolute privacy and auditing laws.</a:t>
                      </a:r>
                      <a:endParaRPr lang="en-US" sz="1100"/>
                    </a:p>
                  </a:txBody>
                  <a:tcPr marL="63500" marR="63500" marT="63500" marB="6350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Selective disclosure minimizes exposure, but implementation is complex.</a:t>
                      </a:r>
                      <a:endParaRPr lang="en-US" sz="1100"/>
                    </a:p>
                  </a:txBody>
                  <a:tcPr marL="63500" marR="63500" marT="63500" marB="6350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5" name="Group 5"/>
          <p:cNvGrpSpPr/>
          <p:nvPr/>
        </p:nvGrpSpPr>
        <p:grpSpPr>
          <a:xfrm>
            <a:off x="857250" y="3821906"/>
            <a:ext cx="3893115" cy="14288"/>
            <a:chOff x="0" y="0"/>
            <a:chExt cx="5190820" cy="1905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190871" cy="19050"/>
            </a:xfrm>
            <a:custGeom>
              <a:avLst/>
              <a:gdLst/>
              <a:ahLst/>
              <a:cxnLst/>
              <a:rect l="l" t="t" r="r" b="b"/>
              <a:pathLst>
                <a:path w="5190871" h="19050">
                  <a:moveTo>
                    <a:pt x="0" y="0"/>
                  </a:moveTo>
                  <a:lnTo>
                    <a:pt x="5190871" y="0"/>
                  </a:lnTo>
                  <a:lnTo>
                    <a:pt x="5190871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4750365" y="3821906"/>
            <a:ext cx="6095848" cy="14288"/>
            <a:chOff x="0" y="0"/>
            <a:chExt cx="8127797" cy="190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7746" cy="19050"/>
            </a:xfrm>
            <a:custGeom>
              <a:avLst/>
              <a:gdLst/>
              <a:ahLst/>
              <a:cxnLst/>
              <a:rect l="l" t="t" r="r" b="b"/>
              <a:pathLst>
                <a:path w="8127746" h="19050">
                  <a:moveTo>
                    <a:pt x="0" y="0"/>
                  </a:moveTo>
                  <a:lnTo>
                    <a:pt x="8127746" y="0"/>
                  </a:lnTo>
                  <a:lnTo>
                    <a:pt x="8127746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10846222" y="3821906"/>
            <a:ext cx="6584528" cy="14288"/>
            <a:chOff x="0" y="0"/>
            <a:chExt cx="8779370" cy="1905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779383" cy="19050"/>
            </a:xfrm>
            <a:custGeom>
              <a:avLst/>
              <a:gdLst/>
              <a:ahLst/>
              <a:cxnLst/>
              <a:rect l="l" t="t" r="r" b="b"/>
              <a:pathLst>
                <a:path w="8779383" h="19050">
                  <a:moveTo>
                    <a:pt x="0" y="0"/>
                  </a:moveTo>
                  <a:lnTo>
                    <a:pt x="8779383" y="0"/>
                  </a:lnTo>
                  <a:lnTo>
                    <a:pt x="8779383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857250" y="5230558"/>
            <a:ext cx="3893115" cy="14288"/>
            <a:chOff x="0" y="0"/>
            <a:chExt cx="5190820" cy="1905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190871" cy="19050"/>
            </a:xfrm>
            <a:custGeom>
              <a:avLst/>
              <a:gdLst/>
              <a:ahLst/>
              <a:cxnLst/>
              <a:rect l="l" t="t" r="r" b="b"/>
              <a:pathLst>
                <a:path w="5190871" h="19050">
                  <a:moveTo>
                    <a:pt x="0" y="0"/>
                  </a:moveTo>
                  <a:lnTo>
                    <a:pt x="5190871" y="0"/>
                  </a:lnTo>
                  <a:lnTo>
                    <a:pt x="5190871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4750365" y="5230558"/>
            <a:ext cx="6095848" cy="14288"/>
            <a:chOff x="0" y="0"/>
            <a:chExt cx="8127797" cy="1905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7746" cy="19050"/>
            </a:xfrm>
            <a:custGeom>
              <a:avLst/>
              <a:gdLst/>
              <a:ahLst/>
              <a:cxnLst/>
              <a:rect l="l" t="t" r="r" b="b"/>
              <a:pathLst>
                <a:path w="8127746" h="19050">
                  <a:moveTo>
                    <a:pt x="0" y="0"/>
                  </a:moveTo>
                  <a:lnTo>
                    <a:pt x="8127746" y="0"/>
                  </a:lnTo>
                  <a:lnTo>
                    <a:pt x="8127746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10846222" y="5230558"/>
            <a:ext cx="6584528" cy="14288"/>
            <a:chOff x="0" y="0"/>
            <a:chExt cx="8779370" cy="1905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779383" cy="19050"/>
            </a:xfrm>
            <a:custGeom>
              <a:avLst/>
              <a:gdLst/>
              <a:ahLst/>
              <a:cxnLst/>
              <a:rect l="l" t="t" r="r" b="b"/>
              <a:pathLst>
                <a:path w="8779383" h="19050">
                  <a:moveTo>
                    <a:pt x="0" y="0"/>
                  </a:moveTo>
                  <a:lnTo>
                    <a:pt x="8779383" y="0"/>
                  </a:lnTo>
                  <a:lnTo>
                    <a:pt x="8779383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857250" y="6639220"/>
            <a:ext cx="3893115" cy="14288"/>
            <a:chOff x="0" y="0"/>
            <a:chExt cx="5190820" cy="1905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5190871" cy="19050"/>
            </a:xfrm>
            <a:custGeom>
              <a:avLst/>
              <a:gdLst/>
              <a:ahLst/>
              <a:cxnLst/>
              <a:rect l="l" t="t" r="r" b="b"/>
              <a:pathLst>
                <a:path w="5190871" h="19050">
                  <a:moveTo>
                    <a:pt x="0" y="0"/>
                  </a:moveTo>
                  <a:lnTo>
                    <a:pt x="5190871" y="0"/>
                  </a:lnTo>
                  <a:lnTo>
                    <a:pt x="5190871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19" name="Group 19"/>
          <p:cNvGrpSpPr/>
          <p:nvPr/>
        </p:nvGrpSpPr>
        <p:grpSpPr>
          <a:xfrm>
            <a:off x="4750365" y="6639220"/>
            <a:ext cx="6095848" cy="14288"/>
            <a:chOff x="0" y="0"/>
            <a:chExt cx="8127797" cy="1905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7746" cy="19050"/>
            </a:xfrm>
            <a:custGeom>
              <a:avLst/>
              <a:gdLst/>
              <a:ahLst/>
              <a:cxnLst/>
              <a:rect l="l" t="t" r="r" b="b"/>
              <a:pathLst>
                <a:path w="8127746" h="19050">
                  <a:moveTo>
                    <a:pt x="0" y="0"/>
                  </a:moveTo>
                  <a:lnTo>
                    <a:pt x="8127746" y="0"/>
                  </a:lnTo>
                  <a:lnTo>
                    <a:pt x="8127746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21" name="Group 21"/>
          <p:cNvGrpSpPr/>
          <p:nvPr/>
        </p:nvGrpSpPr>
        <p:grpSpPr>
          <a:xfrm>
            <a:off x="10846222" y="6639220"/>
            <a:ext cx="6584528" cy="14288"/>
            <a:chOff x="0" y="0"/>
            <a:chExt cx="8779370" cy="1905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779383" cy="19050"/>
            </a:xfrm>
            <a:custGeom>
              <a:avLst/>
              <a:gdLst/>
              <a:ahLst/>
              <a:cxnLst/>
              <a:rect l="l" t="t" r="r" b="b"/>
              <a:pathLst>
                <a:path w="8779383" h="19050">
                  <a:moveTo>
                    <a:pt x="0" y="0"/>
                  </a:moveTo>
                  <a:lnTo>
                    <a:pt x="8779383" y="0"/>
                  </a:lnTo>
                  <a:lnTo>
                    <a:pt x="8779383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23" name="Group 23"/>
          <p:cNvGrpSpPr/>
          <p:nvPr/>
        </p:nvGrpSpPr>
        <p:grpSpPr>
          <a:xfrm>
            <a:off x="857250" y="8047882"/>
            <a:ext cx="3893115" cy="14288"/>
            <a:chOff x="0" y="0"/>
            <a:chExt cx="5190820" cy="1905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5190871" cy="19050"/>
            </a:xfrm>
            <a:custGeom>
              <a:avLst/>
              <a:gdLst/>
              <a:ahLst/>
              <a:cxnLst/>
              <a:rect l="l" t="t" r="r" b="b"/>
              <a:pathLst>
                <a:path w="5190871" h="19050">
                  <a:moveTo>
                    <a:pt x="0" y="0"/>
                  </a:moveTo>
                  <a:lnTo>
                    <a:pt x="5190871" y="0"/>
                  </a:lnTo>
                  <a:lnTo>
                    <a:pt x="5190871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25" name="Group 25"/>
          <p:cNvGrpSpPr/>
          <p:nvPr/>
        </p:nvGrpSpPr>
        <p:grpSpPr>
          <a:xfrm>
            <a:off x="4750365" y="8047882"/>
            <a:ext cx="6095848" cy="14288"/>
            <a:chOff x="0" y="0"/>
            <a:chExt cx="8127797" cy="1905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7746" cy="19050"/>
            </a:xfrm>
            <a:custGeom>
              <a:avLst/>
              <a:gdLst/>
              <a:ahLst/>
              <a:cxnLst/>
              <a:rect l="l" t="t" r="r" b="b"/>
              <a:pathLst>
                <a:path w="8127746" h="19050">
                  <a:moveTo>
                    <a:pt x="0" y="0"/>
                  </a:moveTo>
                  <a:lnTo>
                    <a:pt x="8127746" y="0"/>
                  </a:lnTo>
                  <a:lnTo>
                    <a:pt x="8127746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27" name="Group 27"/>
          <p:cNvGrpSpPr/>
          <p:nvPr/>
        </p:nvGrpSpPr>
        <p:grpSpPr>
          <a:xfrm>
            <a:off x="10846222" y="8047882"/>
            <a:ext cx="6584528" cy="14288"/>
            <a:chOff x="0" y="0"/>
            <a:chExt cx="8779370" cy="1905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779383" cy="19050"/>
            </a:xfrm>
            <a:custGeom>
              <a:avLst/>
              <a:gdLst/>
              <a:ahLst/>
              <a:cxnLst/>
              <a:rect l="l" t="t" r="r" b="b"/>
              <a:pathLst>
                <a:path w="8779383" h="19050">
                  <a:moveTo>
                    <a:pt x="0" y="0"/>
                  </a:moveTo>
                  <a:lnTo>
                    <a:pt x="8779383" y="0"/>
                  </a:lnTo>
                  <a:lnTo>
                    <a:pt x="8779383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sp>
        <p:nvSpPr>
          <p:cNvPr id="29" name="TextBox 29"/>
          <p:cNvSpPr txBox="1"/>
          <p:nvPr/>
        </p:nvSpPr>
        <p:spPr>
          <a:xfrm>
            <a:off x="857250" y="823312"/>
            <a:ext cx="17402175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1">
                <a:solidFill>
                  <a:srgbClr val="0A192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Comparative Summary of Gaps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14500" y="3456756"/>
            <a:ext cx="15716250" cy="2129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250" b="1">
                <a:solidFill>
                  <a:srgbClr val="0A192F"/>
                </a:solidFill>
                <a:latin typeface="DM Sans Bold"/>
                <a:ea typeface="DM Sans Bold"/>
                <a:cs typeface="DM Sans Bold"/>
                <a:sym typeface="DM Sans Bold"/>
              </a:rPr>
              <a:t>[1] Journal Article</a:t>
            </a:r>
            <a:r>
              <a:rPr lang="en-US" sz="225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Zhou, L., Diro, A., Saini, A., Kaisar, S., &amp; Hiep, P. C. (2024). </a:t>
            </a:r>
            <a:r>
              <a:rPr lang="en-US" sz="2250" i="1">
                <a:solidFill>
                  <a:srgbClr val="334155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"Leveraging zero knowledge proofs for blockchain-based identity sharing: A survey of advancements, challenges and opportunities."</a:t>
            </a:r>
            <a:r>
              <a:rPr lang="en-US" sz="225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Journal of Information Security and Applications, 80, 103678.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714500" y="5991225"/>
            <a:ext cx="15716250" cy="16724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250" b="1">
                <a:solidFill>
                  <a:srgbClr val="0A192F"/>
                </a:solidFill>
                <a:latin typeface="DM Sans Bold"/>
                <a:ea typeface="DM Sans Bold"/>
                <a:cs typeface="DM Sans Bold"/>
                <a:sym typeface="DM Sans Bold"/>
              </a:rPr>
              <a:t>[2] Conference Proceeding</a:t>
            </a:r>
            <a:r>
              <a:rPr lang="en-US" sz="225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Ahmed, I., Nakano, T., Toyoda, K., &amp; Tran, T. H. (2025). </a:t>
            </a:r>
            <a:r>
              <a:rPr lang="en-US" sz="2250" i="1">
                <a:solidFill>
                  <a:srgbClr val="334155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"A Privacy-Preserving Selectively Disclosed eKYC System Using Merkle Tree and Zero-Knowledge Proofs."</a:t>
            </a:r>
            <a:r>
              <a:rPr lang="en-US" sz="225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The 30th Asia-Pacific Conference on Communications (APCC 2025).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857250" y="3566293"/>
            <a:ext cx="342900" cy="485775"/>
            <a:chOff x="0" y="0"/>
            <a:chExt cx="457200" cy="647700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457200" cy="647700"/>
            </a:xfrm>
            <a:custGeom>
              <a:avLst/>
              <a:gdLst/>
              <a:ahLst/>
              <a:cxnLst/>
              <a:rect l="l" t="t" r="r" b="b"/>
              <a:pathLst>
                <a:path w="457200" h="647700">
                  <a:moveTo>
                    <a:pt x="0" y="0"/>
                  </a:moveTo>
                  <a:lnTo>
                    <a:pt x="457200" y="0"/>
                  </a:lnTo>
                  <a:lnTo>
                    <a:pt x="457200" y="647700"/>
                  </a:lnTo>
                  <a:lnTo>
                    <a:pt x="0" y="647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857250" y="6100762"/>
            <a:ext cx="342900" cy="485775"/>
            <a:chOff x="0" y="0"/>
            <a:chExt cx="457200" cy="647700"/>
          </a:xfrm>
        </p:grpSpPr>
        <p:sp>
          <p:nvSpPr>
            <p:cNvPr id="7" name="Freeform 7" descr="image.png"/>
            <p:cNvSpPr/>
            <p:nvPr/>
          </p:nvSpPr>
          <p:spPr>
            <a:xfrm>
              <a:off x="0" y="0"/>
              <a:ext cx="457200" cy="647700"/>
            </a:xfrm>
            <a:custGeom>
              <a:avLst/>
              <a:gdLst/>
              <a:ahLst/>
              <a:cxnLst/>
              <a:rect l="l" t="t" r="r" b="b"/>
              <a:pathLst>
                <a:path w="457200" h="647700">
                  <a:moveTo>
                    <a:pt x="0" y="0"/>
                  </a:moveTo>
                  <a:lnTo>
                    <a:pt x="457200" y="0"/>
                  </a:lnTo>
                  <a:lnTo>
                    <a:pt x="457200" y="647700"/>
                  </a:lnTo>
                  <a:lnTo>
                    <a:pt x="0" y="647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857250" y="857250"/>
            <a:ext cx="17402175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1">
                <a:solidFill>
                  <a:srgbClr val="0A192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References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663133" y="4371975"/>
            <a:ext cx="6961733" cy="1543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150"/>
              </a:lnSpc>
            </a:pPr>
            <a:r>
              <a:rPr lang="en-US" sz="10125" b="1">
                <a:solidFill>
                  <a:srgbClr val="F8FAFC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1423</Words>
  <Application>Microsoft Office PowerPoint</Application>
  <PresentationFormat>Custom</PresentationFormat>
  <Paragraphs>96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DM Sans Bold</vt:lpstr>
      <vt:lpstr>DM Sans Italics</vt:lpstr>
      <vt:lpstr>Arial</vt:lpstr>
      <vt:lpstr>DM Sans</vt:lpstr>
      <vt:lpstr>Calibri</vt:lpstr>
      <vt:lpstr>Merriweather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ZKP Identity Systems_ Gaps &amp; Limitations (Expanded).pptx</dc:title>
  <cp:lastModifiedBy>Karan Singh Negi</cp:lastModifiedBy>
  <cp:revision>3</cp:revision>
  <dcterms:created xsi:type="dcterms:W3CDTF">2006-08-16T00:00:00Z</dcterms:created>
  <dcterms:modified xsi:type="dcterms:W3CDTF">2026-10-09T06:17:26Z</dcterms:modified>
  <dc:identifier>DAHVJmmp7hI</dc:identifier>
</cp:coreProperties>
</file>