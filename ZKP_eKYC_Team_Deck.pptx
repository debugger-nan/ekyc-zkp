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FFAB9B22-FD99-ED85-317A-50809303EA40}">
          <p14:sldIdLst>
            <p14:sldId id="256"/>
            <p14:sldId id="257"/>
            <p14:sldId id="258"/>
            <p14:sldId id="259"/>
            <p14:sldId id="260"/>
          </p14:sldIdLst>
        </p14:section>
        <p14:section name="The Team" id="{398C6A65-9921-F794-1C78-8A43975C66CC}">
          <p14:sldIdLst>
            <p14:sldId id="261"/>
            <p14:sldId id="262"/>
            <p14:sldId id="263"/>
            <p14:sldId id="264"/>
            <p14:sldId id="265"/>
            <p14:sldId id="266"/>
            <p14:sldId id="267"/>
          </p14:sldIdLst>
        </p14:section>
        <p14:section name="Wrap-up" id="{1A601C71-A822-97B3-506D-35B669E6C405}">
          <p14:sldIdLst>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9" d="100"/>
          <a:sy n="99" d="100"/>
        </p:scale>
        <p:origin x="333"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993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Good morning everyone. Our project is about proving who you are online without handing over your private details. Today six of us will walk you through how it works, one part each. The one-line idea: prove it, don't show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When a bank asks 'are you 18?', today we send our full ID, address, birth date and photo. They only needed one fact, but they receive five and store them. Those stores become honeypots for hackers.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Left side is how it works now. Right side is our idea. Instead of sending documents, your phone or laptop sends a tiny mathematical proof. The bank learns that you are over 18 and nothing else. Even the face check happens on your own device.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Three ideas are enough. One: a zero-knowledge proof lets you show something is true without showing the secret behind it. Two: a Merkle tree locks each detail of your ID in its own box, so we can open just one. Three: a nullifier is a one-time stamp so nobody can copy your proof and reuse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Three players. The issuer, like a government office, checks your ID once and signs it. You, the holder, keep it in a private vault and create the proof on your own device. The verifier, like a bank, only receives the proof and checks it. They never see your birth date.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We split the project into six parts so each of us owns a clear piece. Now each member will explain their part in simple words, in order from the circuit to the gateway.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The circuit is the rulebook. It checks four things: the issuer really signed my ID, the ID is mine, I am old enough, and it has not expired. The result is a proof of about 800 bytes. To keep the setup honest we ran a multi-party ceremony, so no single person could cheat.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The issuer puts each detail of your ID into its own locked box with a random salt, so nobody can guess it. It signs only the combined fingerprint. If a credential is cancelled, it goes on a revocation list, and you prove you are NOT on that list without revealing who you are.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Before we issue anything we make sure the document is genuine. We read it with OCR, check the built-in check digits, and match it with the government registry. Then the webcam checks you are a live person, not a photo, and compares your face to the ID photo. Nothing from the camera ever leaves your device.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This is the part the user actually touches. The wallet stores the credential encrypted with a passphrase. Before anything is shared, a consent screen shows exactly what will be revealed, for example name and university, and what stays hidden, like date of birth. Then the proof is created inside the browser.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Three extras that make it production-grade. First, a second signature that even a future quantum computer cannot break. Second, an anti-money-laundering check that proves you are not on a sanctions list without telling anyone your name. Third, Ethereum smart contracts that verify proofs on-chain and stop replay and front-running.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This is where a bank plugs in. The gateway gives out a challenge, receives the proof, and runs eight checks, such as valid proof, trusted issuer, fresh date, correct session and not used before. We also wrote 36 automated tests and a tool to migrate old customer records.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Now the live demo. Open localhost:3000/wallet. Upload a sample Aadhaar or enter details manually, do the face check, run the sanctions check, request the credential, then press Verify. In about a second and a half the page shows VERIFIED and age is proven without showing the birth date. Backup plan: run the CLI scripts issuer.js, holder.js and verifier.js.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Here are five realistic attacks and how each one fails. Copying a proof fails because of the one-time nullifier. A stolen credential file is useless without the owner's secret. A fake issuer is rejected by the trusted key list. On Ethereum the proof is tied to the sender's address. And a photo or video fails the motion check.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A few numbers to remember. The proof is about 800 bytes. It takes about one and a half seconds to create in the browser. Every proof gets eight checks. We have 36 automated tests. And zero bytes of biometric data leave the user's device.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To sum up: today's identity checks make us share far too much. With zero-knowledge proofs we prove only what is needed and nothing more. Thank you,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914400"/>
            <a:ext cx="5303520" cy="192024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640080" y="3017520"/>
            <a:ext cx="5303520" cy="731520"/>
          </a:xfrm>
          <a:prstGeom prst="rect">
            <a:avLst/>
          </a:prstGeom>
          <a:noFill/>
          <a:ln/>
        </p:spPr>
        <p:txBody>
          <a:bodyPr wrap="square" rtlCol="0"/>
          <a:lstStyle>
            <a:lvl1pPr marL="0" indent="0" algn="l">
              <a:buNone/>
              <a:defRPr lang="en-US" sz="2000" dirty="0">
                <a:solidFill>
                  <a:schemeClr val="accent6"/>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3" name="Text 0"/>
          <p:cNvSpPr/>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chemeClr val="tx2"/>
                </a:solidFill>
              </a:rPr>
              <a:t>ZKP eKYC  ·  DSN4091 Capstone</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EMBER">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6309360" cy="73152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3" name="Text 0"/>
          <p:cNvSpPr/>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chemeClr val="tx2"/>
                </a:solidFill>
              </a:rPr>
              <a:t>ZKP eKYC  ·  DSN4091 Capstone</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l"/>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3" name="Text 0"/>
          <p:cNvSpPr/>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chemeClr val="accent6"/>
                </a:solidFill>
              </a:rPr>
              <a:t>ZKP eKYC  ·  DSN4091 Capstone</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914400"/>
            <a:ext cx="5303520" cy="1920240"/>
          </a:xfrm>
          <a:prstGeom prst="rect">
            <a:avLst/>
          </a:prstGeom>
          <a:noFill/>
          <a:ln/>
        </p:spPr>
        <p:txBody>
          <a:bodyPr wrap="square" lIns="0" tIns="0" rIns="0" bIns="0" rtlCol="0" anchor="b"/>
          <a:lstStyle/>
          <a:p>
            <a:pPr marL="0" indent="0" algn="l">
              <a:buNone/>
            </a:pPr>
            <a:r>
              <a:rPr lang="en-US" sz="4600" b="1" dirty="0">
                <a:solidFill>
                  <a:schemeClr val="bg1"/>
                </a:solidFill>
              </a:rPr>
              <a:t>Prove it.</a:t>
            </a:r>
            <a:endParaRPr lang="en-US" sz="4600" dirty="0"/>
          </a:p>
          <a:p>
            <a:pPr marL="0" indent="0" algn="l">
              <a:buNone/>
            </a:pPr>
            <a:r>
              <a:rPr lang="en-US" sz="4600" b="1" dirty="0">
                <a:solidFill>
                  <a:schemeClr val="bg1"/>
                </a:solidFill>
              </a:rPr>
              <a:t>Don't show it.</a:t>
            </a:r>
            <a:endParaRPr lang="en-US" sz="4600" dirty="0"/>
          </a:p>
        </p:txBody>
      </p:sp>
      <p:sp>
        <p:nvSpPr>
          <p:cNvPr id="3" name="Text 0"/>
          <p:cNvSpPr>
            <a:spLocks noGrp="1"/>
          </p:cNvSpPr>
          <p:nvPr>
            <p:ph type="body" idx="101" hasCustomPrompt="1"/>
          </p:nvPr>
        </p:nvSpPr>
        <p:spPr>
          <a:xfrm>
            <a:off x="640080" y="3017520"/>
            <a:ext cx="5303520" cy="731520"/>
          </a:xfrm>
          <a:prstGeom prst="rect">
            <a:avLst/>
          </a:prstGeom>
          <a:noFill/>
          <a:ln/>
        </p:spPr>
        <p:txBody>
          <a:bodyPr wrap="square" lIns="0" tIns="0" rIns="0" bIns="0" rtlCol="0" anchor="t"/>
          <a:lstStyle/>
          <a:p>
            <a:pPr marL="0" indent="0" algn="l">
              <a:buNone/>
            </a:pPr>
            <a:r>
              <a:rPr lang="en-US" sz="2000" dirty="0">
                <a:solidFill>
                  <a:schemeClr val="accent6"/>
                </a:solidFill>
              </a:rPr>
              <a:t>Privacy-Preserving eKYC with Zero-Knowledge Proofs</a:t>
            </a:r>
            <a:endParaRPr lang="en-US" sz="2000" dirty="0"/>
          </a:p>
        </p:txBody>
      </p:sp>
      <p:sp>
        <p:nvSpPr>
          <p:cNvPr id="4" name="Capstone line"/>
          <p:cNvSpPr txBox="1"/>
          <p:nvPr/>
        </p:nvSpPr>
        <p:spPr>
          <a:xfrm>
            <a:off x="640080" y="3794760"/>
            <a:ext cx="5303520" cy="274320"/>
          </a:xfrm>
          <a:prstGeom prst="rect">
            <a:avLst/>
          </a:prstGeom>
          <a:noFill/>
          <a:ln/>
        </p:spPr>
        <p:txBody>
          <a:bodyPr wrap="square" lIns="0" tIns="0" rIns="0" bIns="0" rtlCol="0" anchor="ctr"/>
          <a:lstStyle/>
          <a:p>
            <a:pPr marL="0" indent="0">
              <a:buNone/>
            </a:pPr>
            <a:r>
              <a:rPr lang="en-US" sz="1400" dirty="0">
                <a:solidFill>
                  <a:schemeClr val="bg1"/>
                </a:solidFill>
              </a:rPr>
              <a:t>Capstone DSN4091  ·  VIT Bhopal  ·  Group No. 137</a:t>
            </a:r>
            <a:endParaRPr lang="en-US" sz="1400" dirty="0"/>
          </a:p>
        </p:txBody>
      </p:sp>
      <p:sp>
        <p:nvSpPr>
          <p:cNvPr id="5" name="Chip Zero-Knowledge Proofs"/>
          <p:cNvSpPr/>
          <p:nvPr/>
        </p:nvSpPr>
        <p:spPr>
          <a:xfrm>
            <a:off x="640080" y="4251960"/>
            <a:ext cx="1828800" cy="347472"/>
          </a:xfrm>
          <a:prstGeom prst="roundRect">
            <a:avLst>
              <a:gd name="adj" fmla="val 50000"/>
            </a:avLst>
          </a:prstGeom>
          <a:solidFill>
            <a:schemeClr val="tx2"/>
          </a:solidFill>
          <a:ln w="12700">
            <a:solidFill>
              <a:schemeClr val="accent1"/>
            </a:solidFill>
            <a:prstDash val="solid"/>
          </a:ln>
        </p:spPr>
      </p:sp>
      <p:sp>
        <p:nvSpPr>
          <p:cNvPr id="6" name="Chip text 1"/>
          <p:cNvSpPr txBox="1"/>
          <p:nvPr/>
        </p:nvSpPr>
        <p:spPr>
          <a:xfrm>
            <a:off x="640080" y="4251960"/>
            <a:ext cx="1828800" cy="347472"/>
          </a:xfrm>
          <a:prstGeom prst="rect">
            <a:avLst/>
          </a:prstGeom>
          <a:noFill/>
          <a:ln/>
        </p:spPr>
        <p:txBody>
          <a:bodyPr wrap="square" lIns="0" tIns="0" rIns="0" bIns="0" rtlCol="0" anchor="ctr"/>
          <a:lstStyle/>
          <a:p>
            <a:pPr marL="0" indent="0" algn="ctr">
              <a:buNone/>
            </a:pPr>
            <a:r>
              <a:rPr lang="en-US" sz="1200" b="1" dirty="0">
                <a:solidFill>
                  <a:schemeClr val="accent1"/>
                </a:solidFill>
              </a:rPr>
              <a:t>Zero-Knowledge Proofs</a:t>
            </a:r>
            <a:endParaRPr lang="en-US" sz="1200" dirty="0"/>
          </a:p>
        </p:txBody>
      </p:sp>
      <p:sp>
        <p:nvSpPr>
          <p:cNvPr id="7" name="Chip Post-Quantum"/>
          <p:cNvSpPr/>
          <p:nvPr/>
        </p:nvSpPr>
        <p:spPr>
          <a:xfrm>
            <a:off x="2606040" y="4251960"/>
            <a:ext cx="1280160" cy="347472"/>
          </a:xfrm>
          <a:prstGeom prst="roundRect">
            <a:avLst>
              <a:gd name="adj" fmla="val 50000"/>
            </a:avLst>
          </a:prstGeom>
          <a:solidFill>
            <a:schemeClr val="tx2"/>
          </a:solidFill>
          <a:ln w="12700">
            <a:solidFill>
              <a:schemeClr val="accent1"/>
            </a:solidFill>
            <a:prstDash val="solid"/>
          </a:ln>
        </p:spPr>
      </p:sp>
      <p:sp>
        <p:nvSpPr>
          <p:cNvPr id="8" name="Chip text 2"/>
          <p:cNvSpPr txBox="1"/>
          <p:nvPr/>
        </p:nvSpPr>
        <p:spPr>
          <a:xfrm>
            <a:off x="2606040" y="4251960"/>
            <a:ext cx="1280160" cy="347472"/>
          </a:xfrm>
          <a:prstGeom prst="rect">
            <a:avLst/>
          </a:prstGeom>
          <a:noFill/>
          <a:ln/>
        </p:spPr>
        <p:txBody>
          <a:bodyPr wrap="square" lIns="0" tIns="0" rIns="0" bIns="0" rtlCol="0" anchor="ctr"/>
          <a:lstStyle/>
          <a:p>
            <a:pPr marL="0" indent="0" algn="ctr">
              <a:buNone/>
            </a:pPr>
            <a:r>
              <a:rPr lang="en-US" sz="1200" b="1" dirty="0">
                <a:solidFill>
                  <a:schemeClr val="accent1"/>
                </a:solidFill>
              </a:rPr>
              <a:t>Post-Quantum</a:t>
            </a:r>
            <a:endParaRPr lang="en-US" sz="1200" dirty="0"/>
          </a:p>
        </p:txBody>
      </p:sp>
      <p:sp>
        <p:nvSpPr>
          <p:cNvPr id="9" name="Chip On-Device Biometrics"/>
          <p:cNvSpPr/>
          <p:nvPr/>
        </p:nvSpPr>
        <p:spPr>
          <a:xfrm>
            <a:off x="4023360" y="4251960"/>
            <a:ext cx="1828800" cy="347472"/>
          </a:xfrm>
          <a:prstGeom prst="roundRect">
            <a:avLst>
              <a:gd name="adj" fmla="val 50000"/>
            </a:avLst>
          </a:prstGeom>
          <a:solidFill>
            <a:schemeClr val="tx2"/>
          </a:solidFill>
          <a:ln w="12700">
            <a:solidFill>
              <a:schemeClr val="accent1"/>
            </a:solidFill>
            <a:prstDash val="solid"/>
          </a:ln>
        </p:spPr>
      </p:sp>
      <p:sp>
        <p:nvSpPr>
          <p:cNvPr id="10" name="Chip text 3"/>
          <p:cNvSpPr txBox="1"/>
          <p:nvPr/>
        </p:nvSpPr>
        <p:spPr>
          <a:xfrm>
            <a:off x="4023360" y="4251960"/>
            <a:ext cx="1828800" cy="347472"/>
          </a:xfrm>
          <a:prstGeom prst="rect">
            <a:avLst/>
          </a:prstGeom>
          <a:noFill/>
          <a:ln/>
        </p:spPr>
        <p:txBody>
          <a:bodyPr wrap="square" lIns="0" tIns="0" rIns="0" bIns="0" rtlCol="0" anchor="ctr"/>
          <a:lstStyle/>
          <a:p>
            <a:pPr marL="0" indent="0" algn="ctr">
              <a:buNone/>
            </a:pPr>
            <a:r>
              <a:rPr lang="en-US" sz="1200" b="1" dirty="0">
                <a:solidFill>
                  <a:schemeClr val="accent1"/>
                </a:solidFill>
              </a:rPr>
              <a:t>On-Device Biometrics</a:t>
            </a:r>
            <a:endParaRPr lang="en-US" sz="1200" dirty="0"/>
          </a:p>
        </p:txBody>
      </p:sp>
      <p:sp>
        <p:nvSpPr>
          <p:cNvPr id="11" name="Hero circle"/>
          <p:cNvSpPr/>
          <p:nvPr/>
        </p:nvSpPr>
        <p:spPr>
          <a:xfrm>
            <a:off x="6172200" y="1005840"/>
            <a:ext cx="2468880" cy="2468880"/>
          </a:xfrm>
          <a:prstGeom prst="ellipse">
            <a:avLst/>
          </a:prstGeom>
          <a:solidFill>
            <a:schemeClr val="tx2"/>
          </a:solidFill>
          <a:ln w="12700">
            <a:solidFill>
              <a:schemeClr val="tx2"/>
            </a:solidFill>
            <a:prstDash val="solid"/>
          </a:ln>
        </p:spPr>
      </p:sp>
      <p:sp>
        <p:nvSpPr>
          <p:cNvPr id="12" name="Orbit mint"/>
          <p:cNvSpPr/>
          <p:nvPr/>
        </p:nvSpPr>
        <p:spPr>
          <a:xfrm>
            <a:off x="5897880" y="914400"/>
            <a:ext cx="365760" cy="365760"/>
          </a:xfrm>
          <a:prstGeom prst="ellipse">
            <a:avLst/>
          </a:prstGeom>
          <a:solidFill>
            <a:schemeClr val="accent1"/>
          </a:solidFill>
          <a:ln w="12700">
            <a:solidFill>
              <a:schemeClr val="accent1"/>
            </a:solidFill>
            <a:prstDash val="solid"/>
          </a:ln>
        </p:spPr>
      </p:sp>
      <p:sp>
        <p:nvSpPr>
          <p:cNvPr id="13" name="Orbit violet"/>
          <p:cNvSpPr/>
          <p:nvPr/>
        </p:nvSpPr>
        <p:spPr>
          <a:xfrm>
            <a:off x="8412480" y="685800"/>
            <a:ext cx="457200" cy="457200"/>
          </a:xfrm>
          <a:prstGeom prst="ellipse">
            <a:avLst/>
          </a:prstGeom>
          <a:solidFill>
            <a:schemeClr val="accent2"/>
          </a:solidFill>
          <a:ln w="12700">
            <a:solidFill>
              <a:schemeClr val="accent2"/>
            </a:solidFill>
            <a:prstDash val="solid"/>
          </a:ln>
        </p:spPr>
      </p:sp>
      <p:sp>
        <p:nvSpPr>
          <p:cNvPr id="14" name="Orbit amber"/>
          <p:cNvSpPr/>
          <p:nvPr/>
        </p:nvSpPr>
        <p:spPr>
          <a:xfrm>
            <a:off x="8366760" y="3383280"/>
            <a:ext cx="274320" cy="274320"/>
          </a:xfrm>
          <a:prstGeom prst="ellipse">
            <a:avLst/>
          </a:prstGeom>
          <a:solidFill>
            <a:schemeClr val="accent3"/>
          </a:solidFill>
          <a:ln w="12700">
            <a:solidFill>
              <a:schemeClr val="accent3"/>
            </a:solidFill>
            <a:prstDash val="solid"/>
          </a:ln>
        </p:spPr>
      </p:sp>
      <p:pic>
        <p:nvPicPr>
          <p:cNvPr id="15" name="Hero lock" descr="Lock"/>
          <p:cNvPicPr>
            <a:picLocks noChangeAspect="1"/>
          </p:cNvPicPr>
          <p:nvPr/>
        </p:nvPicPr>
        <p:blipFill>
          <a:blip r:embed="rId3"/>
          <a:stretch>
            <a:fillRect/>
          </a:stretch>
        </p:blipFill>
        <p:spPr>
          <a:xfrm>
            <a:off x="6858000" y="1691640"/>
            <a:ext cx="1097280" cy="10972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600" b="1" dirty="0">
                <a:solidFill>
                  <a:schemeClr val="tx1"/>
                </a:solidFill>
              </a:rPr>
              <a:t>KYC Today Overshares</a:t>
            </a:r>
            <a:endParaRPr lang="en-US" sz="3600" dirty="0"/>
          </a:p>
        </p:txBody>
      </p:sp>
      <p:sp>
        <p:nvSpPr>
          <p:cNvPr id="3" name="ID card"/>
          <p:cNvSpPr/>
          <p:nvPr/>
        </p:nvSpPr>
        <p:spPr>
          <a:xfrm>
            <a:off x="457200" y="1280160"/>
            <a:ext cx="4206240" cy="3200400"/>
          </a:xfrm>
          <a:prstGeom prst="roundRect">
            <a:avLst>
              <a:gd name="adj" fmla="val 3429"/>
            </a:avLst>
          </a:prstGeom>
          <a:solidFill>
            <a:schemeClr val="bg2"/>
          </a:solidFill>
          <a:ln w="12700">
            <a:solidFill>
              <a:schemeClr val="bg2"/>
            </a:solidFill>
            <a:prstDash val="solid"/>
          </a:ln>
        </p:spPr>
      </p:sp>
      <p:sp>
        <p:nvSpPr>
          <p:cNvPr id="4" name="ID card heading"/>
          <p:cNvSpPr txBox="1"/>
          <p:nvPr/>
        </p:nvSpPr>
        <p:spPr>
          <a:xfrm>
            <a:off x="685800" y="1417320"/>
            <a:ext cx="3749040" cy="365760"/>
          </a:xfrm>
          <a:prstGeom prst="rect">
            <a:avLst/>
          </a:prstGeom>
          <a:noFill/>
          <a:ln/>
        </p:spPr>
        <p:txBody>
          <a:bodyPr wrap="square" lIns="0" tIns="0" rIns="0" bIns="0" rtlCol="0" anchor="ctr"/>
          <a:lstStyle/>
          <a:p>
            <a:pPr marL="0" indent="0">
              <a:buNone/>
            </a:pPr>
            <a:r>
              <a:rPr lang="en-US" sz="1500" b="1" dirty="0">
                <a:solidFill>
                  <a:schemeClr val="tx2"/>
                </a:solidFill>
              </a:rPr>
              <a:t>To prove you're 18+, you hand over:</a:t>
            </a:r>
            <a:endParaRPr lang="en-US" sz="1500" dirty="0"/>
          </a:p>
        </p:txBody>
      </p:sp>
      <p:sp>
        <p:nvSpPr>
          <p:cNvPr id="5" name="Field row 1"/>
          <p:cNvSpPr/>
          <p:nvPr/>
        </p:nvSpPr>
        <p:spPr>
          <a:xfrm>
            <a:off x="685800" y="1874520"/>
            <a:ext cx="3749040" cy="420624"/>
          </a:xfrm>
          <a:prstGeom prst="roundRect">
            <a:avLst>
              <a:gd name="adj" fmla="val 17391"/>
            </a:avLst>
          </a:prstGeom>
          <a:solidFill>
            <a:schemeClr val="bg1"/>
          </a:solidFill>
          <a:ln w="12700">
            <a:solidFill>
              <a:schemeClr val="bg1"/>
            </a:solidFill>
            <a:prstDash val="solid"/>
          </a:ln>
        </p:spPr>
      </p:sp>
      <p:sp>
        <p:nvSpPr>
          <p:cNvPr id="6" name="Field label 1"/>
          <p:cNvSpPr txBox="1"/>
          <p:nvPr/>
        </p:nvSpPr>
        <p:spPr>
          <a:xfrm>
            <a:off x="868680" y="1874520"/>
            <a:ext cx="2286000" cy="420624"/>
          </a:xfrm>
          <a:prstGeom prst="rect">
            <a:avLst/>
          </a:prstGeom>
          <a:noFill/>
          <a:ln/>
        </p:spPr>
        <p:txBody>
          <a:bodyPr wrap="square" lIns="0" tIns="0" rIns="0" bIns="0" rtlCol="0" anchor="ctr"/>
          <a:lstStyle/>
          <a:p>
            <a:pPr marL="0" indent="0">
              <a:buNone/>
            </a:pPr>
            <a:r>
              <a:rPr lang="en-US" sz="1500" dirty="0">
                <a:solidFill>
                  <a:schemeClr val="tx1"/>
                </a:solidFill>
              </a:rPr>
              <a:t>Full name</a:t>
            </a:r>
            <a:endParaRPr lang="en-US" sz="1500" dirty="0"/>
          </a:p>
        </p:txBody>
      </p:sp>
      <p:sp>
        <p:nvSpPr>
          <p:cNvPr id="7" name="Shared pill 1"/>
          <p:cNvSpPr/>
          <p:nvPr/>
        </p:nvSpPr>
        <p:spPr>
          <a:xfrm>
            <a:off x="3383280" y="1947672"/>
            <a:ext cx="868680" cy="274320"/>
          </a:xfrm>
          <a:prstGeom prst="roundRect">
            <a:avLst>
              <a:gd name="adj" fmla="val 50000"/>
            </a:avLst>
          </a:prstGeom>
          <a:solidFill>
            <a:schemeClr val="accent4"/>
          </a:solidFill>
          <a:ln w="12700">
            <a:solidFill>
              <a:schemeClr val="accent4"/>
            </a:solidFill>
            <a:prstDash val="solid"/>
          </a:ln>
        </p:spPr>
      </p:sp>
      <p:sp>
        <p:nvSpPr>
          <p:cNvPr id="8" name="Shared text 1"/>
          <p:cNvSpPr txBox="1"/>
          <p:nvPr/>
        </p:nvSpPr>
        <p:spPr>
          <a:xfrm>
            <a:off x="3383280" y="1947672"/>
            <a:ext cx="868680" cy="274320"/>
          </a:xfrm>
          <a:prstGeom prst="rect">
            <a:avLst/>
          </a:prstGeom>
          <a:noFill/>
          <a:ln/>
        </p:spPr>
        <p:txBody>
          <a:bodyPr wrap="square" lIns="0" tIns="0" rIns="0" bIns="0" rtlCol="0" anchor="ctr"/>
          <a:lstStyle/>
          <a:p>
            <a:pPr marL="0" indent="0" algn="ctr">
              <a:buNone/>
            </a:pPr>
            <a:r>
              <a:rPr lang="en-US" sz="1000" b="1" dirty="0">
                <a:solidFill>
                  <a:schemeClr val="bg1"/>
                </a:solidFill>
              </a:rPr>
              <a:t>SHARED</a:t>
            </a:r>
            <a:endParaRPr lang="en-US" sz="1000" dirty="0"/>
          </a:p>
        </p:txBody>
      </p:sp>
      <p:sp>
        <p:nvSpPr>
          <p:cNvPr id="9" name="Field row 2"/>
          <p:cNvSpPr/>
          <p:nvPr/>
        </p:nvSpPr>
        <p:spPr>
          <a:xfrm>
            <a:off x="685800" y="2386584"/>
            <a:ext cx="3749040" cy="420624"/>
          </a:xfrm>
          <a:prstGeom prst="roundRect">
            <a:avLst>
              <a:gd name="adj" fmla="val 17391"/>
            </a:avLst>
          </a:prstGeom>
          <a:solidFill>
            <a:schemeClr val="bg1"/>
          </a:solidFill>
          <a:ln w="12700">
            <a:solidFill>
              <a:schemeClr val="bg1"/>
            </a:solidFill>
            <a:prstDash val="solid"/>
          </a:ln>
        </p:spPr>
      </p:sp>
      <p:sp>
        <p:nvSpPr>
          <p:cNvPr id="10" name="Field label 2"/>
          <p:cNvSpPr txBox="1"/>
          <p:nvPr/>
        </p:nvSpPr>
        <p:spPr>
          <a:xfrm>
            <a:off x="868680" y="2386584"/>
            <a:ext cx="2286000" cy="420624"/>
          </a:xfrm>
          <a:prstGeom prst="rect">
            <a:avLst/>
          </a:prstGeom>
          <a:noFill/>
          <a:ln/>
        </p:spPr>
        <p:txBody>
          <a:bodyPr wrap="square" lIns="0" tIns="0" rIns="0" bIns="0" rtlCol="0" anchor="ctr"/>
          <a:lstStyle/>
          <a:p>
            <a:pPr marL="0" indent="0">
              <a:buNone/>
            </a:pPr>
            <a:r>
              <a:rPr lang="en-US" sz="1500" dirty="0">
                <a:solidFill>
                  <a:schemeClr val="tx1"/>
                </a:solidFill>
              </a:rPr>
              <a:t>Date of birth</a:t>
            </a:r>
            <a:endParaRPr lang="en-US" sz="1500" dirty="0"/>
          </a:p>
        </p:txBody>
      </p:sp>
      <p:sp>
        <p:nvSpPr>
          <p:cNvPr id="11" name="Shared pill 2"/>
          <p:cNvSpPr/>
          <p:nvPr/>
        </p:nvSpPr>
        <p:spPr>
          <a:xfrm>
            <a:off x="3383280" y="2459736"/>
            <a:ext cx="868680" cy="274320"/>
          </a:xfrm>
          <a:prstGeom prst="roundRect">
            <a:avLst>
              <a:gd name="adj" fmla="val 50000"/>
            </a:avLst>
          </a:prstGeom>
          <a:solidFill>
            <a:schemeClr val="accent4"/>
          </a:solidFill>
          <a:ln w="12700">
            <a:solidFill>
              <a:schemeClr val="accent4"/>
            </a:solidFill>
            <a:prstDash val="solid"/>
          </a:ln>
        </p:spPr>
      </p:sp>
      <p:sp>
        <p:nvSpPr>
          <p:cNvPr id="12" name="Shared text 2"/>
          <p:cNvSpPr txBox="1"/>
          <p:nvPr/>
        </p:nvSpPr>
        <p:spPr>
          <a:xfrm>
            <a:off x="3383280" y="2459736"/>
            <a:ext cx="868680" cy="274320"/>
          </a:xfrm>
          <a:prstGeom prst="rect">
            <a:avLst/>
          </a:prstGeom>
          <a:noFill/>
          <a:ln/>
        </p:spPr>
        <p:txBody>
          <a:bodyPr wrap="square" lIns="0" tIns="0" rIns="0" bIns="0" rtlCol="0" anchor="ctr"/>
          <a:lstStyle/>
          <a:p>
            <a:pPr marL="0" indent="0" algn="ctr">
              <a:buNone/>
            </a:pPr>
            <a:r>
              <a:rPr lang="en-US" sz="1000" b="1" dirty="0">
                <a:solidFill>
                  <a:schemeClr val="bg1"/>
                </a:solidFill>
              </a:rPr>
              <a:t>SHARED</a:t>
            </a:r>
            <a:endParaRPr lang="en-US" sz="1000" dirty="0"/>
          </a:p>
        </p:txBody>
      </p:sp>
      <p:sp>
        <p:nvSpPr>
          <p:cNvPr id="13" name="Field row 3"/>
          <p:cNvSpPr/>
          <p:nvPr/>
        </p:nvSpPr>
        <p:spPr>
          <a:xfrm>
            <a:off x="685800" y="2898648"/>
            <a:ext cx="3749040" cy="420624"/>
          </a:xfrm>
          <a:prstGeom prst="roundRect">
            <a:avLst>
              <a:gd name="adj" fmla="val 17391"/>
            </a:avLst>
          </a:prstGeom>
          <a:solidFill>
            <a:schemeClr val="bg1"/>
          </a:solidFill>
          <a:ln w="12700">
            <a:solidFill>
              <a:schemeClr val="bg1"/>
            </a:solidFill>
            <a:prstDash val="solid"/>
          </a:ln>
        </p:spPr>
      </p:sp>
      <p:sp>
        <p:nvSpPr>
          <p:cNvPr id="14" name="Field label 3"/>
          <p:cNvSpPr txBox="1"/>
          <p:nvPr/>
        </p:nvSpPr>
        <p:spPr>
          <a:xfrm>
            <a:off x="868680" y="2898648"/>
            <a:ext cx="2286000" cy="420624"/>
          </a:xfrm>
          <a:prstGeom prst="rect">
            <a:avLst/>
          </a:prstGeom>
          <a:noFill/>
          <a:ln/>
        </p:spPr>
        <p:txBody>
          <a:bodyPr wrap="square" lIns="0" tIns="0" rIns="0" bIns="0" rtlCol="0" anchor="ctr"/>
          <a:lstStyle/>
          <a:p>
            <a:pPr marL="0" indent="0">
              <a:buNone/>
            </a:pPr>
            <a:r>
              <a:rPr lang="en-US" sz="1500" dirty="0">
                <a:solidFill>
                  <a:schemeClr val="tx1"/>
                </a:solidFill>
              </a:rPr>
              <a:t>Home address</a:t>
            </a:r>
            <a:endParaRPr lang="en-US" sz="1500" dirty="0"/>
          </a:p>
        </p:txBody>
      </p:sp>
      <p:sp>
        <p:nvSpPr>
          <p:cNvPr id="15" name="Shared pill 3"/>
          <p:cNvSpPr/>
          <p:nvPr/>
        </p:nvSpPr>
        <p:spPr>
          <a:xfrm>
            <a:off x="3383280" y="2971800"/>
            <a:ext cx="868680" cy="274320"/>
          </a:xfrm>
          <a:prstGeom prst="roundRect">
            <a:avLst>
              <a:gd name="adj" fmla="val 50000"/>
            </a:avLst>
          </a:prstGeom>
          <a:solidFill>
            <a:schemeClr val="accent4"/>
          </a:solidFill>
          <a:ln w="12700">
            <a:solidFill>
              <a:schemeClr val="accent4"/>
            </a:solidFill>
            <a:prstDash val="solid"/>
          </a:ln>
        </p:spPr>
      </p:sp>
      <p:sp>
        <p:nvSpPr>
          <p:cNvPr id="16" name="Shared text 3"/>
          <p:cNvSpPr txBox="1"/>
          <p:nvPr/>
        </p:nvSpPr>
        <p:spPr>
          <a:xfrm>
            <a:off x="3383280" y="2971800"/>
            <a:ext cx="868680" cy="274320"/>
          </a:xfrm>
          <a:prstGeom prst="rect">
            <a:avLst/>
          </a:prstGeom>
          <a:noFill/>
          <a:ln/>
        </p:spPr>
        <p:txBody>
          <a:bodyPr wrap="square" lIns="0" tIns="0" rIns="0" bIns="0" rtlCol="0" anchor="ctr"/>
          <a:lstStyle/>
          <a:p>
            <a:pPr marL="0" indent="0" algn="ctr">
              <a:buNone/>
            </a:pPr>
            <a:r>
              <a:rPr lang="en-US" sz="1000" b="1" dirty="0">
                <a:solidFill>
                  <a:schemeClr val="bg1"/>
                </a:solidFill>
              </a:rPr>
              <a:t>SHARED</a:t>
            </a:r>
            <a:endParaRPr lang="en-US" sz="1000" dirty="0"/>
          </a:p>
        </p:txBody>
      </p:sp>
      <p:sp>
        <p:nvSpPr>
          <p:cNvPr id="17" name="Field row 4"/>
          <p:cNvSpPr/>
          <p:nvPr/>
        </p:nvSpPr>
        <p:spPr>
          <a:xfrm>
            <a:off x="685800" y="3410712"/>
            <a:ext cx="3749040" cy="420624"/>
          </a:xfrm>
          <a:prstGeom prst="roundRect">
            <a:avLst>
              <a:gd name="adj" fmla="val 17391"/>
            </a:avLst>
          </a:prstGeom>
          <a:solidFill>
            <a:schemeClr val="bg1"/>
          </a:solidFill>
          <a:ln w="12700">
            <a:solidFill>
              <a:schemeClr val="bg1"/>
            </a:solidFill>
            <a:prstDash val="solid"/>
          </a:ln>
        </p:spPr>
      </p:sp>
      <p:sp>
        <p:nvSpPr>
          <p:cNvPr id="18" name="Field label 4"/>
          <p:cNvSpPr txBox="1"/>
          <p:nvPr/>
        </p:nvSpPr>
        <p:spPr>
          <a:xfrm>
            <a:off x="868680" y="3410712"/>
            <a:ext cx="2286000" cy="420624"/>
          </a:xfrm>
          <a:prstGeom prst="rect">
            <a:avLst/>
          </a:prstGeom>
          <a:noFill/>
          <a:ln/>
        </p:spPr>
        <p:txBody>
          <a:bodyPr wrap="square" lIns="0" tIns="0" rIns="0" bIns="0" rtlCol="0" anchor="ctr"/>
          <a:lstStyle/>
          <a:p>
            <a:pPr marL="0" indent="0">
              <a:buNone/>
            </a:pPr>
            <a:r>
              <a:rPr lang="en-US" sz="1500" dirty="0">
                <a:solidFill>
                  <a:schemeClr val="tx1"/>
                </a:solidFill>
              </a:rPr>
              <a:t>National ID number</a:t>
            </a:r>
            <a:endParaRPr lang="en-US" sz="1500" dirty="0"/>
          </a:p>
        </p:txBody>
      </p:sp>
      <p:sp>
        <p:nvSpPr>
          <p:cNvPr id="19" name="Shared pill 4"/>
          <p:cNvSpPr/>
          <p:nvPr/>
        </p:nvSpPr>
        <p:spPr>
          <a:xfrm>
            <a:off x="3383280" y="3483864"/>
            <a:ext cx="868680" cy="274320"/>
          </a:xfrm>
          <a:prstGeom prst="roundRect">
            <a:avLst>
              <a:gd name="adj" fmla="val 50000"/>
            </a:avLst>
          </a:prstGeom>
          <a:solidFill>
            <a:schemeClr val="accent4"/>
          </a:solidFill>
          <a:ln w="12700">
            <a:solidFill>
              <a:schemeClr val="accent4"/>
            </a:solidFill>
            <a:prstDash val="solid"/>
          </a:ln>
        </p:spPr>
      </p:sp>
      <p:sp>
        <p:nvSpPr>
          <p:cNvPr id="20" name="Shared text 4"/>
          <p:cNvSpPr txBox="1"/>
          <p:nvPr/>
        </p:nvSpPr>
        <p:spPr>
          <a:xfrm>
            <a:off x="3383280" y="3483864"/>
            <a:ext cx="868680" cy="274320"/>
          </a:xfrm>
          <a:prstGeom prst="rect">
            <a:avLst/>
          </a:prstGeom>
          <a:noFill/>
          <a:ln/>
        </p:spPr>
        <p:txBody>
          <a:bodyPr wrap="square" lIns="0" tIns="0" rIns="0" bIns="0" rtlCol="0" anchor="ctr"/>
          <a:lstStyle/>
          <a:p>
            <a:pPr marL="0" indent="0" algn="ctr">
              <a:buNone/>
            </a:pPr>
            <a:r>
              <a:rPr lang="en-US" sz="1000" b="1" dirty="0">
                <a:solidFill>
                  <a:schemeClr val="bg1"/>
                </a:solidFill>
              </a:rPr>
              <a:t>SHARED</a:t>
            </a:r>
            <a:endParaRPr lang="en-US" sz="1000" dirty="0"/>
          </a:p>
        </p:txBody>
      </p:sp>
      <p:sp>
        <p:nvSpPr>
          <p:cNvPr id="21" name="Field row 5"/>
          <p:cNvSpPr/>
          <p:nvPr/>
        </p:nvSpPr>
        <p:spPr>
          <a:xfrm>
            <a:off x="685800" y="3922776"/>
            <a:ext cx="3749040" cy="420624"/>
          </a:xfrm>
          <a:prstGeom prst="roundRect">
            <a:avLst>
              <a:gd name="adj" fmla="val 17391"/>
            </a:avLst>
          </a:prstGeom>
          <a:solidFill>
            <a:schemeClr val="bg1"/>
          </a:solidFill>
          <a:ln w="12700">
            <a:solidFill>
              <a:schemeClr val="bg1"/>
            </a:solidFill>
            <a:prstDash val="solid"/>
          </a:ln>
        </p:spPr>
      </p:sp>
      <p:sp>
        <p:nvSpPr>
          <p:cNvPr id="22" name="Field label 5"/>
          <p:cNvSpPr txBox="1"/>
          <p:nvPr/>
        </p:nvSpPr>
        <p:spPr>
          <a:xfrm>
            <a:off x="868680" y="3922776"/>
            <a:ext cx="2286000" cy="420624"/>
          </a:xfrm>
          <a:prstGeom prst="rect">
            <a:avLst/>
          </a:prstGeom>
          <a:noFill/>
          <a:ln/>
        </p:spPr>
        <p:txBody>
          <a:bodyPr wrap="square" lIns="0" tIns="0" rIns="0" bIns="0" rtlCol="0" anchor="ctr"/>
          <a:lstStyle/>
          <a:p>
            <a:pPr marL="0" indent="0">
              <a:buNone/>
            </a:pPr>
            <a:r>
              <a:rPr lang="en-US" sz="1500" dirty="0">
                <a:solidFill>
                  <a:schemeClr val="tx1"/>
                </a:solidFill>
              </a:rPr>
              <a:t>Face photo</a:t>
            </a:r>
            <a:endParaRPr lang="en-US" sz="1500" dirty="0"/>
          </a:p>
        </p:txBody>
      </p:sp>
      <p:sp>
        <p:nvSpPr>
          <p:cNvPr id="23" name="Shared pill 5"/>
          <p:cNvSpPr/>
          <p:nvPr/>
        </p:nvSpPr>
        <p:spPr>
          <a:xfrm>
            <a:off x="3383280" y="3995928"/>
            <a:ext cx="868680" cy="274320"/>
          </a:xfrm>
          <a:prstGeom prst="roundRect">
            <a:avLst>
              <a:gd name="adj" fmla="val 50000"/>
            </a:avLst>
          </a:prstGeom>
          <a:solidFill>
            <a:schemeClr val="accent4"/>
          </a:solidFill>
          <a:ln w="12700">
            <a:solidFill>
              <a:schemeClr val="accent4"/>
            </a:solidFill>
            <a:prstDash val="solid"/>
          </a:ln>
        </p:spPr>
      </p:sp>
      <p:sp>
        <p:nvSpPr>
          <p:cNvPr id="24" name="Shared text 5"/>
          <p:cNvSpPr txBox="1"/>
          <p:nvPr/>
        </p:nvSpPr>
        <p:spPr>
          <a:xfrm>
            <a:off x="3383280" y="3995928"/>
            <a:ext cx="868680" cy="274320"/>
          </a:xfrm>
          <a:prstGeom prst="rect">
            <a:avLst/>
          </a:prstGeom>
          <a:noFill/>
          <a:ln/>
        </p:spPr>
        <p:txBody>
          <a:bodyPr wrap="square" lIns="0" tIns="0" rIns="0" bIns="0" rtlCol="0" anchor="ctr"/>
          <a:lstStyle/>
          <a:p>
            <a:pPr marL="0" indent="0" algn="ctr">
              <a:buNone/>
            </a:pPr>
            <a:r>
              <a:rPr lang="en-US" sz="1000" b="1" dirty="0">
                <a:solidFill>
                  <a:schemeClr val="bg1"/>
                </a:solidFill>
              </a:rPr>
              <a:t>SHARED</a:t>
            </a:r>
            <a:endParaRPr lang="en-US" sz="1000" dirty="0"/>
          </a:p>
        </p:txBody>
      </p:sp>
      <p:sp>
        <p:nvSpPr>
          <p:cNvPr id="25" name="Stat five"/>
          <p:cNvSpPr txBox="1"/>
          <p:nvPr/>
        </p:nvSpPr>
        <p:spPr>
          <a:xfrm>
            <a:off x="5029200" y="1234440"/>
            <a:ext cx="1737360" cy="1188720"/>
          </a:xfrm>
          <a:prstGeom prst="rect">
            <a:avLst/>
          </a:prstGeom>
          <a:noFill/>
          <a:ln/>
        </p:spPr>
        <p:txBody>
          <a:bodyPr wrap="square" lIns="0" tIns="0" rIns="0" bIns="0" rtlCol="0" anchor="ctr"/>
          <a:lstStyle/>
          <a:p>
            <a:pPr marL="0" indent="0">
              <a:buNone/>
            </a:pPr>
            <a:r>
              <a:rPr lang="en-US" sz="8800" b="1" dirty="0">
                <a:solidFill>
                  <a:schemeClr val="accent4"/>
                </a:solidFill>
                <a:latin typeface="Cambria" pitchFamily="34" charset="0"/>
                <a:ea typeface="Cambria" pitchFamily="34" charset="-122"/>
                <a:cs typeface="Cambria" pitchFamily="34" charset="-120"/>
              </a:rPr>
              <a:t>5</a:t>
            </a:r>
            <a:endParaRPr lang="en-US" sz="8800" dirty="0"/>
          </a:p>
        </p:txBody>
      </p:sp>
      <p:sp>
        <p:nvSpPr>
          <p:cNvPr id="26" name="Stat five label"/>
          <p:cNvSpPr txBox="1"/>
          <p:nvPr/>
        </p:nvSpPr>
        <p:spPr>
          <a:xfrm>
            <a:off x="5029200" y="2423160"/>
            <a:ext cx="1737360" cy="502920"/>
          </a:xfrm>
          <a:prstGeom prst="rect">
            <a:avLst/>
          </a:prstGeom>
          <a:noFill/>
          <a:ln/>
        </p:spPr>
        <p:txBody>
          <a:bodyPr wrap="square" lIns="0" tIns="0" rIns="0" bIns="0" rtlCol="0" anchor="ctr"/>
          <a:lstStyle/>
          <a:p>
            <a:pPr marL="0" indent="0">
              <a:buNone/>
            </a:pPr>
            <a:r>
              <a:rPr lang="en-US" sz="1600" b="1" dirty="0">
                <a:solidFill>
                  <a:schemeClr val="tx1"/>
                </a:solidFill>
              </a:rPr>
              <a:t>details handed over</a:t>
            </a:r>
            <a:endParaRPr lang="en-US" sz="1600" dirty="0"/>
          </a:p>
        </p:txBody>
      </p:sp>
      <p:sp>
        <p:nvSpPr>
          <p:cNvPr id="27" name="Stat one"/>
          <p:cNvSpPr txBox="1"/>
          <p:nvPr/>
        </p:nvSpPr>
        <p:spPr>
          <a:xfrm>
            <a:off x="6949440" y="1234440"/>
            <a:ext cx="1737360" cy="1188720"/>
          </a:xfrm>
          <a:prstGeom prst="rect">
            <a:avLst/>
          </a:prstGeom>
          <a:noFill/>
          <a:ln/>
        </p:spPr>
        <p:txBody>
          <a:bodyPr wrap="square" lIns="0" tIns="0" rIns="0" bIns="0" rtlCol="0" anchor="ctr"/>
          <a:lstStyle/>
          <a:p>
            <a:pPr marL="0" indent="0">
              <a:buNone/>
            </a:pPr>
            <a:r>
              <a:rPr lang="en-US" sz="8800" b="1" dirty="0">
                <a:solidFill>
                  <a:schemeClr val="accent2"/>
                </a:solidFill>
                <a:latin typeface="Cambria" pitchFamily="34" charset="0"/>
                <a:ea typeface="Cambria" pitchFamily="34" charset="-122"/>
                <a:cs typeface="Cambria" pitchFamily="34" charset="-120"/>
              </a:rPr>
              <a:t>1</a:t>
            </a:r>
            <a:endParaRPr lang="en-US" sz="8800" dirty="0"/>
          </a:p>
        </p:txBody>
      </p:sp>
      <p:sp>
        <p:nvSpPr>
          <p:cNvPr id="28" name="Stat one label"/>
          <p:cNvSpPr txBox="1"/>
          <p:nvPr/>
        </p:nvSpPr>
        <p:spPr>
          <a:xfrm>
            <a:off x="6949440" y="2423160"/>
            <a:ext cx="1737360" cy="502920"/>
          </a:xfrm>
          <a:prstGeom prst="rect">
            <a:avLst/>
          </a:prstGeom>
          <a:noFill/>
          <a:ln/>
        </p:spPr>
        <p:txBody>
          <a:bodyPr wrap="square" lIns="0" tIns="0" rIns="0" bIns="0" rtlCol="0" anchor="ctr"/>
          <a:lstStyle/>
          <a:p>
            <a:pPr marL="0" indent="0">
              <a:buNone/>
            </a:pPr>
            <a:r>
              <a:rPr lang="en-US" sz="1600" b="1" dirty="0">
                <a:solidFill>
                  <a:schemeClr val="tx1"/>
                </a:solidFill>
              </a:rPr>
              <a:t>detail actually needed</a:t>
            </a:r>
            <a:endParaRPr lang="en-US" sz="1600" dirty="0"/>
          </a:p>
        </p:txBody>
      </p:sp>
      <p:sp>
        <p:nvSpPr>
          <p:cNvPr id="29" name="Result card"/>
          <p:cNvSpPr/>
          <p:nvPr/>
        </p:nvSpPr>
        <p:spPr>
          <a:xfrm>
            <a:off x="5029200" y="3246120"/>
            <a:ext cx="3657600" cy="1234440"/>
          </a:xfrm>
          <a:prstGeom prst="roundRect">
            <a:avLst>
              <a:gd name="adj" fmla="val 8889"/>
            </a:avLst>
          </a:prstGeom>
          <a:solidFill>
            <a:schemeClr val="accent4">
              <a:alpha val="15000"/>
            </a:schemeClr>
          </a:solidFill>
          <a:ln w="12700">
            <a:solidFill>
              <a:schemeClr val="accent4"/>
            </a:solidFill>
            <a:prstDash val="solid"/>
          </a:ln>
        </p:spPr>
      </p:sp>
      <p:sp>
        <p:nvSpPr>
          <p:cNvPr id="30" name="Result text"/>
          <p:cNvSpPr txBox="1"/>
          <p:nvPr/>
        </p:nvSpPr>
        <p:spPr>
          <a:xfrm>
            <a:off x="5257800" y="3337560"/>
            <a:ext cx="3200400" cy="1051560"/>
          </a:xfrm>
          <a:prstGeom prst="rect">
            <a:avLst/>
          </a:prstGeom>
          <a:noFill/>
          <a:ln/>
        </p:spPr>
        <p:txBody>
          <a:bodyPr wrap="square" lIns="0" tIns="0" rIns="0" bIns="0" rtlCol="0" anchor="ctr"/>
          <a:lstStyle/>
          <a:p>
            <a:pPr marL="0" indent="0">
              <a:buNone/>
            </a:pPr>
            <a:r>
              <a:rPr lang="en-US" sz="1800" b="1" dirty="0">
                <a:solidFill>
                  <a:schemeClr val="tx1"/>
                </a:solidFill>
              </a:rPr>
              <a:t>The result: </a:t>
            </a:r>
            <a:r>
              <a:rPr lang="en-US" sz="1800" dirty="0">
                <a:solidFill>
                  <a:schemeClr val="tx1"/>
                </a:solidFill>
              </a:rPr>
              <a:t>giant data honeypots, breaches and identity theft.</a:t>
            </a:r>
            <a:endParaRPr lang="en-US" sz="1800" dirty="0"/>
          </a:p>
        </p:txBody>
      </p:sp>
      <p:sp>
        <p:nvSpPr>
          <p:cNvPr id="31"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600" b="1" dirty="0">
                <a:solidFill>
                  <a:schemeClr val="tx1"/>
                </a:solidFill>
              </a:rPr>
              <a:t>Prove Only What's Needed</a:t>
            </a:r>
            <a:endParaRPr lang="en-US" sz="3600" dirty="0"/>
          </a:p>
        </p:txBody>
      </p:sp>
      <p:sp>
        <p:nvSpPr>
          <p:cNvPr id="3" name="Column card 1"/>
          <p:cNvSpPr/>
          <p:nvPr/>
        </p:nvSpPr>
        <p:spPr>
          <a:xfrm>
            <a:off x="457200" y="1280160"/>
            <a:ext cx="3931920" cy="3246120"/>
          </a:xfrm>
          <a:prstGeom prst="roundRect">
            <a:avLst>
              <a:gd name="adj" fmla="val 3380"/>
            </a:avLst>
          </a:prstGeom>
          <a:solidFill>
            <a:schemeClr val="bg2"/>
          </a:solidFill>
          <a:ln w="12700">
            <a:solidFill>
              <a:schemeClr val="bg2"/>
            </a:solidFill>
            <a:prstDash val="solid"/>
          </a:ln>
        </p:spPr>
      </p:sp>
      <p:sp>
        <p:nvSpPr>
          <p:cNvPr id="4" name="Column header 1"/>
          <p:cNvSpPr/>
          <p:nvPr/>
        </p:nvSpPr>
        <p:spPr>
          <a:xfrm>
            <a:off x="640080" y="1417320"/>
            <a:ext cx="3566160" cy="457200"/>
          </a:xfrm>
          <a:prstGeom prst="roundRect">
            <a:avLst>
              <a:gd name="adj" fmla="val 50000"/>
            </a:avLst>
          </a:prstGeom>
          <a:solidFill>
            <a:schemeClr val="accent4"/>
          </a:solidFill>
          <a:ln w="12700">
            <a:solidFill>
              <a:schemeClr val="accent4"/>
            </a:solidFill>
            <a:prstDash val="solid"/>
          </a:ln>
        </p:spPr>
      </p:sp>
      <p:sp>
        <p:nvSpPr>
          <p:cNvPr id="5" name="Column header text 1"/>
          <p:cNvSpPr txBox="1"/>
          <p:nvPr/>
        </p:nvSpPr>
        <p:spPr>
          <a:xfrm>
            <a:off x="640080" y="1417320"/>
            <a:ext cx="3566160" cy="457200"/>
          </a:xfrm>
          <a:prstGeom prst="rect">
            <a:avLst/>
          </a:prstGeom>
          <a:noFill/>
          <a:ln/>
        </p:spPr>
        <p:txBody>
          <a:bodyPr wrap="square" lIns="0" tIns="0" rIns="0" bIns="0" rtlCol="0" anchor="ctr"/>
          <a:lstStyle/>
          <a:p>
            <a:pPr marL="0" indent="0" algn="ctr">
              <a:buNone/>
            </a:pPr>
            <a:r>
              <a:rPr lang="en-US" sz="1800" b="1" dirty="0">
                <a:solidFill>
                  <a:schemeClr val="bg1"/>
                </a:solidFill>
              </a:rPr>
              <a:t>Traditional KYC</a:t>
            </a:r>
            <a:endParaRPr lang="en-US" sz="1800" dirty="0"/>
          </a:p>
        </p:txBody>
      </p:sp>
      <p:pic>
        <p:nvPicPr>
          <p:cNvPr id="6" name="Row icon 1-1" descr="FaTimes"/>
          <p:cNvPicPr>
            <a:picLocks noChangeAspect="1"/>
          </p:cNvPicPr>
          <p:nvPr/>
        </p:nvPicPr>
        <p:blipFill>
          <a:blip r:embed="rId3"/>
          <a:stretch>
            <a:fillRect/>
          </a:stretch>
        </p:blipFill>
        <p:spPr>
          <a:xfrm>
            <a:off x="685800" y="2194560"/>
            <a:ext cx="256032" cy="256032"/>
          </a:xfrm>
          <a:prstGeom prst="rect">
            <a:avLst/>
          </a:prstGeom>
        </p:spPr>
      </p:pic>
      <p:sp>
        <p:nvSpPr>
          <p:cNvPr id="7" name="Row text 1-1"/>
          <p:cNvSpPr txBox="1"/>
          <p:nvPr/>
        </p:nvSpPr>
        <p:spPr>
          <a:xfrm>
            <a:off x="1097280" y="2103120"/>
            <a:ext cx="3154680" cy="438912"/>
          </a:xfrm>
          <a:prstGeom prst="rect">
            <a:avLst/>
          </a:prstGeom>
          <a:noFill/>
          <a:ln/>
        </p:spPr>
        <p:txBody>
          <a:bodyPr wrap="square" lIns="0" tIns="0" rIns="0" bIns="0" rtlCol="0" anchor="ctr"/>
          <a:lstStyle/>
          <a:p>
            <a:pPr marL="0" indent="0">
              <a:buNone/>
            </a:pPr>
            <a:r>
              <a:rPr lang="en-US" sz="1500" dirty="0">
                <a:solidFill>
                  <a:schemeClr val="tx1"/>
                </a:solidFill>
              </a:rPr>
              <a:t>Sends full ID scans</a:t>
            </a:r>
            <a:endParaRPr lang="en-US" sz="1500" dirty="0"/>
          </a:p>
        </p:txBody>
      </p:sp>
      <p:pic>
        <p:nvPicPr>
          <p:cNvPr id="8" name="Row icon 1-2" descr="FaTimes"/>
          <p:cNvPicPr>
            <a:picLocks noChangeAspect="1"/>
          </p:cNvPicPr>
          <p:nvPr/>
        </p:nvPicPr>
        <p:blipFill>
          <a:blip r:embed="rId3"/>
          <a:stretch>
            <a:fillRect/>
          </a:stretch>
        </p:blipFill>
        <p:spPr>
          <a:xfrm>
            <a:off x="685800" y="2779776"/>
            <a:ext cx="256032" cy="256032"/>
          </a:xfrm>
          <a:prstGeom prst="rect">
            <a:avLst/>
          </a:prstGeom>
        </p:spPr>
      </p:pic>
      <p:sp>
        <p:nvSpPr>
          <p:cNvPr id="9" name="Row text 1-2"/>
          <p:cNvSpPr txBox="1"/>
          <p:nvPr/>
        </p:nvSpPr>
        <p:spPr>
          <a:xfrm>
            <a:off x="1097280" y="2688336"/>
            <a:ext cx="3154680" cy="438912"/>
          </a:xfrm>
          <a:prstGeom prst="rect">
            <a:avLst/>
          </a:prstGeom>
          <a:noFill/>
          <a:ln/>
        </p:spPr>
        <p:txBody>
          <a:bodyPr wrap="square" lIns="0" tIns="0" rIns="0" bIns="0" rtlCol="0" anchor="ctr"/>
          <a:lstStyle/>
          <a:p>
            <a:pPr marL="0" indent="0">
              <a:buNone/>
            </a:pPr>
            <a:r>
              <a:rPr lang="en-US" sz="1500" dirty="0">
                <a:solidFill>
                  <a:schemeClr val="tx1"/>
                </a:solidFill>
              </a:rPr>
              <a:t>Verifier sees DOB, ID, address</a:t>
            </a:r>
            <a:endParaRPr lang="en-US" sz="1500" dirty="0"/>
          </a:p>
        </p:txBody>
      </p:sp>
      <p:pic>
        <p:nvPicPr>
          <p:cNvPr id="10" name="Row icon 1-3" descr="FaTimes"/>
          <p:cNvPicPr>
            <a:picLocks noChangeAspect="1"/>
          </p:cNvPicPr>
          <p:nvPr/>
        </p:nvPicPr>
        <p:blipFill>
          <a:blip r:embed="rId3"/>
          <a:stretch>
            <a:fillRect/>
          </a:stretch>
        </p:blipFill>
        <p:spPr>
          <a:xfrm>
            <a:off x="685800" y="3364992"/>
            <a:ext cx="256032" cy="256032"/>
          </a:xfrm>
          <a:prstGeom prst="rect">
            <a:avLst/>
          </a:prstGeom>
        </p:spPr>
      </p:pic>
      <p:sp>
        <p:nvSpPr>
          <p:cNvPr id="11" name="Row text 1-3"/>
          <p:cNvSpPr txBox="1"/>
          <p:nvPr/>
        </p:nvSpPr>
        <p:spPr>
          <a:xfrm>
            <a:off x="1097280" y="3273552"/>
            <a:ext cx="3154680" cy="438912"/>
          </a:xfrm>
          <a:prstGeom prst="rect">
            <a:avLst/>
          </a:prstGeom>
          <a:noFill/>
          <a:ln/>
        </p:spPr>
        <p:txBody>
          <a:bodyPr wrap="square" lIns="0" tIns="0" rIns="0" bIns="0" rtlCol="0" anchor="ctr"/>
          <a:lstStyle/>
          <a:p>
            <a:pPr marL="0" indent="0">
              <a:buNone/>
            </a:pPr>
            <a:r>
              <a:rPr lang="en-US" sz="1500" dirty="0">
                <a:solidFill>
                  <a:schemeClr val="tx1"/>
                </a:solidFill>
              </a:rPr>
              <a:t>Face photo uploaded to cloud</a:t>
            </a:r>
            <a:endParaRPr lang="en-US" sz="1500" dirty="0"/>
          </a:p>
        </p:txBody>
      </p:sp>
      <p:pic>
        <p:nvPicPr>
          <p:cNvPr id="12" name="Row icon 1-4" descr="FaTimes"/>
          <p:cNvPicPr>
            <a:picLocks noChangeAspect="1"/>
          </p:cNvPicPr>
          <p:nvPr/>
        </p:nvPicPr>
        <p:blipFill>
          <a:blip r:embed="rId3"/>
          <a:stretch>
            <a:fillRect/>
          </a:stretch>
        </p:blipFill>
        <p:spPr>
          <a:xfrm>
            <a:off x="685800" y="3950208"/>
            <a:ext cx="256032" cy="256032"/>
          </a:xfrm>
          <a:prstGeom prst="rect">
            <a:avLst/>
          </a:prstGeom>
        </p:spPr>
      </p:pic>
      <p:sp>
        <p:nvSpPr>
          <p:cNvPr id="13" name="Row text 1-4"/>
          <p:cNvSpPr txBox="1"/>
          <p:nvPr/>
        </p:nvSpPr>
        <p:spPr>
          <a:xfrm>
            <a:off x="1097280" y="3858768"/>
            <a:ext cx="3154680" cy="438912"/>
          </a:xfrm>
          <a:prstGeom prst="rect">
            <a:avLst/>
          </a:prstGeom>
          <a:noFill/>
          <a:ln/>
        </p:spPr>
        <p:txBody>
          <a:bodyPr wrap="square" lIns="0" tIns="0" rIns="0" bIns="0" rtlCol="0" anchor="ctr"/>
          <a:lstStyle/>
          <a:p>
            <a:pPr marL="0" indent="0">
              <a:buNone/>
            </a:pPr>
            <a:r>
              <a:rPr lang="en-US" sz="1500" dirty="0">
                <a:solidFill>
                  <a:schemeClr val="tx1"/>
                </a:solidFill>
              </a:rPr>
              <a:t>Proof can be copied and reused</a:t>
            </a:r>
            <a:endParaRPr lang="en-US" sz="1500" dirty="0"/>
          </a:p>
        </p:txBody>
      </p:sp>
      <p:sp>
        <p:nvSpPr>
          <p:cNvPr id="14" name="Column card 2"/>
          <p:cNvSpPr/>
          <p:nvPr/>
        </p:nvSpPr>
        <p:spPr>
          <a:xfrm>
            <a:off x="4754880" y="1280160"/>
            <a:ext cx="3931920" cy="3246120"/>
          </a:xfrm>
          <a:prstGeom prst="roundRect">
            <a:avLst>
              <a:gd name="adj" fmla="val 3380"/>
            </a:avLst>
          </a:prstGeom>
          <a:solidFill>
            <a:schemeClr val="accent1">
              <a:alpha val="15000"/>
            </a:schemeClr>
          </a:solidFill>
          <a:ln w="12700">
            <a:solidFill>
              <a:schemeClr val="accent1"/>
            </a:solidFill>
            <a:prstDash val="solid"/>
          </a:ln>
        </p:spPr>
      </p:sp>
      <p:sp>
        <p:nvSpPr>
          <p:cNvPr id="15" name="Column header 2"/>
          <p:cNvSpPr/>
          <p:nvPr/>
        </p:nvSpPr>
        <p:spPr>
          <a:xfrm>
            <a:off x="4937760" y="1417320"/>
            <a:ext cx="3566160" cy="457200"/>
          </a:xfrm>
          <a:prstGeom prst="roundRect">
            <a:avLst>
              <a:gd name="adj" fmla="val 50000"/>
            </a:avLst>
          </a:prstGeom>
          <a:solidFill>
            <a:schemeClr val="accent1"/>
          </a:solidFill>
          <a:ln w="12700">
            <a:solidFill>
              <a:schemeClr val="accent1"/>
            </a:solidFill>
            <a:prstDash val="solid"/>
          </a:ln>
        </p:spPr>
      </p:sp>
      <p:sp>
        <p:nvSpPr>
          <p:cNvPr id="16" name="Column header text 2"/>
          <p:cNvSpPr txBox="1"/>
          <p:nvPr/>
        </p:nvSpPr>
        <p:spPr>
          <a:xfrm>
            <a:off x="4937760" y="1417320"/>
            <a:ext cx="3566160" cy="457200"/>
          </a:xfrm>
          <a:prstGeom prst="rect">
            <a:avLst/>
          </a:prstGeom>
          <a:noFill/>
          <a:ln/>
        </p:spPr>
        <p:txBody>
          <a:bodyPr wrap="square" lIns="0" tIns="0" rIns="0" bIns="0" rtlCol="0" anchor="ctr"/>
          <a:lstStyle/>
          <a:p>
            <a:pPr marL="0" indent="0" algn="ctr">
              <a:buNone/>
            </a:pPr>
            <a:r>
              <a:rPr lang="en-US" sz="1800" b="1" dirty="0">
                <a:solidFill>
                  <a:schemeClr val="tx1"/>
                </a:solidFill>
              </a:rPr>
              <a:t>Our ZK eKYC</a:t>
            </a:r>
            <a:endParaRPr lang="en-US" sz="1800" dirty="0"/>
          </a:p>
        </p:txBody>
      </p:sp>
      <p:pic>
        <p:nvPicPr>
          <p:cNvPr id="17" name="Row icon 2-1" descr="FaCheck"/>
          <p:cNvPicPr>
            <a:picLocks noChangeAspect="1"/>
          </p:cNvPicPr>
          <p:nvPr/>
        </p:nvPicPr>
        <p:blipFill>
          <a:blip r:embed="rId4"/>
          <a:stretch>
            <a:fillRect/>
          </a:stretch>
        </p:blipFill>
        <p:spPr>
          <a:xfrm>
            <a:off x="4983480" y="2194560"/>
            <a:ext cx="256032" cy="256032"/>
          </a:xfrm>
          <a:prstGeom prst="rect">
            <a:avLst/>
          </a:prstGeom>
        </p:spPr>
      </p:pic>
      <p:sp>
        <p:nvSpPr>
          <p:cNvPr id="18" name="Row text 2-1"/>
          <p:cNvSpPr txBox="1"/>
          <p:nvPr/>
        </p:nvSpPr>
        <p:spPr>
          <a:xfrm>
            <a:off x="5394960" y="2103120"/>
            <a:ext cx="3154680" cy="438912"/>
          </a:xfrm>
          <a:prstGeom prst="rect">
            <a:avLst/>
          </a:prstGeom>
          <a:noFill/>
          <a:ln/>
        </p:spPr>
        <p:txBody>
          <a:bodyPr wrap="square" lIns="0" tIns="0" rIns="0" bIns="0" rtlCol="0" anchor="ctr"/>
          <a:lstStyle/>
          <a:p>
            <a:pPr marL="0" indent="0">
              <a:buNone/>
            </a:pPr>
            <a:r>
              <a:rPr lang="en-US" sz="1500" dirty="0">
                <a:solidFill>
                  <a:schemeClr val="tx1"/>
                </a:solidFill>
              </a:rPr>
              <a:t>Sends one ~800-byte proof</a:t>
            </a:r>
            <a:endParaRPr lang="en-US" sz="1500" dirty="0"/>
          </a:p>
        </p:txBody>
      </p:sp>
      <p:pic>
        <p:nvPicPr>
          <p:cNvPr id="19" name="Row icon 2-2" descr="FaCheck"/>
          <p:cNvPicPr>
            <a:picLocks noChangeAspect="1"/>
          </p:cNvPicPr>
          <p:nvPr/>
        </p:nvPicPr>
        <p:blipFill>
          <a:blip r:embed="rId4"/>
          <a:stretch>
            <a:fillRect/>
          </a:stretch>
        </p:blipFill>
        <p:spPr>
          <a:xfrm>
            <a:off x="4983480" y="2779776"/>
            <a:ext cx="256032" cy="256032"/>
          </a:xfrm>
          <a:prstGeom prst="rect">
            <a:avLst/>
          </a:prstGeom>
        </p:spPr>
      </p:pic>
      <p:sp>
        <p:nvSpPr>
          <p:cNvPr id="20" name="Row text 2-2"/>
          <p:cNvSpPr txBox="1"/>
          <p:nvPr/>
        </p:nvSpPr>
        <p:spPr>
          <a:xfrm>
            <a:off x="5394960" y="2688336"/>
            <a:ext cx="3154680" cy="438912"/>
          </a:xfrm>
          <a:prstGeom prst="rect">
            <a:avLst/>
          </a:prstGeom>
          <a:noFill/>
          <a:ln/>
        </p:spPr>
        <p:txBody>
          <a:bodyPr wrap="square" lIns="0" tIns="0" rIns="0" bIns="0" rtlCol="0" anchor="ctr"/>
          <a:lstStyle/>
          <a:p>
            <a:pPr marL="0" indent="0">
              <a:buNone/>
            </a:pPr>
            <a:r>
              <a:rPr lang="en-US" sz="1500" dirty="0">
                <a:solidFill>
                  <a:schemeClr val="tx1"/>
                </a:solidFill>
              </a:rPr>
              <a:t>Verifier sees only "18+ verified"</a:t>
            </a:r>
            <a:endParaRPr lang="en-US" sz="1500" dirty="0"/>
          </a:p>
        </p:txBody>
      </p:sp>
      <p:pic>
        <p:nvPicPr>
          <p:cNvPr id="21" name="Row icon 2-3" descr="FaCheck"/>
          <p:cNvPicPr>
            <a:picLocks noChangeAspect="1"/>
          </p:cNvPicPr>
          <p:nvPr/>
        </p:nvPicPr>
        <p:blipFill>
          <a:blip r:embed="rId4"/>
          <a:stretch>
            <a:fillRect/>
          </a:stretch>
        </p:blipFill>
        <p:spPr>
          <a:xfrm>
            <a:off x="4983480" y="3364992"/>
            <a:ext cx="256032" cy="256032"/>
          </a:xfrm>
          <a:prstGeom prst="rect">
            <a:avLst/>
          </a:prstGeom>
        </p:spPr>
      </p:pic>
      <p:sp>
        <p:nvSpPr>
          <p:cNvPr id="22" name="Row text 2-3"/>
          <p:cNvSpPr txBox="1"/>
          <p:nvPr/>
        </p:nvSpPr>
        <p:spPr>
          <a:xfrm>
            <a:off x="5394960" y="3273552"/>
            <a:ext cx="3154680" cy="438912"/>
          </a:xfrm>
          <a:prstGeom prst="rect">
            <a:avLst/>
          </a:prstGeom>
          <a:noFill/>
          <a:ln/>
        </p:spPr>
        <p:txBody>
          <a:bodyPr wrap="square" lIns="0" tIns="0" rIns="0" bIns="0" rtlCol="0" anchor="ctr"/>
          <a:lstStyle/>
          <a:p>
            <a:pPr marL="0" indent="0">
              <a:buNone/>
            </a:pPr>
            <a:r>
              <a:rPr lang="en-US" sz="1500" dirty="0">
                <a:solidFill>
                  <a:schemeClr val="tx1"/>
                </a:solidFill>
              </a:rPr>
              <a:t>Face match stays on your device</a:t>
            </a:r>
            <a:endParaRPr lang="en-US" sz="1500" dirty="0"/>
          </a:p>
        </p:txBody>
      </p:sp>
      <p:pic>
        <p:nvPicPr>
          <p:cNvPr id="23" name="Row icon 2-4" descr="FaCheck"/>
          <p:cNvPicPr>
            <a:picLocks noChangeAspect="1"/>
          </p:cNvPicPr>
          <p:nvPr/>
        </p:nvPicPr>
        <p:blipFill>
          <a:blip r:embed="rId4"/>
          <a:stretch>
            <a:fillRect/>
          </a:stretch>
        </p:blipFill>
        <p:spPr>
          <a:xfrm>
            <a:off x="4983480" y="3950208"/>
            <a:ext cx="256032" cy="256032"/>
          </a:xfrm>
          <a:prstGeom prst="rect">
            <a:avLst/>
          </a:prstGeom>
        </p:spPr>
      </p:pic>
      <p:sp>
        <p:nvSpPr>
          <p:cNvPr id="24" name="Row text 2-4"/>
          <p:cNvSpPr txBox="1"/>
          <p:nvPr/>
        </p:nvSpPr>
        <p:spPr>
          <a:xfrm>
            <a:off x="5394960" y="3858768"/>
            <a:ext cx="3154680" cy="438912"/>
          </a:xfrm>
          <a:prstGeom prst="rect">
            <a:avLst/>
          </a:prstGeom>
          <a:noFill/>
          <a:ln/>
        </p:spPr>
        <p:txBody>
          <a:bodyPr wrap="square" lIns="0" tIns="0" rIns="0" bIns="0" rtlCol="0" anchor="ctr"/>
          <a:lstStyle/>
          <a:p>
            <a:pPr marL="0" indent="0">
              <a:buNone/>
            </a:pPr>
            <a:r>
              <a:rPr lang="en-US" sz="1500" dirty="0">
                <a:solidFill>
                  <a:schemeClr val="tx1"/>
                </a:solidFill>
              </a:rPr>
              <a:t>One-time nullifier stops reuse</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600" b="1" dirty="0">
                <a:solidFill>
                  <a:schemeClr val="tx1"/>
                </a:solidFill>
              </a:rPr>
              <a:t>Three Ideas in 60 Seconds</a:t>
            </a:r>
            <a:endParaRPr lang="en-US" sz="3600" dirty="0"/>
          </a:p>
        </p:txBody>
      </p:sp>
      <p:sp>
        <p:nvSpPr>
          <p:cNvPr id="3" name="Concept card 1"/>
          <p:cNvSpPr/>
          <p:nvPr/>
        </p:nvSpPr>
        <p:spPr>
          <a:xfrm>
            <a:off x="457200" y="1280160"/>
            <a:ext cx="2606040" cy="3200400"/>
          </a:xfrm>
          <a:prstGeom prst="roundRect">
            <a:avLst>
              <a:gd name="adj" fmla="val 4211"/>
            </a:avLst>
          </a:prstGeom>
          <a:solidFill>
            <a:schemeClr val="bg2"/>
          </a:solidFill>
          <a:ln w="12700">
            <a:solidFill>
              <a:schemeClr val="bg2"/>
            </a:solidFill>
            <a:prstDash val="solid"/>
          </a:ln>
        </p:spPr>
      </p:sp>
      <p:sp>
        <p:nvSpPr>
          <p:cNvPr id="4" name="Concept icon circle 1"/>
          <p:cNvSpPr/>
          <p:nvPr/>
        </p:nvSpPr>
        <p:spPr>
          <a:xfrm>
            <a:off x="731520" y="1554480"/>
            <a:ext cx="822960" cy="822960"/>
          </a:xfrm>
          <a:prstGeom prst="ellipse">
            <a:avLst/>
          </a:prstGeom>
          <a:solidFill>
            <a:schemeClr val="accent2"/>
          </a:solidFill>
          <a:ln w="12700">
            <a:solidFill>
              <a:schemeClr val="accent2"/>
            </a:solidFill>
            <a:prstDash val="solid"/>
          </a:ln>
        </p:spPr>
      </p:sp>
      <p:pic>
        <p:nvPicPr>
          <p:cNvPr id="5" name="Icon FaUserSecret" descr="FaUserSecret"/>
          <p:cNvPicPr>
            <a:picLocks noChangeAspect="1"/>
          </p:cNvPicPr>
          <p:nvPr/>
        </p:nvPicPr>
        <p:blipFill>
          <a:blip r:embed="rId3"/>
          <a:stretch>
            <a:fillRect/>
          </a:stretch>
        </p:blipFill>
        <p:spPr>
          <a:xfrm>
            <a:off x="953719" y="1776679"/>
            <a:ext cx="378562" cy="378562"/>
          </a:xfrm>
          <a:prstGeom prst="rect">
            <a:avLst/>
          </a:prstGeom>
        </p:spPr>
      </p:pic>
      <p:sp>
        <p:nvSpPr>
          <p:cNvPr id="6" name="Concept title 1"/>
          <p:cNvSpPr txBox="1"/>
          <p:nvPr/>
        </p:nvSpPr>
        <p:spPr>
          <a:xfrm>
            <a:off x="731520" y="2560320"/>
            <a:ext cx="2103120" cy="365760"/>
          </a:xfrm>
          <a:prstGeom prst="rect">
            <a:avLst/>
          </a:prstGeom>
          <a:noFill/>
          <a:ln/>
        </p:spPr>
        <p:txBody>
          <a:bodyPr wrap="square" lIns="0" tIns="0" rIns="0" bIns="0" rtlCol="0" anchor="ctr"/>
          <a:lstStyle/>
          <a:p>
            <a:pPr marL="0" indent="0">
              <a:buNone/>
            </a:pPr>
            <a:r>
              <a:rPr lang="en-US" sz="1900" b="1" dirty="0">
                <a:solidFill>
                  <a:schemeClr val="tx1"/>
                </a:solidFill>
                <a:latin typeface="Cambria" pitchFamily="34" charset="0"/>
                <a:ea typeface="Cambria" pitchFamily="34" charset="-122"/>
                <a:cs typeface="Cambria" pitchFamily="34" charset="-120"/>
              </a:rPr>
              <a:t>ZK Proof</a:t>
            </a:r>
            <a:endParaRPr lang="en-US" sz="1900" dirty="0"/>
          </a:p>
        </p:txBody>
      </p:sp>
      <p:sp>
        <p:nvSpPr>
          <p:cNvPr id="7" name="Concept text 1"/>
          <p:cNvSpPr txBox="1"/>
          <p:nvPr/>
        </p:nvSpPr>
        <p:spPr>
          <a:xfrm>
            <a:off x="731520" y="3017520"/>
            <a:ext cx="2103120" cy="1280160"/>
          </a:xfrm>
          <a:prstGeom prst="rect">
            <a:avLst/>
          </a:prstGeom>
          <a:noFill/>
          <a:ln/>
        </p:spPr>
        <p:txBody>
          <a:bodyPr wrap="square" lIns="0" tIns="0" rIns="0" bIns="0" rtlCol="0" anchor="t"/>
          <a:lstStyle/>
          <a:p>
            <a:pPr marL="0" indent="0">
              <a:buNone/>
            </a:pPr>
            <a:r>
              <a:rPr lang="en-US" sz="1500" dirty="0">
                <a:solidFill>
                  <a:schemeClr val="tx2"/>
                </a:solidFill>
              </a:rPr>
              <a:t>Prove you know the password to a secret room without ever saying it.</a:t>
            </a:r>
            <a:endParaRPr lang="en-US" sz="1500" dirty="0"/>
          </a:p>
        </p:txBody>
      </p:sp>
      <p:sp>
        <p:nvSpPr>
          <p:cNvPr id="8" name="Concept card 2"/>
          <p:cNvSpPr/>
          <p:nvPr/>
        </p:nvSpPr>
        <p:spPr>
          <a:xfrm>
            <a:off x="3268980" y="1280160"/>
            <a:ext cx="2606040" cy="3200400"/>
          </a:xfrm>
          <a:prstGeom prst="roundRect">
            <a:avLst>
              <a:gd name="adj" fmla="val 4211"/>
            </a:avLst>
          </a:prstGeom>
          <a:solidFill>
            <a:schemeClr val="bg2"/>
          </a:solidFill>
          <a:ln w="12700">
            <a:solidFill>
              <a:schemeClr val="bg2"/>
            </a:solidFill>
            <a:prstDash val="solid"/>
          </a:ln>
        </p:spPr>
      </p:sp>
      <p:sp>
        <p:nvSpPr>
          <p:cNvPr id="9" name="Concept icon circle 2"/>
          <p:cNvSpPr/>
          <p:nvPr/>
        </p:nvSpPr>
        <p:spPr>
          <a:xfrm>
            <a:off x="3543300" y="1554480"/>
            <a:ext cx="822960" cy="822960"/>
          </a:xfrm>
          <a:prstGeom prst="ellipse">
            <a:avLst/>
          </a:prstGeom>
          <a:solidFill>
            <a:schemeClr val="accent5"/>
          </a:solidFill>
          <a:ln w="12700">
            <a:solidFill>
              <a:schemeClr val="accent5"/>
            </a:solidFill>
            <a:prstDash val="solid"/>
          </a:ln>
        </p:spPr>
      </p:sp>
      <p:pic>
        <p:nvPicPr>
          <p:cNvPr id="10" name="Icon FaProjectDiagram" descr="FaProjectDiagram"/>
          <p:cNvPicPr>
            <a:picLocks noChangeAspect="1"/>
          </p:cNvPicPr>
          <p:nvPr/>
        </p:nvPicPr>
        <p:blipFill>
          <a:blip r:embed="rId4"/>
          <a:stretch>
            <a:fillRect/>
          </a:stretch>
        </p:blipFill>
        <p:spPr>
          <a:xfrm>
            <a:off x="3765499" y="1776679"/>
            <a:ext cx="378562" cy="378562"/>
          </a:xfrm>
          <a:prstGeom prst="rect">
            <a:avLst/>
          </a:prstGeom>
        </p:spPr>
      </p:pic>
      <p:sp>
        <p:nvSpPr>
          <p:cNvPr id="11" name="Concept title 2"/>
          <p:cNvSpPr txBox="1"/>
          <p:nvPr/>
        </p:nvSpPr>
        <p:spPr>
          <a:xfrm>
            <a:off x="3543300" y="2560320"/>
            <a:ext cx="2103120" cy="365760"/>
          </a:xfrm>
          <a:prstGeom prst="rect">
            <a:avLst/>
          </a:prstGeom>
          <a:noFill/>
          <a:ln/>
        </p:spPr>
        <p:txBody>
          <a:bodyPr wrap="square" lIns="0" tIns="0" rIns="0" bIns="0" rtlCol="0" anchor="ctr"/>
          <a:lstStyle/>
          <a:p>
            <a:pPr marL="0" indent="0">
              <a:buNone/>
            </a:pPr>
            <a:r>
              <a:rPr lang="en-US" sz="1900" b="1" dirty="0">
                <a:solidFill>
                  <a:schemeClr val="tx1"/>
                </a:solidFill>
                <a:latin typeface="Cambria" pitchFamily="34" charset="0"/>
                <a:ea typeface="Cambria" pitchFamily="34" charset="-122"/>
                <a:cs typeface="Cambria" pitchFamily="34" charset="-120"/>
              </a:rPr>
              <a:t>Merkle Tree</a:t>
            </a:r>
            <a:endParaRPr lang="en-US" sz="1900" dirty="0"/>
          </a:p>
        </p:txBody>
      </p:sp>
      <p:sp>
        <p:nvSpPr>
          <p:cNvPr id="12" name="Concept text 2"/>
          <p:cNvSpPr txBox="1"/>
          <p:nvPr/>
        </p:nvSpPr>
        <p:spPr>
          <a:xfrm>
            <a:off x="3543300" y="3017520"/>
            <a:ext cx="2103120" cy="1280160"/>
          </a:xfrm>
          <a:prstGeom prst="rect">
            <a:avLst/>
          </a:prstGeom>
          <a:noFill/>
          <a:ln/>
        </p:spPr>
        <p:txBody>
          <a:bodyPr wrap="square" lIns="0" tIns="0" rIns="0" bIns="0" rtlCol="0" anchor="t"/>
          <a:lstStyle/>
          <a:p>
            <a:pPr marL="0" indent="0">
              <a:buNone/>
            </a:pPr>
            <a:r>
              <a:rPr lang="en-US" sz="1500" dirty="0">
                <a:solidFill>
                  <a:schemeClr val="tx2"/>
                </a:solidFill>
              </a:rPr>
              <a:t>Details sealed in separate locked boxes under one stamp. Open only what's needed.</a:t>
            </a:r>
            <a:endParaRPr lang="en-US" sz="1500" dirty="0"/>
          </a:p>
        </p:txBody>
      </p:sp>
      <p:sp>
        <p:nvSpPr>
          <p:cNvPr id="13" name="Concept card 3"/>
          <p:cNvSpPr/>
          <p:nvPr/>
        </p:nvSpPr>
        <p:spPr>
          <a:xfrm>
            <a:off x="6080760" y="1280160"/>
            <a:ext cx="2606040" cy="3200400"/>
          </a:xfrm>
          <a:prstGeom prst="roundRect">
            <a:avLst>
              <a:gd name="adj" fmla="val 4211"/>
            </a:avLst>
          </a:prstGeom>
          <a:solidFill>
            <a:schemeClr val="bg2"/>
          </a:solidFill>
          <a:ln w="12700">
            <a:solidFill>
              <a:schemeClr val="bg2"/>
            </a:solidFill>
            <a:prstDash val="solid"/>
          </a:ln>
        </p:spPr>
      </p:sp>
      <p:sp>
        <p:nvSpPr>
          <p:cNvPr id="14" name="Concept icon circle 3"/>
          <p:cNvSpPr/>
          <p:nvPr/>
        </p:nvSpPr>
        <p:spPr>
          <a:xfrm>
            <a:off x="6355080" y="1554480"/>
            <a:ext cx="822960" cy="822960"/>
          </a:xfrm>
          <a:prstGeom prst="ellipse">
            <a:avLst/>
          </a:prstGeom>
          <a:solidFill>
            <a:schemeClr val="accent3"/>
          </a:solidFill>
          <a:ln w="12700">
            <a:solidFill>
              <a:schemeClr val="accent3"/>
            </a:solidFill>
            <a:prstDash val="solid"/>
          </a:ln>
        </p:spPr>
      </p:sp>
      <p:pic>
        <p:nvPicPr>
          <p:cNvPr id="15" name="Icon FaKey" descr="FaKey"/>
          <p:cNvPicPr>
            <a:picLocks noChangeAspect="1"/>
          </p:cNvPicPr>
          <p:nvPr/>
        </p:nvPicPr>
        <p:blipFill>
          <a:blip r:embed="rId5"/>
          <a:stretch>
            <a:fillRect/>
          </a:stretch>
        </p:blipFill>
        <p:spPr>
          <a:xfrm>
            <a:off x="6577279" y="1776679"/>
            <a:ext cx="378562" cy="378562"/>
          </a:xfrm>
          <a:prstGeom prst="rect">
            <a:avLst/>
          </a:prstGeom>
        </p:spPr>
      </p:pic>
      <p:sp>
        <p:nvSpPr>
          <p:cNvPr id="16" name="Concept title 3"/>
          <p:cNvSpPr txBox="1"/>
          <p:nvPr/>
        </p:nvSpPr>
        <p:spPr>
          <a:xfrm>
            <a:off x="6355080" y="2560320"/>
            <a:ext cx="2103120" cy="365760"/>
          </a:xfrm>
          <a:prstGeom prst="rect">
            <a:avLst/>
          </a:prstGeom>
          <a:noFill/>
          <a:ln/>
        </p:spPr>
        <p:txBody>
          <a:bodyPr wrap="square" lIns="0" tIns="0" rIns="0" bIns="0" rtlCol="0" anchor="ctr"/>
          <a:lstStyle/>
          <a:p>
            <a:pPr marL="0" indent="0">
              <a:buNone/>
            </a:pPr>
            <a:r>
              <a:rPr lang="en-US" sz="1900" b="1" dirty="0">
                <a:solidFill>
                  <a:schemeClr val="tx1"/>
                </a:solidFill>
                <a:latin typeface="Cambria" pitchFamily="34" charset="0"/>
                <a:ea typeface="Cambria" pitchFamily="34" charset="-122"/>
                <a:cs typeface="Cambria" pitchFamily="34" charset="-120"/>
              </a:rPr>
              <a:t>Nullifier</a:t>
            </a:r>
            <a:endParaRPr lang="en-US" sz="1900" dirty="0"/>
          </a:p>
        </p:txBody>
      </p:sp>
      <p:sp>
        <p:nvSpPr>
          <p:cNvPr id="17" name="Concept text 3"/>
          <p:cNvSpPr txBox="1"/>
          <p:nvPr/>
        </p:nvSpPr>
        <p:spPr>
          <a:xfrm>
            <a:off x="6355080" y="3017520"/>
            <a:ext cx="2103120" cy="1280160"/>
          </a:xfrm>
          <a:prstGeom prst="rect">
            <a:avLst/>
          </a:prstGeom>
          <a:noFill/>
          <a:ln/>
        </p:spPr>
        <p:txBody>
          <a:bodyPr wrap="square" lIns="0" tIns="0" rIns="0" bIns="0" rtlCol="0" anchor="t"/>
          <a:lstStyle/>
          <a:p>
            <a:pPr marL="0" indent="0">
              <a:buNone/>
            </a:pPr>
            <a:r>
              <a:rPr lang="en-US" sz="1500" dirty="0">
                <a:solidFill>
                  <a:schemeClr val="tx2"/>
                </a:solidFill>
              </a:rPr>
              <a:t>A one-time stamp: a proof can't be reused, and your visits can't be linked.</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600" b="1" dirty="0">
                <a:solidFill>
                  <a:schemeClr val="tx1"/>
                </a:solidFill>
              </a:rPr>
              <a:t>How It Works</a:t>
            </a:r>
            <a:endParaRPr lang="en-US" sz="3600" dirty="0"/>
          </a:p>
        </p:txBody>
      </p:sp>
      <p:sp>
        <p:nvSpPr>
          <p:cNvPr id="3" name="Actor card 1"/>
          <p:cNvSpPr/>
          <p:nvPr/>
        </p:nvSpPr>
        <p:spPr>
          <a:xfrm>
            <a:off x="457200" y="1280160"/>
            <a:ext cx="2377440" cy="2514600"/>
          </a:xfrm>
          <a:prstGeom prst="roundRect">
            <a:avLst>
              <a:gd name="adj" fmla="val 4615"/>
            </a:avLst>
          </a:prstGeom>
          <a:solidFill>
            <a:schemeClr val="bg2"/>
          </a:solidFill>
          <a:ln w="12700">
            <a:solidFill>
              <a:schemeClr val="bg2"/>
            </a:solidFill>
            <a:prstDash val="solid"/>
          </a:ln>
          <a:effectLst>
            <a:outerShdw blurRad="101600" dist="25400" dir="5400000" algn="bl" rotWithShape="0">
              <a:srgbClr val="000000">
                <a:alpha val="12000"/>
              </a:srgbClr>
            </a:outerShdw>
          </a:effectLst>
        </p:spPr>
      </p:sp>
      <p:sp>
        <p:nvSpPr>
          <p:cNvPr id="4" name="Actor icon circle 1"/>
          <p:cNvSpPr/>
          <p:nvPr/>
        </p:nvSpPr>
        <p:spPr>
          <a:xfrm>
            <a:off x="1234440" y="1417320"/>
            <a:ext cx="822960" cy="822960"/>
          </a:xfrm>
          <a:prstGeom prst="ellipse">
            <a:avLst/>
          </a:prstGeom>
          <a:solidFill>
            <a:schemeClr val="accent2"/>
          </a:solidFill>
          <a:ln w="12700">
            <a:solidFill>
              <a:schemeClr val="accent2"/>
            </a:solidFill>
            <a:prstDash val="solid"/>
          </a:ln>
        </p:spPr>
      </p:sp>
      <p:pic>
        <p:nvPicPr>
          <p:cNvPr id="5" name="Icon FaUniversity" descr="FaUniversity"/>
          <p:cNvPicPr>
            <a:picLocks noChangeAspect="1"/>
          </p:cNvPicPr>
          <p:nvPr/>
        </p:nvPicPr>
        <p:blipFill>
          <a:blip r:embed="rId3"/>
          <a:stretch>
            <a:fillRect/>
          </a:stretch>
        </p:blipFill>
        <p:spPr>
          <a:xfrm>
            <a:off x="1456639" y="1639519"/>
            <a:ext cx="378562" cy="378562"/>
          </a:xfrm>
          <a:prstGeom prst="rect">
            <a:avLst/>
          </a:prstGeom>
        </p:spPr>
      </p:pic>
      <p:sp>
        <p:nvSpPr>
          <p:cNvPr id="6" name="Actor name 1"/>
          <p:cNvSpPr txBox="1"/>
          <p:nvPr/>
        </p:nvSpPr>
        <p:spPr>
          <a:xfrm>
            <a:off x="594360" y="2331720"/>
            <a:ext cx="2103120" cy="365760"/>
          </a:xfrm>
          <a:prstGeom prst="rect">
            <a:avLst/>
          </a:prstGeom>
          <a:noFill/>
          <a:ln/>
        </p:spPr>
        <p:txBody>
          <a:bodyPr wrap="square" lIns="0" tIns="0" rIns="0" bIns="0" rtlCol="0" anchor="ctr"/>
          <a:lstStyle/>
          <a:p>
            <a:pPr marL="0" indent="0" algn="ctr">
              <a:buNone/>
            </a:pPr>
            <a:r>
              <a:rPr lang="en-US" sz="1900" b="1" dirty="0">
                <a:solidFill>
                  <a:schemeClr val="tx1"/>
                </a:solidFill>
                <a:latin typeface="Cambria" pitchFamily="34" charset="0"/>
                <a:ea typeface="Cambria" pitchFamily="34" charset="-122"/>
                <a:cs typeface="Cambria" pitchFamily="34" charset="-120"/>
              </a:rPr>
              <a:t>Issuer</a:t>
            </a:r>
            <a:endParaRPr lang="en-US" sz="1900" dirty="0"/>
          </a:p>
        </p:txBody>
      </p:sp>
      <p:sp>
        <p:nvSpPr>
          <p:cNvPr id="7" name="Actor text 1"/>
          <p:cNvSpPr txBox="1"/>
          <p:nvPr/>
        </p:nvSpPr>
        <p:spPr>
          <a:xfrm>
            <a:off x="640080" y="2697480"/>
            <a:ext cx="2011680" cy="640080"/>
          </a:xfrm>
          <a:prstGeom prst="rect">
            <a:avLst/>
          </a:prstGeom>
          <a:noFill/>
          <a:ln/>
        </p:spPr>
        <p:txBody>
          <a:bodyPr wrap="square" lIns="0" tIns="0" rIns="0" bIns="0" rtlCol="0" anchor="t"/>
          <a:lstStyle/>
          <a:p>
            <a:pPr marL="0" indent="0" algn="ctr">
              <a:buNone/>
            </a:pPr>
            <a:r>
              <a:rPr lang="en-US" sz="1400" dirty="0">
                <a:solidFill>
                  <a:schemeClr val="tx2"/>
                </a:solidFill>
              </a:rPr>
              <a:t>Government or university. Checks your ID and signs it.</a:t>
            </a:r>
            <a:endParaRPr lang="en-US" sz="1400" dirty="0"/>
          </a:p>
        </p:txBody>
      </p:sp>
      <p:sp>
        <p:nvSpPr>
          <p:cNvPr id="8" name="Step pill 1"/>
          <p:cNvSpPr/>
          <p:nvPr/>
        </p:nvSpPr>
        <p:spPr>
          <a:xfrm>
            <a:off x="640080" y="3383280"/>
            <a:ext cx="2011680" cy="292608"/>
          </a:xfrm>
          <a:prstGeom prst="roundRect">
            <a:avLst>
              <a:gd name="adj" fmla="val 50000"/>
            </a:avLst>
          </a:prstGeom>
          <a:solidFill>
            <a:schemeClr val="accent2"/>
          </a:solidFill>
          <a:ln w="12700">
            <a:solidFill>
              <a:schemeClr val="accent2"/>
            </a:solidFill>
            <a:prstDash val="solid"/>
          </a:ln>
        </p:spPr>
      </p:sp>
      <p:sp>
        <p:nvSpPr>
          <p:cNvPr id="9" name="Step text 1"/>
          <p:cNvSpPr txBox="1"/>
          <p:nvPr/>
        </p:nvSpPr>
        <p:spPr>
          <a:xfrm>
            <a:off x="640080" y="3383280"/>
            <a:ext cx="2011680" cy="292608"/>
          </a:xfrm>
          <a:prstGeom prst="rect">
            <a:avLst/>
          </a:prstGeom>
          <a:noFill/>
          <a:ln/>
        </p:spPr>
        <p:txBody>
          <a:bodyPr wrap="square" lIns="0" tIns="0" rIns="0" bIns="0" rtlCol="0" anchor="ctr"/>
          <a:lstStyle/>
          <a:p>
            <a:pPr marL="0" indent="0" algn="ctr">
              <a:buNone/>
            </a:pPr>
            <a:r>
              <a:rPr lang="en-US" sz="1100" b="1" dirty="0">
                <a:solidFill>
                  <a:schemeClr val="bg1"/>
                </a:solidFill>
              </a:rPr>
              <a:t>STEP 1  Signs credential</a:t>
            </a:r>
            <a:endParaRPr lang="en-US" sz="1100" dirty="0"/>
          </a:p>
        </p:txBody>
      </p:sp>
      <p:sp>
        <p:nvSpPr>
          <p:cNvPr id="10" name="Actor card 2"/>
          <p:cNvSpPr/>
          <p:nvPr/>
        </p:nvSpPr>
        <p:spPr>
          <a:xfrm>
            <a:off x="3383280" y="1280160"/>
            <a:ext cx="2377440" cy="2514600"/>
          </a:xfrm>
          <a:prstGeom prst="roundRect">
            <a:avLst>
              <a:gd name="adj" fmla="val 4615"/>
            </a:avLst>
          </a:prstGeom>
          <a:solidFill>
            <a:schemeClr val="tx1"/>
          </a:solidFill>
          <a:ln w="12700">
            <a:solidFill>
              <a:schemeClr val="tx1"/>
            </a:solidFill>
            <a:prstDash val="solid"/>
          </a:ln>
          <a:effectLst>
            <a:outerShdw blurRad="101600" dist="25400" dir="5400000" algn="bl" rotWithShape="0">
              <a:srgbClr val="000000">
                <a:alpha val="12000"/>
              </a:srgbClr>
            </a:outerShdw>
          </a:effectLst>
        </p:spPr>
      </p:sp>
      <p:sp>
        <p:nvSpPr>
          <p:cNvPr id="11" name="Actor icon circle 2"/>
          <p:cNvSpPr/>
          <p:nvPr/>
        </p:nvSpPr>
        <p:spPr>
          <a:xfrm>
            <a:off x="4160520" y="1417320"/>
            <a:ext cx="822960" cy="822960"/>
          </a:xfrm>
          <a:prstGeom prst="ellipse">
            <a:avLst/>
          </a:prstGeom>
          <a:solidFill>
            <a:schemeClr val="accent1"/>
          </a:solidFill>
          <a:ln w="12700">
            <a:solidFill>
              <a:schemeClr val="accent1"/>
            </a:solidFill>
            <a:prstDash val="solid"/>
          </a:ln>
        </p:spPr>
      </p:sp>
      <p:pic>
        <p:nvPicPr>
          <p:cNvPr id="12" name="Icon FaWallet" descr="FaWallet"/>
          <p:cNvPicPr>
            <a:picLocks noChangeAspect="1"/>
          </p:cNvPicPr>
          <p:nvPr/>
        </p:nvPicPr>
        <p:blipFill>
          <a:blip r:embed="rId4"/>
          <a:stretch>
            <a:fillRect/>
          </a:stretch>
        </p:blipFill>
        <p:spPr>
          <a:xfrm>
            <a:off x="4382719" y="1639519"/>
            <a:ext cx="378562" cy="378562"/>
          </a:xfrm>
          <a:prstGeom prst="rect">
            <a:avLst/>
          </a:prstGeom>
        </p:spPr>
      </p:pic>
      <p:sp>
        <p:nvSpPr>
          <p:cNvPr id="13" name="Actor name 2"/>
          <p:cNvSpPr txBox="1"/>
          <p:nvPr/>
        </p:nvSpPr>
        <p:spPr>
          <a:xfrm>
            <a:off x="3520440" y="2331720"/>
            <a:ext cx="2103120" cy="365760"/>
          </a:xfrm>
          <a:prstGeom prst="rect">
            <a:avLst/>
          </a:prstGeom>
          <a:noFill/>
          <a:ln/>
        </p:spPr>
        <p:txBody>
          <a:bodyPr wrap="square" lIns="0" tIns="0" rIns="0" bIns="0" rtlCol="0" anchor="ctr"/>
          <a:lstStyle/>
          <a:p>
            <a:pPr marL="0" indent="0" algn="ctr">
              <a:buNone/>
            </a:pPr>
            <a:r>
              <a:rPr lang="en-US" sz="1900" b="1" dirty="0">
                <a:solidFill>
                  <a:schemeClr val="bg1"/>
                </a:solidFill>
                <a:latin typeface="Cambria" pitchFamily="34" charset="0"/>
                <a:ea typeface="Cambria" pitchFamily="34" charset="-122"/>
                <a:cs typeface="Cambria" pitchFamily="34" charset="-120"/>
              </a:rPr>
              <a:t>Holder (You)</a:t>
            </a:r>
            <a:endParaRPr lang="en-US" sz="1900" dirty="0"/>
          </a:p>
        </p:txBody>
      </p:sp>
      <p:sp>
        <p:nvSpPr>
          <p:cNvPr id="14" name="Actor text 2"/>
          <p:cNvSpPr txBox="1"/>
          <p:nvPr/>
        </p:nvSpPr>
        <p:spPr>
          <a:xfrm>
            <a:off x="3566160" y="2697480"/>
            <a:ext cx="2011680" cy="640080"/>
          </a:xfrm>
          <a:prstGeom prst="rect">
            <a:avLst/>
          </a:prstGeom>
          <a:noFill/>
          <a:ln/>
        </p:spPr>
        <p:txBody>
          <a:bodyPr wrap="square" lIns="0" tIns="0" rIns="0" bIns="0" rtlCol="0" anchor="t"/>
          <a:lstStyle/>
          <a:p>
            <a:pPr marL="0" indent="0" algn="ctr">
              <a:buNone/>
            </a:pPr>
            <a:r>
              <a:rPr lang="en-US" sz="1400" dirty="0">
                <a:solidFill>
                  <a:schemeClr val="bg2"/>
                </a:solidFill>
              </a:rPr>
              <a:t>Keeps secrets in your own vault. Builds the proof.</a:t>
            </a:r>
            <a:endParaRPr lang="en-US" sz="1400" dirty="0"/>
          </a:p>
        </p:txBody>
      </p:sp>
      <p:sp>
        <p:nvSpPr>
          <p:cNvPr id="15" name="Step pill 2"/>
          <p:cNvSpPr/>
          <p:nvPr/>
        </p:nvSpPr>
        <p:spPr>
          <a:xfrm>
            <a:off x="3566160" y="3383280"/>
            <a:ext cx="2011680" cy="292608"/>
          </a:xfrm>
          <a:prstGeom prst="roundRect">
            <a:avLst>
              <a:gd name="adj" fmla="val 50000"/>
            </a:avLst>
          </a:prstGeom>
          <a:solidFill>
            <a:schemeClr val="accent1"/>
          </a:solidFill>
          <a:ln w="12700">
            <a:solidFill>
              <a:schemeClr val="accent1"/>
            </a:solidFill>
            <a:prstDash val="solid"/>
          </a:ln>
        </p:spPr>
      </p:sp>
      <p:sp>
        <p:nvSpPr>
          <p:cNvPr id="16" name="Step text 2"/>
          <p:cNvSpPr txBox="1"/>
          <p:nvPr/>
        </p:nvSpPr>
        <p:spPr>
          <a:xfrm>
            <a:off x="3566160" y="3383280"/>
            <a:ext cx="2011680" cy="292608"/>
          </a:xfrm>
          <a:prstGeom prst="rect">
            <a:avLst/>
          </a:prstGeom>
          <a:noFill/>
          <a:ln/>
        </p:spPr>
        <p:txBody>
          <a:bodyPr wrap="square" lIns="0" tIns="0" rIns="0" bIns="0" rtlCol="0" anchor="ctr"/>
          <a:lstStyle/>
          <a:p>
            <a:pPr marL="0" indent="0" algn="ctr">
              <a:buNone/>
            </a:pPr>
            <a:r>
              <a:rPr lang="en-US" sz="1100" b="1" dirty="0">
                <a:solidFill>
                  <a:schemeClr val="tx1"/>
                </a:solidFill>
              </a:rPr>
              <a:t>STEP 2  Creates proof</a:t>
            </a:r>
            <a:endParaRPr lang="en-US" sz="1100" dirty="0"/>
          </a:p>
        </p:txBody>
      </p:sp>
      <p:sp>
        <p:nvSpPr>
          <p:cNvPr id="17" name="Actor card 3"/>
          <p:cNvSpPr/>
          <p:nvPr/>
        </p:nvSpPr>
        <p:spPr>
          <a:xfrm>
            <a:off x="6309360" y="1280160"/>
            <a:ext cx="2377440" cy="2514600"/>
          </a:xfrm>
          <a:prstGeom prst="roundRect">
            <a:avLst>
              <a:gd name="adj" fmla="val 4615"/>
            </a:avLst>
          </a:prstGeom>
          <a:solidFill>
            <a:schemeClr val="bg2"/>
          </a:solidFill>
          <a:ln w="12700">
            <a:solidFill>
              <a:schemeClr val="bg2"/>
            </a:solidFill>
            <a:prstDash val="solid"/>
          </a:ln>
          <a:effectLst>
            <a:outerShdw blurRad="101600" dist="25400" dir="5400000" algn="bl" rotWithShape="0">
              <a:srgbClr val="000000">
                <a:alpha val="12000"/>
              </a:srgbClr>
            </a:outerShdw>
          </a:effectLst>
        </p:spPr>
      </p:sp>
      <p:sp>
        <p:nvSpPr>
          <p:cNvPr id="18" name="Actor icon circle 3"/>
          <p:cNvSpPr/>
          <p:nvPr/>
        </p:nvSpPr>
        <p:spPr>
          <a:xfrm>
            <a:off x="7086600" y="1417320"/>
            <a:ext cx="822960" cy="822960"/>
          </a:xfrm>
          <a:prstGeom prst="ellipse">
            <a:avLst/>
          </a:prstGeom>
          <a:solidFill>
            <a:schemeClr val="accent2"/>
          </a:solidFill>
          <a:ln w="12700">
            <a:solidFill>
              <a:schemeClr val="accent2"/>
            </a:solidFill>
            <a:prstDash val="solid"/>
          </a:ln>
        </p:spPr>
      </p:sp>
      <p:pic>
        <p:nvPicPr>
          <p:cNvPr id="19" name="Icon FaServer" descr="FaServer"/>
          <p:cNvPicPr>
            <a:picLocks noChangeAspect="1"/>
          </p:cNvPicPr>
          <p:nvPr/>
        </p:nvPicPr>
        <p:blipFill>
          <a:blip r:embed="rId5"/>
          <a:stretch>
            <a:fillRect/>
          </a:stretch>
        </p:blipFill>
        <p:spPr>
          <a:xfrm>
            <a:off x="7308799" y="1639519"/>
            <a:ext cx="378562" cy="378562"/>
          </a:xfrm>
          <a:prstGeom prst="rect">
            <a:avLst/>
          </a:prstGeom>
        </p:spPr>
      </p:pic>
      <p:sp>
        <p:nvSpPr>
          <p:cNvPr id="20" name="Actor name 3"/>
          <p:cNvSpPr txBox="1"/>
          <p:nvPr/>
        </p:nvSpPr>
        <p:spPr>
          <a:xfrm>
            <a:off x="6446520" y="2331720"/>
            <a:ext cx="2103120" cy="365760"/>
          </a:xfrm>
          <a:prstGeom prst="rect">
            <a:avLst/>
          </a:prstGeom>
          <a:noFill/>
          <a:ln/>
        </p:spPr>
        <p:txBody>
          <a:bodyPr wrap="square" lIns="0" tIns="0" rIns="0" bIns="0" rtlCol="0" anchor="ctr"/>
          <a:lstStyle/>
          <a:p>
            <a:pPr marL="0" indent="0" algn="ctr">
              <a:buNone/>
            </a:pPr>
            <a:r>
              <a:rPr lang="en-US" sz="1900" b="1" dirty="0">
                <a:solidFill>
                  <a:schemeClr val="tx1"/>
                </a:solidFill>
                <a:latin typeface="Cambria" pitchFamily="34" charset="0"/>
                <a:ea typeface="Cambria" pitchFamily="34" charset="-122"/>
                <a:cs typeface="Cambria" pitchFamily="34" charset="-120"/>
              </a:rPr>
              <a:t>Verifier</a:t>
            </a:r>
            <a:endParaRPr lang="en-US" sz="1900" dirty="0"/>
          </a:p>
        </p:txBody>
      </p:sp>
      <p:sp>
        <p:nvSpPr>
          <p:cNvPr id="21" name="Actor text 3"/>
          <p:cNvSpPr txBox="1"/>
          <p:nvPr/>
        </p:nvSpPr>
        <p:spPr>
          <a:xfrm>
            <a:off x="6492240" y="2697480"/>
            <a:ext cx="2011680" cy="640080"/>
          </a:xfrm>
          <a:prstGeom prst="rect">
            <a:avLst/>
          </a:prstGeom>
          <a:noFill/>
          <a:ln/>
        </p:spPr>
        <p:txBody>
          <a:bodyPr wrap="square" lIns="0" tIns="0" rIns="0" bIns="0" rtlCol="0" anchor="t"/>
          <a:lstStyle/>
          <a:p>
            <a:pPr marL="0" indent="0" algn="ctr">
              <a:buNone/>
            </a:pPr>
            <a:r>
              <a:rPr lang="en-US" sz="1400" dirty="0">
                <a:solidFill>
                  <a:schemeClr val="tx2"/>
                </a:solidFill>
              </a:rPr>
              <a:t>Bank or app. Receives the proof, never the data.</a:t>
            </a:r>
            <a:endParaRPr lang="en-US" sz="1400" dirty="0"/>
          </a:p>
        </p:txBody>
      </p:sp>
      <p:sp>
        <p:nvSpPr>
          <p:cNvPr id="22" name="Step pill 3"/>
          <p:cNvSpPr/>
          <p:nvPr/>
        </p:nvSpPr>
        <p:spPr>
          <a:xfrm>
            <a:off x="6492240" y="3383280"/>
            <a:ext cx="2011680" cy="292608"/>
          </a:xfrm>
          <a:prstGeom prst="roundRect">
            <a:avLst>
              <a:gd name="adj" fmla="val 50000"/>
            </a:avLst>
          </a:prstGeom>
          <a:solidFill>
            <a:schemeClr val="accent2"/>
          </a:solidFill>
          <a:ln w="12700">
            <a:solidFill>
              <a:schemeClr val="accent2"/>
            </a:solidFill>
            <a:prstDash val="solid"/>
          </a:ln>
        </p:spPr>
      </p:sp>
      <p:sp>
        <p:nvSpPr>
          <p:cNvPr id="23" name="Step text 3"/>
          <p:cNvSpPr txBox="1"/>
          <p:nvPr/>
        </p:nvSpPr>
        <p:spPr>
          <a:xfrm>
            <a:off x="6492240" y="3383280"/>
            <a:ext cx="2011680" cy="292608"/>
          </a:xfrm>
          <a:prstGeom prst="rect">
            <a:avLst/>
          </a:prstGeom>
          <a:noFill/>
          <a:ln/>
        </p:spPr>
        <p:txBody>
          <a:bodyPr wrap="square" lIns="0" tIns="0" rIns="0" bIns="0" rtlCol="0" anchor="ctr"/>
          <a:lstStyle/>
          <a:p>
            <a:pPr marL="0" indent="0" algn="ctr">
              <a:buNone/>
            </a:pPr>
            <a:r>
              <a:rPr lang="en-US" sz="1100" b="1" dirty="0">
                <a:solidFill>
                  <a:schemeClr val="bg1"/>
                </a:solidFill>
              </a:rPr>
              <a:t>STEP 3  Checks proof</a:t>
            </a:r>
            <a:endParaRPr lang="en-US" sz="1100" dirty="0"/>
          </a:p>
        </p:txBody>
      </p:sp>
      <p:sp>
        <p:nvSpPr>
          <p:cNvPr id="24" name="Arrow 1"/>
          <p:cNvSpPr/>
          <p:nvPr/>
        </p:nvSpPr>
        <p:spPr>
          <a:xfrm>
            <a:off x="2880360" y="2331720"/>
            <a:ext cx="457200" cy="365760"/>
          </a:xfrm>
          <a:prstGeom prst="rightArrow">
            <a:avLst/>
          </a:prstGeom>
          <a:solidFill>
            <a:schemeClr val="accent1"/>
          </a:solidFill>
          <a:ln w="12700">
            <a:solidFill>
              <a:schemeClr val="accent1"/>
            </a:solidFill>
            <a:prstDash val="solid"/>
          </a:ln>
        </p:spPr>
      </p:sp>
      <p:sp>
        <p:nvSpPr>
          <p:cNvPr id="25" name="Arrow 2"/>
          <p:cNvSpPr/>
          <p:nvPr/>
        </p:nvSpPr>
        <p:spPr>
          <a:xfrm>
            <a:off x="5806440" y="2331720"/>
            <a:ext cx="457200" cy="365760"/>
          </a:xfrm>
          <a:prstGeom prst="rightArrow">
            <a:avLst/>
          </a:prstGeom>
          <a:solidFill>
            <a:schemeClr val="accent1"/>
          </a:solidFill>
          <a:ln w="12700">
            <a:solidFill>
              <a:schemeClr val="accent1"/>
            </a:solidFill>
            <a:prstDash val="solid"/>
          </a:ln>
        </p:spPr>
      </p:sp>
      <p:sp>
        <p:nvSpPr>
          <p:cNvPr id="26" name="Takeaway bar"/>
          <p:cNvSpPr/>
          <p:nvPr/>
        </p:nvSpPr>
        <p:spPr>
          <a:xfrm>
            <a:off x="457200" y="3977640"/>
            <a:ext cx="8229600" cy="548640"/>
          </a:xfrm>
          <a:prstGeom prst="roundRect">
            <a:avLst>
              <a:gd name="adj" fmla="val 50000"/>
            </a:avLst>
          </a:prstGeom>
          <a:solidFill>
            <a:schemeClr val="tx1"/>
          </a:solidFill>
          <a:ln w="12700">
            <a:solidFill>
              <a:schemeClr val="tx1"/>
            </a:solidFill>
            <a:prstDash val="solid"/>
          </a:ln>
        </p:spPr>
      </p:sp>
      <p:sp>
        <p:nvSpPr>
          <p:cNvPr id="27" name="Takeaway text"/>
          <p:cNvSpPr txBox="1"/>
          <p:nvPr/>
        </p:nvSpPr>
        <p:spPr>
          <a:xfrm>
            <a:off x="457200" y="3977640"/>
            <a:ext cx="8229600" cy="548640"/>
          </a:xfrm>
          <a:prstGeom prst="rect">
            <a:avLst/>
          </a:prstGeom>
          <a:noFill/>
          <a:ln/>
        </p:spPr>
        <p:txBody>
          <a:bodyPr wrap="square" lIns="0" tIns="0" rIns="0" bIns="0" rtlCol="0" anchor="ctr"/>
          <a:lstStyle/>
          <a:p>
            <a:pPr marL="0" indent="0" algn="ctr">
              <a:buNone/>
            </a:pPr>
            <a:r>
              <a:rPr lang="en-US" sz="1800" dirty="0">
                <a:solidFill>
                  <a:schemeClr val="bg1"/>
                </a:solidFill>
              </a:rPr>
              <a:t>The verifier learns one thing only:  </a:t>
            </a:r>
            <a:r>
              <a:rPr lang="en-US" sz="1800" b="1" dirty="0">
                <a:solidFill>
                  <a:schemeClr val="accent1"/>
                </a:solidFill>
              </a:rPr>
              <a:t>Age ≥ 18</a:t>
            </a:r>
            <a:endParaRPr lang="en-US" sz="1800" dirty="0"/>
          </a:p>
        </p:txBody>
      </p:sp>
      <p:sp>
        <p:nvSpPr>
          <p:cNvPr id="28"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600" b="1" dirty="0">
                <a:solidFill>
                  <a:schemeClr val="tx1"/>
                </a:solidFill>
              </a:rPr>
              <a:t>Six Members, Six Parts</a:t>
            </a:r>
            <a:endParaRPr lang="en-US" sz="3600" dirty="0"/>
          </a:p>
        </p:txBody>
      </p:sp>
      <p:sp>
        <p:nvSpPr>
          <p:cNvPr id="3" name="Part card 1"/>
          <p:cNvSpPr/>
          <p:nvPr/>
        </p:nvSpPr>
        <p:spPr>
          <a:xfrm>
            <a:off x="457200" y="1280160"/>
            <a:ext cx="2606040" cy="1508760"/>
          </a:xfrm>
          <a:prstGeom prst="roundRect">
            <a:avLst>
              <a:gd name="adj" fmla="val 7273"/>
            </a:avLst>
          </a:prstGeom>
          <a:solidFill>
            <a:schemeClr val="bg2"/>
          </a:solidFill>
          <a:ln w="12700">
            <a:solidFill>
              <a:schemeClr val="bg2"/>
            </a:solidFill>
            <a:prstDash val="solid"/>
          </a:ln>
        </p:spPr>
      </p:sp>
      <p:sp>
        <p:nvSpPr>
          <p:cNvPr id="4" name="Part icon circle 1"/>
          <p:cNvSpPr/>
          <p:nvPr/>
        </p:nvSpPr>
        <p:spPr>
          <a:xfrm>
            <a:off x="640080" y="1463040"/>
            <a:ext cx="640080" cy="640080"/>
          </a:xfrm>
          <a:prstGeom prst="ellipse">
            <a:avLst/>
          </a:prstGeom>
          <a:solidFill>
            <a:schemeClr val="accent2"/>
          </a:solidFill>
          <a:ln w="12700">
            <a:solidFill>
              <a:schemeClr val="accent2"/>
            </a:solidFill>
            <a:prstDash val="solid"/>
          </a:ln>
        </p:spPr>
      </p:sp>
      <p:pic>
        <p:nvPicPr>
          <p:cNvPr id="5" name="Icon FaMicrochip" descr="FaMicrochip"/>
          <p:cNvPicPr>
            <a:picLocks noChangeAspect="1"/>
          </p:cNvPicPr>
          <p:nvPr/>
        </p:nvPicPr>
        <p:blipFill>
          <a:blip r:embed="rId3"/>
          <a:stretch>
            <a:fillRect/>
          </a:stretch>
        </p:blipFill>
        <p:spPr>
          <a:xfrm>
            <a:off x="812902" y="1635862"/>
            <a:ext cx="294437" cy="294437"/>
          </a:xfrm>
          <a:prstGeom prst="rect">
            <a:avLst/>
          </a:prstGeom>
        </p:spPr>
      </p:pic>
      <p:sp>
        <p:nvSpPr>
          <p:cNvPr id="6" name="Part number 1"/>
          <p:cNvSpPr txBox="1"/>
          <p:nvPr/>
        </p:nvSpPr>
        <p:spPr>
          <a:xfrm>
            <a:off x="1417320" y="1481328"/>
            <a:ext cx="1463040" cy="228600"/>
          </a:xfrm>
          <a:prstGeom prst="rect">
            <a:avLst/>
          </a:prstGeom>
          <a:noFill/>
          <a:ln/>
        </p:spPr>
        <p:txBody>
          <a:bodyPr wrap="square" lIns="0" tIns="0" rIns="0" bIns="0" rtlCol="0" anchor="ctr"/>
          <a:lstStyle/>
          <a:p>
            <a:pPr marL="0" indent="0">
              <a:buNone/>
            </a:pPr>
            <a:r>
              <a:rPr lang="en-US" sz="1100" b="1" dirty="0">
                <a:solidFill>
                  <a:schemeClr val="accent2"/>
                </a:solidFill>
              </a:rPr>
              <a:t>PART 1</a:t>
            </a:r>
            <a:endParaRPr lang="en-US" sz="1100" dirty="0"/>
          </a:p>
        </p:txBody>
      </p:sp>
      <p:sp>
        <p:nvSpPr>
          <p:cNvPr id="7" name="Part name 1"/>
          <p:cNvSpPr txBox="1"/>
          <p:nvPr/>
        </p:nvSpPr>
        <p:spPr>
          <a:xfrm>
            <a:off x="1417320" y="1709928"/>
            <a:ext cx="1554480" cy="457200"/>
          </a:xfrm>
          <a:prstGeom prst="rect">
            <a:avLst/>
          </a:prstGeom>
          <a:noFill/>
          <a:ln/>
        </p:spPr>
        <p:txBody>
          <a:bodyPr wrap="square" lIns="0" tIns="0" rIns="0" bIns="0" rtlCol="0" anchor="t"/>
          <a:lstStyle/>
          <a:p>
            <a:pPr marL="0" indent="0">
              <a:buNone/>
            </a:pPr>
            <a:r>
              <a:rPr lang="en-US" sz="1500" b="1" dirty="0">
                <a:solidFill>
                  <a:schemeClr val="tx1"/>
                </a:solidFill>
                <a:latin typeface="Cambria" pitchFamily="34" charset="0"/>
                <a:ea typeface="Cambria" pitchFamily="34" charset="-122"/>
                <a:cs typeface="Cambria" pitchFamily="34" charset="-120"/>
              </a:rPr>
              <a:t>The ZK Circuit</a:t>
            </a:r>
            <a:endParaRPr lang="en-US" sz="1500" dirty="0"/>
          </a:p>
        </p:txBody>
      </p:sp>
      <p:sp>
        <p:nvSpPr>
          <p:cNvPr id="8" name="Part line 1"/>
          <p:cNvSpPr txBox="1"/>
          <p:nvPr/>
        </p:nvSpPr>
        <p:spPr>
          <a:xfrm>
            <a:off x="640080" y="2240280"/>
            <a:ext cx="2286000" cy="457200"/>
          </a:xfrm>
          <a:prstGeom prst="rect">
            <a:avLst/>
          </a:prstGeom>
          <a:noFill/>
          <a:ln/>
        </p:spPr>
        <p:txBody>
          <a:bodyPr wrap="square" lIns="0" tIns="0" rIns="0" bIns="0" rtlCol="0" anchor="t"/>
          <a:lstStyle/>
          <a:p>
            <a:pPr marL="0" indent="0">
              <a:buNone/>
            </a:pPr>
            <a:r>
              <a:rPr lang="en-US" sz="1400" dirty="0">
                <a:solidFill>
                  <a:schemeClr val="tx2"/>
                </a:solidFill>
              </a:rPr>
              <a:t>The math that proves, never reveals</a:t>
            </a:r>
            <a:endParaRPr lang="en-US" sz="1400" dirty="0"/>
          </a:p>
        </p:txBody>
      </p:sp>
      <p:sp>
        <p:nvSpPr>
          <p:cNvPr id="9" name="Part card 2"/>
          <p:cNvSpPr/>
          <p:nvPr/>
        </p:nvSpPr>
        <p:spPr>
          <a:xfrm>
            <a:off x="3268980" y="1280160"/>
            <a:ext cx="2606040" cy="1508760"/>
          </a:xfrm>
          <a:prstGeom prst="roundRect">
            <a:avLst>
              <a:gd name="adj" fmla="val 7273"/>
            </a:avLst>
          </a:prstGeom>
          <a:solidFill>
            <a:schemeClr val="bg2"/>
          </a:solidFill>
          <a:ln w="12700">
            <a:solidFill>
              <a:schemeClr val="bg2"/>
            </a:solidFill>
            <a:prstDash val="solid"/>
          </a:ln>
        </p:spPr>
      </p:sp>
      <p:sp>
        <p:nvSpPr>
          <p:cNvPr id="10" name="Part icon circle 2"/>
          <p:cNvSpPr/>
          <p:nvPr/>
        </p:nvSpPr>
        <p:spPr>
          <a:xfrm>
            <a:off x="3451860" y="1463040"/>
            <a:ext cx="640080" cy="640080"/>
          </a:xfrm>
          <a:prstGeom prst="ellipse">
            <a:avLst/>
          </a:prstGeom>
          <a:solidFill>
            <a:schemeClr val="accent5"/>
          </a:solidFill>
          <a:ln w="12700">
            <a:solidFill>
              <a:schemeClr val="accent5"/>
            </a:solidFill>
            <a:prstDash val="solid"/>
          </a:ln>
        </p:spPr>
      </p:sp>
      <p:pic>
        <p:nvPicPr>
          <p:cNvPr id="11" name="Icon FaUniversity" descr="FaUniversity"/>
          <p:cNvPicPr>
            <a:picLocks noChangeAspect="1"/>
          </p:cNvPicPr>
          <p:nvPr/>
        </p:nvPicPr>
        <p:blipFill>
          <a:blip r:embed="rId4"/>
          <a:stretch>
            <a:fillRect/>
          </a:stretch>
        </p:blipFill>
        <p:spPr>
          <a:xfrm>
            <a:off x="3624682" y="1635862"/>
            <a:ext cx="294437" cy="294437"/>
          </a:xfrm>
          <a:prstGeom prst="rect">
            <a:avLst/>
          </a:prstGeom>
        </p:spPr>
      </p:pic>
      <p:sp>
        <p:nvSpPr>
          <p:cNvPr id="12" name="Part number 2"/>
          <p:cNvSpPr txBox="1"/>
          <p:nvPr/>
        </p:nvSpPr>
        <p:spPr>
          <a:xfrm>
            <a:off x="4229100" y="1481328"/>
            <a:ext cx="1463040" cy="228600"/>
          </a:xfrm>
          <a:prstGeom prst="rect">
            <a:avLst/>
          </a:prstGeom>
          <a:noFill/>
          <a:ln/>
        </p:spPr>
        <p:txBody>
          <a:bodyPr wrap="square" lIns="0" tIns="0" rIns="0" bIns="0" rtlCol="0" anchor="ctr"/>
          <a:lstStyle/>
          <a:p>
            <a:pPr marL="0" indent="0">
              <a:buNone/>
            </a:pPr>
            <a:r>
              <a:rPr lang="en-US" sz="1100" b="1" dirty="0">
                <a:solidFill>
                  <a:schemeClr val="accent2"/>
                </a:solidFill>
              </a:rPr>
              <a:t>PART 2</a:t>
            </a:r>
            <a:endParaRPr lang="en-US" sz="1100" dirty="0"/>
          </a:p>
        </p:txBody>
      </p:sp>
      <p:sp>
        <p:nvSpPr>
          <p:cNvPr id="13" name="Part name 2"/>
          <p:cNvSpPr txBox="1"/>
          <p:nvPr/>
        </p:nvSpPr>
        <p:spPr>
          <a:xfrm>
            <a:off x="4229100" y="1709928"/>
            <a:ext cx="1554480" cy="457200"/>
          </a:xfrm>
          <a:prstGeom prst="rect">
            <a:avLst/>
          </a:prstGeom>
          <a:noFill/>
          <a:ln/>
        </p:spPr>
        <p:txBody>
          <a:bodyPr wrap="square" lIns="0" tIns="0" rIns="0" bIns="0" rtlCol="0" anchor="t"/>
          <a:lstStyle/>
          <a:p>
            <a:pPr marL="0" indent="0">
              <a:buNone/>
            </a:pPr>
            <a:r>
              <a:rPr lang="en-US" sz="1500" b="1" dirty="0">
                <a:solidFill>
                  <a:schemeClr val="tx1"/>
                </a:solidFill>
                <a:latin typeface="Cambria" pitchFamily="34" charset="0"/>
                <a:ea typeface="Cambria" pitchFamily="34" charset="-122"/>
                <a:cs typeface="Cambria" pitchFamily="34" charset="-120"/>
              </a:rPr>
              <a:t>Issuer &amp; Revocation</a:t>
            </a:r>
            <a:endParaRPr lang="en-US" sz="1500" dirty="0"/>
          </a:p>
        </p:txBody>
      </p:sp>
      <p:sp>
        <p:nvSpPr>
          <p:cNvPr id="14" name="Part line 2"/>
          <p:cNvSpPr txBox="1"/>
          <p:nvPr/>
        </p:nvSpPr>
        <p:spPr>
          <a:xfrm>
            <a:off x="3451860" y="2240280"/>
            <a:ext cx="2286000" cy="457200"/>
          </a:xfrm>
          <a:prstGeom prst="rect">
            <a:avLst/>
          </a:prstGeom>
          <a:noFill/>
          <a:ln/>
        </p:spPr>
        <p:txBody>
          <a:bodyPr wrap="square" lIns="0" tIns="0" rIns="0" bIns="0" rtlCol="0" anchor="t"/>
          <a:lstStyle/>
          <a:p>
            <a:pPr marL="0" indent="0">
              <a:buNone/>
            </a:pPr>
            <a:r>
              <a:rPr lang="en-US" sz="1400" dirty="0">
                <a:solidFill>
                  <a:schemeClr val="tx2"/>
                </a:solidFill>
              </a:rPr>
              <a:t>Signs credentials, cancels them safely</a:t>
            </a:r>
            <a:endParaRPr lang="en-US" sz="1400" dirty="0"/>
          </a:p>
        </p:txBody>
      </p:sp>
      <p:sp>
        <p:nvSpPr>
          <p:cNvPr id="15" name="Part card 3"/>
          <p:cNvSpPr/>
          <p:nvPr/>
        </p:nvSpPr>
        <p:spPr>
          <a:xfrm>
            <a:off x="6080760" y="1280160"/>
            <a:ext cx="2606040" cy="1508760"/>
          </a:xfrm>
          <a:prstGeom prst="roundRect">
            <a:avLst>
              <a:gd name="adj" fmla="val 7273"/>
            </a:avLst>
          </a:prstGeom>
          <a:solidFill>
            <a:schemeClr val="bg2"/>
          </a:solidFill>
          <a:ln w="12700">
            <a:solidFill>
              <a:schemeClr val="bg2"/>
            </a:solidFill>
            <a:prstDash val="solid"/>
          </a:ln>
        </p:spPr>
      </p:sp>
      <p:sp>
        <p:nvSpPr>
          <p:cNvPr id="16" name="Part icon circle 3"/>
          <p:cNvSpPr/>
          <p:nvPr/>
        </p:nvSpPr>
        <p:spPr>
          <a:xfrm>
            <a:off x="6263640" y="1463040"/>
            <a:ext cx="640080" cy="640080"/>
          </a:xfrm>
          <a:prstGeom prst="ellipse">
            <a:avLst/>
          </a:prstGeom>
          <a:solidFill>
            <a:schemeClr val="accent3"/>
          </a:solidFill>
          <a:ln w="12700">
            <a:solidFill>
              <a:schemeClr val="accent3"/>
            </a:solidFill>
            <a:prstDash val="solid"/>
          </a:ln>
        </p:spPr>
      </p:sp>
      <p:pic>
        <p:nvPicPr>
          <p:cNvPr id="17" name="Icon FaIdCard" descr="FaIdCard"/>
          <p:cNvPicPr>
            <a:picLocks noChangeAspect="1"/>
          </p:cNvPicPr>
          <p:nvPr/>
        </p:nvPicPr>
        <p:blipFill>
          <a:blip r:embed="rId5"/>
          <a:stretch>
            <a:fillRect/>
          </a:stretch>
        </p:blipFill>
        <p:spPr>
          <a:xfrm>
            <a:off x="6436462" y="1635862"/>
            <a:ext cx="294437" cy="294437"/>
          </a:xfrm>
          <a:prstGeom prst="rect">
            <a:avLst/>
          </a:prstGeom>
        </p:spPr>
      </p:pic>
      <p:sp>
        <p:nvSpPr>
          <p:cNvPr id="18" name="Part number 3"/>
          <p:cNvSpPr txBox="1"/>
          <p:nvPr/>
        </p:nvSpPr>
        <p:spPr>
          <a:xfrm>
            <a:off x="7040880" y="1481328"/>
            <a:ext cx="1463040" cy="228600"/>
          </a:xfrm>
          <a:prstGeom prst="rect">
            <a:avLst/>
          </a:prstGeom>
          <a:noFill/>
          <a:ln/>
        </p:spPr>
        <p:txBody>
          <a:bodyPr wrap="square" lIns="0" tIns="0" rIns="0" bIns="0" rtlCol="0" anchor="ctr"/>
          <a:lstStyle/>
          <a:p>
            <a:pPr marL="0" indent="0">
              <a:buNone/>
            </a:pPr>
            <a:r>
              <a:rPr lang="en-US" sz="1100" b="1" dirty="0">
                <a:solidFill>
                  <a:schemeClr val="accent2"/>
                </a:solidFill>
              </a:rPr>
              <a:t>PART 3</a:t>
            </a:r>
            <a:endParaRPr lang="en-US" sz="1100" dirty="0"/>
          </a:p>
        </p:txBody>
      </p:sp>
      <p:sp>
        <p:nvSpPr>
          <p:cNvPr id="19" name="Part name 3"/>
          <p:cNvSpPr txBox="1"/>
          <p:nvPr/>
        </p:nvSpPr>
        <p:spPr>
          <a:xfrm>
            <a:off x="7040880" y="1709928"/>
            <a:ext cx="1554480" cy="457200"/>
          </a:xfrm>
          <a:prstGeom prst="rect">
            <a:avLst/>
          </a:prstGeom>
          <a:noFill/>
          <a:ln/>
        </p:spPr>
        <p:txBody>
          <a:bodyPr wrap="square" lIns="0" tIns="0" rIns="0" bIns="0" rtlCol="0" anchor="t"/>
          <a:lstStyle/>
          <a:p>
            <a:pPr marL="0" indent="0">
              <a:buNone/>
            </a:pPr>
            <a:r>
              <a:rPr lang="en-US" sz="1500" b="1" dirty="0">
                <a:solidFill>
                  <a:schemeClr val="tx1"/>
                </a:solidFill>
                <a:latin typeface="Cambria" pitchFamily="34" charset="0"/>
                <a:ea typeface="Cambria" pitchFamily="34" charset="-122"/>
                <a:cs typeface="Cambria" pitchFamily="34" charset="-120"/>
              </a:rPr>
              <a:t>Identity Proofing</a:t>
            </a:r>
            <a:endParaRPr lang="en-US" sz="1500" dirty="0"/>
          </a:p>
        </p:txBody>
      </p:sp>
      <p:sp>
        <p:nvSpPr>
          <p:cNvPr id="20" name="Part line 3"/>
          <p:cNvSpPr txBox="1"/>
          <p:nvPr/>
        </p:nvSpPr>
        <p:spPr>
          <a:xfrm>
            <a:off x="6263640" y="2240280"/>
            <a:ext cx="2286000" cy="457200"/>
          </a:xfrm>
          <a:prstGeom prst="rect">
            <a:avLst/>
          </a:prstGeom>
          <a:noFill/>
          <a:ln/>
        </p:spPr>
        <p:txBody>
          <a:bodyPr wrap="square" lIns="0" tIns="0" rIns="0" bIns="0" rtlCol="0" anchor="t"/>
          <a:lstStyle/>
          <a:p>
            <a:pPr marL="0" indent="0">
              <a:buNone/>
            </a:pPr>
            <a:r>
              <a:rPr lang="en-US" sz="1400" dirty="0">
                <a:solidFill>
                  <a:schemeClr val="tx2"/>
                </a:solidFill>
              </a:rPr>
              <a:t>Real ID, real face, checked locally</a:t>
            </a:r>
            <a:endParaRPr lang="en-US" sz="1400" dirty="0"/>
          </a:p>
        </p:txBody>
      </p:sp>
      <p:sp>
        <p:nvSpPr>
          <p:cNvPr id="21" name="Part card 4"/>
          <p:cNvSpPr/>
          <p:nvPr/>
        </p:nvSpPr>
        <p:spPr>
          <a:xfrm>
            <a:off x="457200" y="2926080"/>
            <a:ext cx="2606040" cy="1508760"/>
          </a:xfrm>
          <a:prstGeom prst="roundRect">
            <a:avLst>
              <a:gd name="adj" fmla="val 7273"/>
            </a:avLst>
          </a:prstGeom>
          <a:solidFill>
            <a:schemeClr val="bg2"/>
          </a:solidFill>
          <a:ln w="12700">
            <a:solidFill>
              <a:schemeClr val="bg2"/>
            </a:solidFill>
            <a:prstDash val="solid"/>
          </a:ln>
        </p:spPr>
      </p:sp>
      <p:sp>
        <p:nvSpPr>
          <p:cNvPr id="22" name="Part icon circle 4"/>
          <p:cNvSpPr/>
          <p:nvPr/>
        </p:nvSpPr>
        <p:spPr>
          <a:xfrm>
            <a:off x="640080" y="3108960"/>
            <a:ext cx="640080" cy="640080"/>
          </a:xfrm>
          <a:prstGeom prst="ellipse">
            <a:avLst/>
          </a:prstGeom>
          <a:solidFill>
            <a:schemeClr val="accent1"/>
          </a:solidFill>
          <a:ln w="12700">
            <a:solidFill>
              <a:schemeClr val="accent1"/>
            </a:solidFill>
            <a:prstDash val="solid"/>
          </a:ln>
        </p:spPr>
      </p:sp>
      <p:pic>
        <p:nvPicPr>
          <p:cNvPr id="23" name="Icon FaWallet" descr="FaWallet"/>
          <p:cNvPicPr>
            <a:picLocks noChangeAspect="1"/>
          </p:cNvPicPr>
          <p:nvPr/>
        </p:nvPicPr>
        <p:blipFill>
          <a:blip r:embed="rId6"/>
          <a:stretch>
            <a:fillRect/>
          </a:stretch>
        </p:blipFill>
        <p:spPr>
          <a:xfrm>
            <a:off x="812902" y="3281782"/>
            <a:ext cx="294437" cy="294437"/>
          </a:xfrm>
          <a:prstGeom prst="rect">
            <a:avLst/>
          </a:prstGeom>
        </p:spPr>
      </p:pic>
      <p:sp>
        <p:nvSpPr>
          <p:cNvPr id="24" name="Part number 4"/>
          <p:cNvSpPr txBox="1"/>
          <p:nvPr/>
        </p:nvSpPr>
        <p:spPr>
          <a:xfrm>
            <a:off x="1417320" y="3127248"/>
            <a:ext cx="1463040" cy="228600"/>
          </a:xfrm>
          <a:prstGeom prst="rect">
            <a:avLst/>
          </a:prstGeom>
          <a:noFill/>
          <a:ln/>
        </p:spPr>
        <p:txBody>
          <a:bodyPr wrap="square" lIns="0" tIns="0" rIns="0" bIns="0" rtlCol="0" anchor="ctr"/>
          <a:lstStyle/>
          <a:p>
            <a:pPr marL="0" indent="0">
              <a:buNone/>
            </a:pPr>
            <a:r>
              <a:rPr lang="en-US" sz="1100" b="1" dirty="0">
                <a:solidFill>
                  <a:schemeClr val="accent2"/>
                </a:solidFill>
              </a:rPr>
              <a:t>PART 4</a:t>
            </a:r>
            <a:endParaRPr lang="en-US" sz="1100" dirty="0"/>
          </a:p>
        </p:txBody>
      </p:sp>
      <p:sp>
        <p:nvSpPr>
          <p:cNvPr id="25" name="Part name 4"/>
          <p:cNvSpPr txBox="1"/>
          <p:nvPr/>
        </p:nvSpPr>
        <p:spPr>
          <a:xfrm>
            <a:off x="1417320" y="3355848"/>
            <a:ext cx="1554480" cy="457200"/>
          </a:xfrm>
          <a:prstGeom prst="rect">
            <a:avLst/>
          </a:prstGeom>
          <a:noFill/>
          <a:ln/>
        </p:spPr>
        <p:txBody>
          <a:bodyPr wrap="square" lIns="0" tIns="0" rIns="0" bIns="0" rtlCol="0" anchor="t"/>
          <a:lstStyle/>
          <a:p>
            <a:pPr marL="0" indent="0">
              <a:buNone/>
            </a:pPr>
            <a:r>
              <a:rPr lang="en-US" sz="1500" b="1" dirty="0">
                <a:solidFill>
                  <a:schemeClr val="tx1"/>
                </a:solidFill>
                <a:latin typeface="Cambria" pitchFamily="34" charset="0"/>
                <a:ea typeface="Cambria" pitchFamily="34" charset="-122"/>
                <a:cs typeface="Cambria" pitchFamily="34" charset="-120"/>
              </a:rPr>
              <a:t>Wallet &amp; Experience</a:t>
            </a:r>
            <a:endParaRPr lang="en-US" sz="1500" dirty="0"/>
          </a:p>
        </p:txBody>
      </p:sp>
      <p:sp>
        <p:nvSpPr>
          <p:cNvPr id="26" name="Part line 4"/>
          <p:cNvSpPr txBox="1"/>
          <p:nvPr/>
        </p:nvSpPr>
        <p:spPr>
          <a:xfrm>
            <a:off x="640080" y="3886200"/>
            <a:ext cx="2286000" cy="457200"/>
          </a:xfrm>
          <a:prstGeom prst="rect">
            <a:avLst/>
          </a:prstGeom>
          <a:noFill/>
          <a:ln/>
        </p:spPr>
        <p:txBody>
          <a:bodyPr wrap="square" lIns="0" tIns="0" rIns="0" bIns="0" rtlCol="0" anchor="t"/>
          <a:lstStyle/>
          <a:p>
            <a:pPr marL="0" indent="0">
              <a:buNone/>
            </a:pPr>
            <a:r>
              <a:rPr lang="en-US" sz="1400" dirty="0">
                <a:solidFill>
                  <a:schemeClr val="tx2"/>
                </a:solidFill>
              </a:rPr>
              <a:t>Your private vault and consent screen</a:t>
            </a:r>
            <a:endParaRPr lang="en-US" sz="1400" dirty="0"/>
          </a:p>
        </p:txBody>
      </p:sp>
      <p:sp>
        <p:nvSpPr>
          <p:cNvPr id="27" name="Part card 5"/>
          <p:cNvSpPr/>
          <p:nvPr/>
        </p:nvSpPr>
        <p:spPr>
          <a:xfrm>
            <a:off x="3268980" y="2926080"/>
            <a:ext cx="2606040" cy="1508760"/>
          </a:xfrm>
          <a:prstGeom prst="roundRect">
            <a:avLst>
              <a:gd name="adj" fmla="val 7273"/>
            </a:avLst>
          </a:prstGeom>
          <a:solidFill>
            <a:schemeClr val="bg2"/>
          </a:solidFill>
          <a:ln w="12700">
            <a:solidFill>
              <a:schemeClr val="bg2"/>
            </a:solidFill>
            <a:prstDash val="solid"/>
          </a:ln>
        </p:spPr>
      </p:sp>
      <p:sp>
        <p:nvSpPr>
          <p:cNvPr id="28" name="Part icon circle 5"/>
          <p:cNvSpPr/>
          <p:nvPr/>
        </p:nvSpPr>
        <p:spPr>
          <a:xfrm>
            <a:off x="3451860" y="3108960"/>
            <a:ext cx="640080" cy="640080"/>
          </a:xfrm>
          <a:prstGeom prst="ellipse">
            <a:avLst/>
          </a:prstGeom>
          <a:solidFill>
            <a:schemeClr val="accent4"/>
          </a:solidFill>
          <a:ln w="12700">
            <a:solidFill>
              <a:schemeClr val="accent4"/>
            </a:solidFill>
            <a:prstDash val="solid"/>
          </a:ln>
        </p:spPr>
      </p:sp>
      <p:pic>
        <p:nvPicPr>
          <p:cNvPr id="29" name="Icon FaAtom" descr="FaAtom"/>
          <p:cNvPicPr>
            <a:picLocks noChangeAspect="1"/>
          </p:cNvPicPr>
          <p:nvPr/>
        </p:nvPicPr>
        <p:blipFill>
          <a:blip r:embed="rId7"/>
          <a:stretch>
            <a:fillRect/>
          </a:stretch>
        </p:blipFill>
        <p:spPr>
          <a:xfrm>
            <a:off x="3624682" y="3281782"/>
            <a:ext cx="294437" cy="294437"/>
          </a:xfrm>
          <a:prstGeom prst="rect">
            <a:avLst/>
          </a:prstGeom>
        </p:spPr>
      </p:pic>
      <p:sp>
        <p:nvSpPr>
          <p:cNvPr id="30" name="Part number 5"/>
          <p:cNvSpPr txBox="1"/>
          <p:nvPr/>
        </p:nvSpPr>
        <p:spPr>
          <a:xfrm>
            <a:off x="4229100" y="3127248"/>
            <a:ext cx="1463040" cy="228600"/>
          </a:xfrm>
          <a:prstGeom prst="rect">
            <a:avLst/>
          </a:prstGeom>
          <a:noFill/>
          <a:ln/>
        </p:spPr>
        <p:txBody>
          <a:bodyPr wrap="square" lIns="0" tIns="0" rIns="0" bIns="0" rtlCol="0" anchor="ctr"/>
          <a:lstStyle/>
          <a:p>
            <a:pPr marL="0" indent="0">
              <a:buNone/>
            </a:pPr>
            <a:r>
              <a:rPr lang="en-US" sz="1100" b="1" dirty="0">
                <a:solidFill>
                  <a:schemeClr val="accent2"/>
                </a:solidFill>
              </a:rPr>
              <a:t>PART 5</a:t>
            </a:r>
            <a:endParaRPr lang="en-US" sz="1100" dirty="0"/>
          </a:p>
        </p:txBody>
      </p:sp>
      <p:sp>
        <p:nvSpPr>
          <p:cNvPr id="31" name="Part name 5"/>
          <p:cNvSpPr txBox="1"/>
          <p:nvPr/>
        </p:nvSpPr>
        <p:spPr>
          <a:xfrm>
            <a:off x="4229100" y="3355848"/>
            <a:ext cx="1554480" cy="457200"/>
          </a:xfrm>
          <a:prstGeom prst="rect">
            <a:avLst/>
          </a:prstGeom>
          <a:noFill/>
          <a:ln/>
        </p:spPr>
        <p:txBody>
          <a:bodyPr wrap="square" lIns="0" tIns="0" rIns="0" bIns="0" rtlCol="0" anchor="t"/>
          <a:lstStyle/>
          <a:p>
            <a:pPr marL="0" indent="0">
              <a:buNone/>
            </a:pPr>
            <a:r>
              <a:rPr lang="en-US" sz="1500" b="1" dirty="0">
                <a:solidFill>
                  <a:schemeClr val="tx1"/>
                </a:solidFill>
                <a:latin typeface="Cambria" pitchFamily="34" charset="0"/>
                <a:ea typeface="Cambria" pitchFamily="34" charset="-122"/>
                <a:cs typeface="Cambria" pitchFamily="34" charset="-120"/>
              </a:rPr>
              <a:t>Quantum, AML &amp; Chain</a:t>
            </a:r>
            <a:endParaRPr lang="en-US" sz="1500" dirty="0"/>
          </a:p>
        </p:txBody>
      </p:sp>
      <p:sp>
        <p:nvSpPr>
          <p:cNvPr id="32" name="Part line 5"/>
          <p:cNvSpPr txBox="1"/>
          <p:nvPr/>
        </p:nvSpPr>
        <p:spPr>
          <a:xfrm>
            <a:off x="3451860" y="3886200"/>
            <a:ext cx="2286000" cy="457200"/>
          </a:xfrm>
          <a:prstGeom prst="rect">
            <a:avLst/>
          </a:prstGeom>
          <a:noFill/>
          <a:ln/>
        </p:spPr>
        <p:txBody>
          <a:bodyPr wrap="square" lIns="0" tIns="0" rIns="0" bIns="0" rtlCol="0" anchor="t"/>
          <a:lstStyle/>
          <a:p>
            <a:pPr marL="0" indent="0">
              <a:buNone/>
            </a:pPr>
            <a:r>
              <a:rPr lang="en-US" sz="1400" dirty="0">
                <a:solidFill>
                  <a:schemeClr val="tx2"/>
                </a:solidFill>
              </a:rPr>
              <a:t>Future-safe crypto and on-chain trust</a:t>
            </a:r>
            <a:endParaRPr lang="en-US" sz="1400" dirty="0"/>
          </a:p>
        </p:txBody>
      </p:sp>
      <p:sp>
        <p:nvSpPr>
          <p:cNvPr id="33" name="Part card 6"/>
          <p:cNvSpPr/>
          <p:nvPr/>
        </p:nvSpPr>
        <p:spPr>
          <a:xfrm>
            <a:off x="6080760" y="2926080"/>
            <a:ext cx="2606040" cy="1508760"/>
          </a:xfrm>
          <a:prstGeom prst="roundRect">
            <a:avLst>
              <a:gd name="adj" fmla="val 7273"/>
            </a:avLst>
          </a:prstGeom>
          <a:solidFill>
            <a:schemeClr val="bg2"/>
          </a:solidFill>
          <a:ln w="12700">
            <a:solidFill>
              <a:schemeClr val="bg2"/>
            </a:solidFill>
            <a:prstDash val="solid"/>
          </a:ln>
        </p:spPr>
      </p:sp>
      <p:sp>
        <p:nvSpPr>
          <p:cNvPr id="34" name="Part icon circle 6"/>
          <p:cNvSpPr/>
          <p:nvPr/>
        </p:nvSpPr>
        <p:spPr>
          <a:xfrm>
            <a:off x="6263640" y="3108960"/>
            <a:ext cx="640080" cy="640080"/>
          </a:xfrm>
          <a:prstGeom prst="ellipse">
            <a:avLst/>
          </a:prstGeom>
          <a:solidFill>
            <a:schemeClr val="accent6"/>
          </a:solidFill>
          <a:ln w="12700">
            <a:solidFill>
              <a:schemeClr val="accent6"/>
            </a:solidFill>
            <a:prstDash val="solid"/>
          </a:ln>
        </p:spPr>
      </p:sp>
      <p:pic>
        <p:nvPicPr>
          <p:cNvPr id="35" name="Icon FaServer" descr="FaServer"/>
          <p:cNvPicPr>
            <a:picLocks noChangeAspect="1"/>
          </p:cNvPicPr>
          <p:nvPr/>
        </p:nvPicPr>
        <p:blipFill>
          <a:blip r:embed="rId8"/>
          <a:stretch>
            <a:fillRect/>
          </a:stretch>
        </p:blipFill>
        <p:spPr>
          <a:xfrm>
            <a:off x="6436462" y="3281782"/>
            <a:ext cx="294437" cy="294437"/>
          </a:xfrm>
          <a:prstGeom prst="rect">
            <a:avLst/>
          </a:prstGeom>
        </p:spPr>
      </p:pic>
      <p:sp>
        <p:nvSpPr>
          <p:cNvPr id="36" name="Part number 6"/>
          <p:cNvSpPr txBox="1"/>
          <p:nvPr/>
        </p:nvSpPr>
        <p:spPr>
          <a:xfrm>
            <a:off x="7040880" y="3127248"/>
            <a:ext cx="1463040" cy="228600"/>
          </a:xfrm>
          <a:prstGeom prst="rect">
            <a:avLst/>
          </a:prstGeom>
          <a:noFill/>
          <a:ln/>
        </p:spPr>
        <p:txBody>
          <a:bodyPr wrap="square" lIns="0" tIns="0" rIns="0" bIns="0" rtlCol="0" anchor="ctr"/>
          <a:lstStyle/>
          <a:p>
            <a:pPr marL="0" indent="0">
              <a:buNone/>
            </a:pPr>
            <a:r>
              <a:rPr lang="en-US" sz="1100" b="1" dirty="0">
                <a:solidFill>
                  <a:schemeClr val="accent2"/>
                </a:solidFill>
              </a:rPr>
              <a:t>PART 6</a:t>
            </a:r>
            <a:endParaRPr lang="en-US" sz="1100" dirty="0"/>
          </a:p>
        </p:txBody>
      </p:sp>
      <p:sp>
        <p:nvSpPr>
          <p:cNvPr id="37" name="Part name 6"/>
          <p:cNvSpPr txBox="1"/>
          <p:nvPr/>
        </p:nvSpPr>
        <p:spPr>
          <a:xfrm>
            <a:off x="7040880" y="3355848"/>
            <a:ext cx="1554480" cy="457200"/>
          </a:xfrm>
          <a:prstGeom prst="rect">
            <a:avLst/>
          </a:prstGeom>
          <a:noFill/>
          <a:ln/>
        </p:spPr>
        <p:txBody>
          <a:bodyPr wrap="square" lIns="0" tIns="0" rIns="0" bIns="0" rtlCol="0" anchor="t"/>
          <a:lstStyle/>
          <a:p>
            <a:pPr marL="0" indent="0">
              <a:buNone/>
            </a:pPr>
            <a:r>
              <a:rPr lang="en-US" sz="1500" b="1" dirty="0">
                <a:solidFill>
                  <a:schemeClr val="tx1"/>
                </a:solidFill>
                <a:latin typeface="Cambria" pitchFamily="34" charset="0"/>
                <a:ea typeface="Cambria" pitchFamily="34" charset="-122"/>
                <a:cs typeface="Cambria" pitchFamily="34" charset="-120"/>
              </a:rPr>
              <a:t>Gateway &amp; Testing</a:t>
            </a:r>
            <a:endParaRPr lang="en-US" sz="1500" dirty="0"/>
          </a:p>
        </p:txBody>
      </p:sp>
      <p:sp>
        <p:nvSpPr>
          <p:cNvPr id="38" name="Part line 6"/>
          <p:cNvSpPr txBox="1"/>
          <p:nvPr/>
        </p:nvSpPr>
        <p:spPr>
          <a:xfrm>
            <a:off x="6263640" y="3886200"/>
            <a:ext cx="2286000" cy="457200"/>
          </a:xfrm>
          <a:prstGeom prst="rect">
            <a:avLst/>
          </a:prstGeom>
          <a:noFill/>
          <a:ln/>
        </p:spPr>
        <p:txBody>
          <a:bodyPr wrap="square" lIns="0" tIns="0" rIns="0" bIns="0" rtlCol="0" anchor="t"/>
          <a:lstStyle/>
          <a:p>
            <a:pPr marL="0" indent="0">
              <a:buNone/>
            </a:pPr>
            <a:r>
              <a:rPr lang="en-US" sz="1400" dirty="0">
                <a:solidFill>
                  <a:schemeClr val="tx2"/>
                </a:solidFill>
              </a:rPr>
              <a:t>The verifier API and the safety net</a:t>
            </a:r>
            <a:endParaRPr lang="en-US" sz="1400" dirty="0"/>
          </a:p>
        </p:txBody>
      </p:sp>
      <p:sp>
        <p:nvSpPr>
          <p:cNvPr id="39"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6309360" cy="731520"/>
          </a:xfrm>
          <a:prstGeom prst="rect">
            <a:avLst/>
          </a:prstGeom>
          <a:noFill/>
          <a:ln/>
        </p:spPr>
        <p:txBody>
          <a:bodyPr wrap="square" lIns="0" tIns="0" rIns="0" bIns="0" rtlCol="0" anchor="ctr"/>
          <a:lstStyle/>
          <a:p>
            <a:pPr marL="0" indent="0" algn="l">
              <a:buNone/>
            </a:pPr>
            <a:r>
              <a:rPr lang="en-US" sz="3600" b="1" dirty="0">
                <a:solidFill>
                  <a:schemeClr val="tx1"/>
                </a:solidFill>
              </a:rPr>
              <a:t>The ZK Circuit</a:t>
            </a:r>
            <a:endParaRPr lang="en-US" sz="3600" dirty="0"/>
          </a:p>
        </p:txBody>
      </p:sp>
      <p:sp>
        <p:nvSpPr>
          <p:cNvPr id="3" name="Part pill"/>
          <p:cNvSpPr/>
          <p:nvPr/>
        </p:nvSpPr>
        <p:spPr>
          <a:xfrm>
            <a:off x="7086600" y="457200"/>
            <a:ext cx="1600200" cy="384048"/>
          </a:xfrm>
          <a:prstGeom prst="roundRect">
            <a:avLst>
              <a:gd name="adj" fmla="val 50000"/>
            </a:avLst>
          </a:prstGeom>
          <a:solidFill>
            <a:schemeClr val="accent2"/>
          </a:solidFill>
          <a:ln w="12700">
            <a:solidFill>
              <a:schemeClr val="accent2"/>
            </a:solidFill>
            <a:prstDash val="solid"/>
          </a:ln>
        </p:spPr>
      </p:sp>
      <p:sp>
        <p:nvSpPr>
          <p:cNvPr id="4" name="Part label"/>
          <p:cNvSpPr txBox="1"/>
          <p:nvPr/>
        </p:nvSpPr>
        <p:spPr>
          <a:xfrm>
            <a:off x="7086600" y="457200"/>
            <a:ext cx="1600200" cy="384048"/>
          </a:xfrm>
          <a:prstGeom prst="rect">
            <a:avLst/>
          </a:prstGeom>
          <a:noFill/>
          <a:ln/>
        </p:spPr>
        <p:txBody>
          <a:bodyPr wrap="square" lIns="0" tIns="0" rIns="0" bIns="0" rtlCol="0" anchor="ctr"/>
          <a:lstStyle/>
          <a:p>
            <a:pPr marL="0" indent="0" algn="ctr">
              <a:buNone/>
            </a:pPr>
            <a:endParaRPr lang="en-US" sz="1100" dirty="0"/>
          </a:p>
        </p:txBody>
      </p:sp>
      <p:sp>
        <p:nvSpPr>
          <p:cNvPr id="5" name="Simple card"/>
          <p:cNvSpPr/>
          <p:nvPr/>
        </p:nvSpPr>
        <p:spPr>
          <a:xfrm>
            <a:off x="457200" y="1280160"/>
            <a:ext cx="4846320" cy="1325880"/>
          </a:xfrm>
          <a:prstGeom prst="roundRect">
            <a:avLst>
              <a:gd name="adj" fmla="val 8276"/>
            </a:avLst>
          </a:prstGeom>
          <a:solidFill>
            <a:schemeClr val="bg2"/>
          </a:solidFill>
          <a:ln w="12700">
            <a:solidFill>
              <a:schemeClr val="bg2"/>
            </a:solidFill>
            <a:prstDash val="solid"/>
          </a:ln>
        </p:spPr>
      </p:sp>
      <p:sp>
        <p:nvSpPr>
          <p:cNvPr id="6" name="Simple label"/>
          <p:cNvSpPr txBox="1"/>
          <p:nvPr/>
        </p:nvSpPr>
        <p:spPr>
          <a:xfrm>
            <a:off x="685800" y="1389888"/>
            <a:ext cx="4389120" cy="201168"/>
          </a:xfrm>
          <a:prstGeom prst="rect">
            <a:avLst/>
          </a:prstGeom>
          <a:noFill/>
          <a:ln/>
        </p:spPr>
        <p:txBody>
          <a:bodyPr wrap="square" lIns="0" tIns="0" rIns="0" bIns="0" rtlCol="0" anchor="ctr"/>
          <a:lstStyle/>
          <a:p>
            <a:pPr marL="0" indent="0">
              <a:buNone/>
            </a:pPr>
            <a:r>
              <a:rPr lang="en-US" sz="1100" b="1" dirty="0">
                <a:solidFill>
                  <a:schemeClr val="accent2"/>
                </a:solidFill>
              </a:rPr>
              <a:t>IN SIMPLE WORDS</a:t>
            </a:r>
            <a:endParaRPr lang="en-US" sz="1100" dirty="0"/>
          </a:p>
        </p:txBody>
      </p:sp>
      <p:sp>
        <p:nvSpPr>
          <p:cNvPr id="7" name="Simple text"/>
          <p:cNvSpPr txBox="1"/>
          <p:nvPr/>
        </p:nvSpPr>
        <p:spPr>
          <a:xfrm>
            <a:off x="685800" y="1645920"/>
            <a:ext cx="4389120" cy="868680"/>
          </a:xfrm>
          <a:prstGeom prst="rect">
            <a:avLst/>
          </a:prstGeom>
          <a:noFill/>
          <a:ln/>
        </p:spPr>
        <p:txBody>
          <a:bodyPr wrap="square" lIns="0" tIns="0" rIns="0" bIns="0" rtlCol="0" anchor="t"/>
          <a:lstStyle/>
          <a:p>
            <a:pPr marL="0" indent="0">
              <a:buNone/>
            </a:pPr>
            <a:r>
              <a:rPr lang="en-US" sz="1700" dirty="0">
                <a:solidFill>
                  <a:schemeClr val="tx1"/>
                </a:solidFill>
              </a:rPr>
              <a:t>The brain of the project: a math program that checks your claim without ever seeing your secrets.</a:t>
            </a:r>
            <a:endParaRPr lang="en-US" sz="1700" dirty="0"/>
          </a:p>
        </p:txBody>
      </p:sp>
      <p:sp>
        <p:nvSpPr>
          <p:cNvPr id="8" name="Built label"/>
          <p:cNvSpPr txBox="1"/>
          <p:nvPr/>
        </p:nvSpPr>
        <p:spPr>
          <a:xfrm>
            <a:off x="457200" y="2788920"/>
            <a:ext cx="3657600" cy="201168"/>
          </a:xfrm>
          <a:prstGeom prst="rect">
            <a:avLst/>
          </a:prstGeom>
          <a:noFill/>
          <a:ln/>
        </p:spPr>
        <p:txBody>
          <a:bodyPr wrap="square" lIns="0" tIns="0" rIns="0" bIns="0" rtlCol="0" anchor="ctr"/>
          <a:lstStyle/>
          <a:p>
            <a:pPr marL="0" indent="0">
              <a:buNone/>
            </a:pPr>
            <a:r>
              <a:rPr lang="en-US" sz="1100" b="1" dirty="0">
                <a:solidFill>
                  <a:schemeClr val="accent2"/>
                </a:solidFill>
              </a:rPr>
              <a:t>WHAT WE BUILT</a:t>
            </a:r>
            <a:endParaRPr lang="en-US" sz="1100" dirty="0"/>
          </a:p>
        </p:txBody>
      </p:sp>
      <p:sp>
        <p:nvSpPr>
          <p:cNvPr id="9" name="Row number circle 1"/>
          <p:cNvSpPr/>
          <p:nvPr/>
        </p:nvSpPr>
        <p:spPr>
          <a:xfrm>
            <a:off x="457200" y="3145536"/>
            <a:ext cx="310896" cy="310896"/>
          </a:xfrm>
          <a:prstGeom prst="ellipse">
            <a:avLst/>
          </a:prstGeom>
          <a:solidFill>
            <a:schemeClr val="accent2"/>
          </a:solidFill>
          <a:ln w="12700">
            <a:solidFill>
              <a:schemeClr val="accent2"/>
            </a:solidFill>
            <a:prstDash val="solid"/>
          </a:ln>
        </p:spPr>
      </p:sp>
      <p:sp>
        <p:nvSpPr>
          <p:cNvPr id="10" name="Row number 1"/>
          <p:cNvSpPr txBox="1"/>
          <p:nvPr/>
        </p:nvSpPr>
        <p:spPr>
          <a:xfrm>
            <a:off x="457200" y="3145536"/>
            <a:ext cx="310896" cy="310896"/>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Built row 1"/>
          <p:cNvSpPr txBox="1"/>
          <p:nvPr/>
        </p:nvSpPr>
        <p:spPr>
          <a:xfrm>
            <a:off x="914400" y="3108960"/>
            <a:ext cx="4389120" cy="384048"/>
          </a:xfrm>
          <a:prstGeom prst="rect">
            <a:avLst/>
          </a:prstGeom>
          <a:noFill/>
          <a:ln/>
        </p:spPr>
        <p:txBody>
          <a:bodyPr wrap="square" lIns="0" tIns="0" rIns="0" bIns="0" rtlCol="0" anchor="ctr"/>
          <a:lstStyle/>
          <a:p>
            <a:pPr marL="0" indent="0">
              <a:buNone/>
            </a:pPr>
            <a:r>
              <a:rPr lang="en-US" sz="1500" dirty="0">
                <a:solidFill>
                  <a:schemeClr val="tx1"/>
                </a:solidFill>
              </a:rPr>
              <a:t>Circuit checks age ≥ 18 and expiry</a:t>
            </a:r>
            <a:endParaRPr lang="en-US" sz="1500" dirty="0"/>
          </a:p>
        </p:txBody>
      </p:sp>
      <p:sp>
        <p:nvSpPr>
          <p:cNvPr id="12" name="Row number circle 2"/>
          <p:cNvSpPr/>
          <p:nvPr/>
        </p:nvSpPr>
        <p:spPr>
          <a:xfrm>
            <a:off x="457200" y="3602736"/>
            <a:ext cx="310896" cy="310896"/>
          </a:xfrm>
          <a:prstGeom prst="ellipse">
            <a:avLst/>
          </a:prstGeom>
          <a:solidFill>
            <a:schemeClr val="accent2"/>
          </a:solidFill>
          <a:ln w="12700">
            <a:solidFill>
              <a:schemeClr val="accent2"/>
            </a:solidFill>
            <a:prstDash val="solid"/>
          </a:ln>
        </p:spPr>
      </p:sp>
      <p:sp>
        <p:nvSpPr>
          <p:cNvPr id="13" name="Row number 2"/>
          <p:cNvSpPr txBox="1"/>
          <p:nvPr/>
        </p:nvSpPr>
        <p:spPr>
          <a:xfrm>
            <a:off x="457200" y="3602736"/>
            <a:ext cx="310896" cy="310896"/>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Built row 2"/>
          <p:cNvSpPr txBox="1"/>
          <p:nvPr/>
        </p:nvSpPr>
        <p:spPr>
          <a:xfrm>
            <a:off x="914400" y="3566160"/>
            <a:ext cx="4389120" cy="384048"/>
          </a:xfrm>
          <a:prstGeom prst="rect">
            <a:avLst/>
          </a:prstGeom>
          <a:noFill/>
          <a:ln/>
        </p:spPr>
        <p:txBody>
          <a:bodyPr wrap="square" lIns="0" tIns="0" rIns="0" bIns="0" rtlCol="0" anchor="ctr"/>
          <a:lstStyle/>
          <a:p>
            <a:pPr marL="0" indent="0">
              <a:buNone/>
            </a:pPr>
            <a:r>
              <a:rPr lang="en-US" sz="1500" dirty="0">
                <a:solidFill>
                  <a:schemeClr val="tx1"/>
                </a:solidFill>
              </a:rPr>
              <a:t>Groth16 proof: tiny and fast</a:t>
            </a:r>
            <a:endParaRPr lang="en-US" sz="1500" dirty="0"/>
          </a:p>
        </p:txBody>
      </p:sp>
      <p:sp>
        <p:nvSpPr>
          <p:cNvPr id="15" name="Row number circle 3"/>
          <p:cNvSpPr/>
          <p:nvPr/>
        </p:nvSpPr>
        <p:spPr>
          <a:xfrm>
            <a:off x="457200" y="4059936"/>
            <a:ext cx="310896" cy="310896"/>
          </a:xfrm>
          <a:prstGeom prst="ellipse">
            <a:avLst/>
          </a:prstGeom>
          <a:solidFill>
            <a:schemeClr val="accent2"/>
          </a:solidFill>
          <a:ln w="12700">
            <a:solidFill>
              <a:schemeClr val="accent2"/>
            </a:solidFill>
            <a:prstDash val="solid"/>
          </a:ln>
        </p:spPr>
      </p:sp>
      <p:sp>
        <p:nvSpPr>
          <p:cNvPr id="16" name="Row number 3"/>
          <p:cNvSpPr txBox="1"/>
          <p:nvPr/>
        </p:nvSpPr>
        <p:spPr>
          <a:xfrm>
            <a:off x="457200" y="4059936"/>
            <a:ext cx="310896" cy="310896"/>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Built row 3"/>
          <p:cNvSpPr txBox="1"/>
          <p:nvPr/>
        </p:nvSpPr>
        <p:spPr>
          <a:xfrm>
            <a:off x="914400" y="4023360"/>
            <a:ext cx="4389120" cy="384048"/>
          </a:xfrm>
          <a:prstGeom prst="rect">
            <a:avLst/>
          </a:prstGeom>
          <a:noFill/>
          <a:ln/>
        </p:spPr>
        <p:txBody>
          <a:bodyPr wrap="square" lIns="0" tIns="0" rIns="0" bIns="0" rtlCol="0" anchor="ctr"/>
          <a:lstStyle/>
          <a:p>
            <a:pPr marL="0" indent="0">
              <a:buNone/>
            </a:pPr>
            <a:r>
              <a:rPr lang="en-US" sz="1500" dirty="0">
                <a:solidFill>
                  <a:schemeClr val="tx1"/>
                </a:solidFill>
              </a:rPr>
              <a:t>Multi-party trusted setup ceremony</a:t>
            </a:r>
            <a:endParaRPr lang="en-US" sz="1500" dirty="0"/>
          </a:p>
        </p:txBody>
      </p:sp>
      <p:sp>
        <p:nvSpPr>
          <p:cNvPr id="18" name="Stat card"/>
          <p:cNvSpPr/>
          <p:nvPr/>
        </p:nvSpPr>
        <p:spPr>
          <a:xfrm>
            <a:off x="5577840" y="1280160"/>
            <a:ext cx="3108960" cy="3200400"/>
          </a:xfrm>
          <a:prstGeom prst="roundRect">
            <a:avLst>
              <a:gd name="adj" fmla="val 3529"/>
            </a:avLst>
          </a:prstGeom>
          <a:solidFill>
            <a:schemeClr val="tx1"/>
          </a:solidFill>
          <a:ln w="12700">
            <a:solidFill>
              <a:schemeClr val="tx1"/>
            </a:solidFill>
            <a:prstDash val="solid"/>
          </a:ln>
          <a:effectLst>
            <a:outerShdw blurRad="101600" dist="25400" dir="5400000" algn="bl" rotWithShape="0">
              <a:srgbClr val="000000">
                <a:alpha val="12000"/>
              </a:srgbClr>
            </a:outerShdw>
          </a:effectLst>
        </p:spPr>
      </p:sp>
      <p:sp>
        <p:nvSpPr>
          <p:cNvPr id="19" name="Stat icon circle"/>
          <p:cNvSpPr/>
          <p:nvPr/>
        </p:nvSpPr>
        <p:spPr>
          <a:xfrm>
            <a:off x="5806440" y="1417320"/>
            <a:ext cx="502920" cy="502920"/>
          </a:xfrm>
          <a:prstGeom prst="ellipse">
            <a:avLst/>
          </a:prstGeom>
          <a:solidFill>
            <a:schemeClr val="accent1"/>
          </a:solidFill>
          <a:ln w="12700">
            <a:solidFill>
              <a:schemeClr val="accent1"/>
            </a:solidFill>
            <a:prstDash val="solid"/>
          </a:ln>
        </p:spPr>
      </p:sp>
      <p:pic>
        <p:nvPicPr>
          <p:cNvPr id="20" name="Icon FaMicrochip" descr="FaMicrochip"/>
          <p:cNvPicPr>
            <a:picLocks noChangeAspect="1"/>
          </p:cNvPicPr>
          <p:nvPr/>
        </p:nvPicPr>
        <p:blipFill>
          <a:blip r:embed="rId3"/>
          <a:stretch>
            <a:fillRect/>
          </a:stretch>
        </p:blipFill>
        <p:spPr>
          <a:xfrm>
            <a:off x="5942228" y="1553108"/>
            <a:ext cx="231343" cy="231343"/>
          </a:xfrm>
          <a:prstGeom prst="rect">
            <a:avLst/>
          </a:prstGeom>
        </p:spPr>
      </p:pic>
      <p:sp>
        <p:nvSpPr>
          <p:cNvPr id="21" name="Stat number"/>
          <p:cNvSpPr txBox="1"/>
          <p:nvPr/>
        </p:nvSpPr>
        <p:spPr>
          <a:xfrm>
            <a:off x="5806440" y="2011680"/>
            <a:ext cx="2697480" cy="685800"/>
          </a:xfrm>
          <a:prstGeom prst="rect">
            <a:avLst/>
          </a:prstGeom>
          <a:noFill/>
          <a:ln/>
        </p:spPr>
        <p:txBody>
          <a:bodyPr wrap="square" lIns="0" tIns="0" rIns="0" bIns="0" rtlCol="0" anchor="ctr"/>
          <a:lstStyle/>
          <a:p>
            <a:pPr marL="0" indent="0">
              <a:buNone/>
            </a:pPr>
            <a:r>
              <a:rPr lang="en-US" sz="4000" b="1" dirty="0">
                <a:solidFill>
                  <a:schemeClr val="accent1"/>
                </a:solidFill>
                <a:latin typeface="Cambria" pitchFamily="34" charset="0"/>
                <a:ea typeface="Cambria" pitchFamily="34" charset="-122"/>
                <a:cs typeface="Cambria" pitchFamily="34" charset="-120"/>
              </a:rPr>
              <a:t>~800 B</a:t>
            </a:r>
            <a:endParaRPr lang="en-US" sz="4000" dirty="0"/>
          </a:p>
        </p:txBody>
      </p:sp>
      <p:sp>
        <p:nvSpPr>
          <p:cNvPr id="22" name="Stat label"/>
          <p:cNvSpPr txBox="1"/>
          <p:nvPr/>
        </p:nvSpPr>
        <p:spPr>
          <a:xfrm>
            <a:off x="5806440" y="2697480"/>
            <a:ext cx="2697480" cy="457200"/>
          </a:xfrm>
          <a:prstGeom prst="rect">
            <a:avLst/>
          </a:prstGeom>
          <a:noFill/>
          <a:ln/>
        </p:spPr>
        <p:txBody>
          <a:bodyPr wrap="square" lIns="0" tIns="0" rIns="0" bIns="0" rtlCol="0" anchor="t"/>
          <a:lstStyle/>
          <a:p>
            <a:pPr marL="0" indent="0">
              <a:buNone/>
            </a:pPr>
            <a:r>
              <a:rPr lang="en-US" sz="1300" dirty="0">
                <a:solidFill>
                  <a:schemeClr val="bg1"/>
                </a:solidFill>
              </a:rPr>
              <a:t>proof size, built in about 1.4 seconds in the browser</a:t>
            </a:r>
            <a:endParaRPr lang="en-US" sz="1300" dirty="0"/>
          </a:p>
        </p:txBody>
      </p:sp>
      <p:sp>
        <p:nvSpPr>
          <p:cNvPr id="23" name="Files label"/>
          <p:cNvSpPr txBox="1"/>
          <p:nvPr/>
        </p:nvSpPr>
        <p:spPr>
          <a:xfrm>
            <a:off x="5806440" y="3246120"/>
            <a:ext cx="2697480" cy="182880"/>
          </a:xfrm>
          <a:prstGeom prst="rect">
            <a:avLst/>
          </a:prstGeom>
          <a:noFill/>
          <a:ln/>
        </p:spPr>
        <p:txBody>
          <a:bodyPr wrap="square" lIns="0" tIns="0" rIns="0" bIns="0" rtlCol="0" anchor="ctr"/>
          <a:lstStyle/>
          <a:p>
            <a:pPr marL="0" indent="0">
              <a:buNone/>
            </a:pPr>
            <a:r>
              <a:rPr lang="en-US" sz="1000" b="1" dirty="0">
                <a:solidFill>
                  <a:schemeClr val="accent6"/>
                </a:solidFill>
              </a:rPr>
              <a:t>KEY FILES</a:t>
            </a:r>
            <a:endParaRPr lang="en-US" sz="1000" dirty="0"/>
          </a:p>
        </p:txBody>
      </p:sp>
      <p:sp>
        <p:nvSpPr>
          <p:cNvPr id="24" name="Files list"/>
          <p:cNvSpPr txBox="1"/>
          <p:nvPr/>
        </p:nvSpPr>
        <p:spPr>
          <a:xfrm>
            <a:off x="5806440" y="3474720"/>
            <a:ext cx="2697480" cy="914400"/>
          </a:xfrm>
          <a:prstGeom prst="rect">
            <a:avLst/>
          </a:prstGeom>
          <a:noFill/>
          <a:ln/>
        </p:spPr>
        <p:txBody>
          <a:bodyPr wrap="square" lIns="0" tIns="0" rIns="0" bIns="0" rtlCol="0" anchor="t"/>
          <a:lstStyle/>
          <a:p>
            <a:pPr marL="0" indent="0">
              <a:spcAft>
                <a:spcPts val="200"/>
              </a:spcAft>
              <a:buNone/>
            </a:pPr>
            <a:r>
              <a:rPr lang="en-US" sz="1100" dirty="0">
                <a:solidFill>
                  <a:schemeClr val="bg1"/>
                </a:solidFill>
                <a:latin typeface="Courier New" pitchFamily="34" charset="0"/>
                <a:ea typeface="Courier New" pitchFamily="34" charset="-122"/>
                <a:cs typeface="Courier New" pitchFamily="34" charset="-120"/>
              </a:rPr>
              <a:t>selective_disclosure.circom</a:t>
            </a:r>
            <a:endParaRPr lang="en-US" sz="1100" dirty="0"/>
          </a:p>
          <a:p>
            <a:pPr marL="0" indent="0">
              <a:spcAft>
                <a:spcPts val="200"/>
              </a:spcAft>
              <a:buNone/>
            </a:pPr>
            <a:r>
              <a:rPr lang="en-US" sz="1100" dirty="0">
                <a:solidFill>
                  <a:schemeClr val="bg1"/>
                </a:solidFill>
                <a:latin typeface="Courier New" pitchFamily="34" charset="0"/>
                <a:ea typeface="Courier New" pitchFamily="34" charset="-122"/>
                <a:cs typeface="Courier New" pitchFamily="34" charset="-120"/>
              </a:rPr>
              <a:t>circuit_final.zkey</a:t>
            </a:r>
            <a:endParaRPr lang="en-US" sz="1100" dirty="0"/>
          </a:p>
          <a:p>
            <a:pPr marL="0" indent="0">
              <a:spcAft>
                <a:spcPts val="200"/>
              </a:spcAft>
              <a:buNone/>
            </a:pPr>
            <a:r>
              <a:rPr lang="en-US" sz="1100" dirty="0">
                <a:solidFill>
                  <a:schemeClr val="bg1"/>
                </a:solidFill>
                <a:latin typeface="Courier New" pitchFamily="34" charset="0"/>
                <a:ea typeface="Courier New" pitchFamily="34" charset="-122"/>
                <a:cs typeface="Courier New" pitchFamily="34" charset="-120"/>
              </a:rPr>
              <a:t>scripts/ceremony/</a:t>
            </a:r>
            <a:endParaRPr lang="en-US" sz="1100" dirty="0"/>
          </a:p>
          <a:p>
            <a:pPr marL="0" indent="0">
              <a:spcAft>
                <a:spcPts val="200"/>
              </a:spcAft>
              <a:buNone/>
            </a:pPr>
            <a:r>
              <a:rPr lang="en-US" sz="1100" dirty="0">
                <a:solidFill>
                  <a:schemeClr val="bg1"/>
                </a:solidFill>
                <a:latin typeface="Courier New" pitchFamily="34" charset="0"/>
                <a:ea typeface="Courier New" pitchFamily="34" charset="-122"/>
                <a:cs typeface="Courier New" pitchFamily="34" charset="-120"/>
              </a:rPr>
              <a:t>CEREMONY.md</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6309360" cy="731520"/>
          </a:xfrm>
          <a:prstGeom prst="rect">
            <a:avLst/>
          </a:prstGeom>
          <a:noFill/>
          <a:ln/>
        </p:spPr>
        <p:txBody>
          <a:bodyPr wrap="square" lIns="0" tIns="0" rIns="0" bIns="0" rtlCol="0" anchor="ctr"/>
          <a:lstStyle/>
          <a:p>
            <a:pPr marL="0" indent="0" algn="l">
              <a:buNone/>
            </a:pPr>
            <a:r>
              <a:rPr lang="en-US" sz="3600" b="1" dirty="0">
                <a:solidFill>
                  <a:schemeClr val="tx1"/>
                </a:solidFill>
              </a:rPr>
              <a:t>Issuer &amp; Revocation</a:t>
            </a:r>
            <a:endParaRPr lang="en-US" sz="3600" dirty="0"/>
          </a:p>
        </p:txBody>
      </p:sp>
      <p:sp>
        <p:nvSpPr>
          <p:cNvPr id="3" name="Part pill"/>
          <p:cNvSpPr/>
          <p:nvPr/>
        </p:nvSpPr>
        <p:spPr>
          <a:xfrm>
            <a:off x="7086600" y="457200"/>
            <a:ext cx="1600200" cy="384048"/>
          </a:xfrm>
          <a:prstGeom prst="roundRect">
            <a:avLst>
              <a:gd name="adj" fmla="val 50000"/>
            </a:avLst>
          </a:prstGeom>
          <a:solidFill>
            <a:schemeClr val="accent2"/>
          </a:solidFill>
          <a:ln w="12700">
            <a:solidFill>
              <a:schemeClr val="accent2"/>
            </a:solidFill>
            <a:prstDash val="solid"/>
          </a:ln>
        </p:spPr>
      </p:sp>
      <p:sp>
        <p:nvSpPr>
          <p:cNvPr id="4" name="Part label"/>
          <p:cNvSpPr txBox="1"/>
          <p:nvPr/>
        </p:nvSpPr>
        <p:spPr>
          <a:xfrm>
            <a:off x="7086600" y="457200"/>
            <a:ext cx="1600200" cy="384048"/>
          </a:xfrm>
          <a:prstGeom prst="rect">
            <a:avLst/>
          </a:prstGeom>
          <a:noFill/>
          <a:ln/>
        </p:spPr>
        <p:txBody>
          <a:bodyPr wrap="square" lIns="0" tIns="0" rIns="0" bIns="0" rtlCol="0" anchor="ctr"/>
          <a:lstStyle/>
          <a:p>
            <a:pPr marL="0" indent="0" algn="ctr">
              <a:buNone/>
            </a:pPr>
            <a:endParaRPr lang="en-US" sz="1100" dirty="0"/>
          </a:p>
        </p:txBody>
      </p:sp>
      <p:sp>
        <p:nvSpPr>
          <p:cNvPr id="5" name="Simple card"/>
          <p:cNvSpPr/>
          <p:nvPr/>
        </p:nvSpPr>
        <p:spPr>
          <a:xfrm>
            <a:off x="457200" y="1280160"/>
            <a:ext cx="4846320" cy="1325880"/>
          </a:xfrm>
          <a:prstGeom prst="roundRect">
            <a:avLst>
              <a:gd name="adj" fmla="val 8276"/>
            </a:avLst>
          </a:prstGeom>
          <a:solidFill>
            <a:schemeClr val="bg2"/>
          </a:solidFill>
          <a:ln w="12700">
            <a:solidFill>
              <a:schemeClr val="bg2"/>
            </a:solidFill>
            <a:prstDash val="solid"/>
          </a:ln>
        </p:spPr>
      </p:sp>
      <p:sp>
        <p:nvSpPr>
          <p:cNvPr id="6" name="Simple label"/>
          <p:cNvSpPr txBox="1"/>
          <p:nvPr/>
        </p:nvSpPr>
        <p:spPr>
          <a:xfrm>
            <a:off x="685800" y="1389888"/>
            <a:ext cx="4389120" cy="201168"/>
          </a:xfrm>
          <a:prstGeom prst="rect">
            <a:avLst/>
          </a:prstGeom>
          <a:noFill/>
          <a:ln/>
        </p:spPr>
        <p:txBody>
          <a:bodyPr wrap="square" lIns="0" tIns="0" rIns="0" bIns="0" rtlCol="0" anchor="ctr"/>
          <a:lstStyle/>
          <a:p>
            <a:pPr marL="0" indent="0">
              <a:buNone/>
            </a:pPr>
            <a:r>
              <a:rPr lang="en-US" sz="1100" b="1" dirty="0">
                <a:solidFill>
                  <a:schemeClr val="accent2"/>
                </a:solidFill>
              </a:rPr>
              <a:t>IN SIMPLE WORDS</a:t>
            </a:r>
            <a:endParaRPr lang="en-US" sz="1100" dirty="0"/>
          </a:p>
        </p:txBody>
      </p:sp>
      <p:sp>
        <p:nvSpPr>
          <p:cNvPr id="7" name="Simple text"/>
          <p:cNvSpPr txBox="1"/>
          <p:nvPr/>
        </p:nvSpPr>
        <p:spPr>
          <a:xfrm>
            <a:off x="685800" y="1645920"/>
            <a:ext cx="4389120" cy="868680"/>
          </a:xfrm>
          <a:prstGeom prst="rect">
            <a:avLst/>
          </a:prstGeom>
          <a:noFill/>
          <a:ln/>
        </p:spPr>
        <p:txBody>
          <a:bodyPr wrap="square" lIns="0" tIns="0" rIns="0" bIns="0" rtlCol="0" anchor="t"/>
          <a:lstStyle/>
          <a:p>
            <a:pPr marL="0" indent="0">
              <a:buNone/>
            </a:pPr>
            <a:r>
              <a:rPr lang="en-US" sz="1700" dirty="0">
                <a:solidFill>
                  <a:schemeClr val="tx1"/>
                </a:solidFill>
              </a:rPr>
              <a:t>A trusted authority signs your details once, and can cancel them later without tracking you.</a:t>
            </a:r>
            <a:endParaRPr lang="en-US" sz="1700" dirty="0"/>
          </a:p>
        </p:txBody>
      </p:sp>
      <p:sp>
        <p:nvSpPr>
          <p:cNvPr id="8" name="Built label"/>
          <p:cNvSpPr txBox="1"/>
          <p:nvPr/>
        </p:nvSpPr>
        <p:spPr>
          <a:xfrm>
            <a:off x="457200" y="2788920"/>
            <a:ext cx="3657600" cy="201168"/>
          </a:xfrm>
          <a:prstGeom prst="rect">
            <a:avLst/>
          </a:prstGeom>
          <a:noFill/>
          <a:ln/>
        </p:spPr>
        <p:txBody>
          <a:bodyPr wrap="square" lIns="0" tIns="0" rIns="0" bIns="0" rtlCol="0" anchor="ctr"/>
          <a:lstStyle/>
          <a:p>
            <a:pPr marL="0" indent="0">
              <a:buNone/>
            </a:pPr>
            <a:r>
              <a:rPr lang="en-US" sz="1100" b="1" dirty="0">
                <a:solidFill>
                  <a:schemeClr val="accent2"/>
                </a:solidFill>
              </a:rPr>
              <a:t>WHAT WE BUILT</a:t>
            </a:r>
            <a:endParaRPr lang="en-US" sz="1100" dirty="0"/>
          </a:p>
        </p:txBody>
      </p:sp>
      <p:sp>
        <p:nvSpPr>
          <p:cNvPr id="9" name="Row number circle 1"/>
          <p:cNvSpPr/>
          <p:nvPr/>
        </p:nvSpPr>
        <p:spPr>
          <a:xfrm>
            <a:off x="457200" y="3145536"/>
            <a:ext cx="310896" cy="310896"/>
          </a:xfrm>
          <a:prstGeom prst="ellipse">
            <a:avLst/>
          </a:prstGeom>
          <a:solidFill>
            <a:schemeClr val="accent2"/>
          </a:solidFill>
          <a:ln w="12700">
            <a:solidFill>
              <a:schemeClr val="accent2"/>
            </a:solidFill>
            <a:prstDash val="solid"/>
          </a:ln>
        </p:spPr>
      </p:sp>
      <p:sp>
        <p:nvSpPr>
          <p:cNvPr id="10" name="Row number 1"/>
          <p:cNvSpPr txBox="1"/>
          <p:nvPr/>
        </p:nvSpPr>
        <p:spPr>
          <a:xfrm>
            <a:off x="457200" y="3145536"/>
            <a:ext cx="310896" cy="310896"/>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Built row 1"/>
          <p:cNvSpPr txBox="1"/>
          <p:nvPr/>
        </p:nvSpPr>
        <p:spPr>
          <a:xfrm>
            <a:off x="914400" y="3108960"/>
            <a:ext cx="4389120" cy="384048"/>
          </a:xfrm>
          <a:prstGeom prst="rect">
            <a:avLst/>
          </a:prstGeom>
          <a:noFill/>
          <a:ln/>
        </p:spPr>
        <p:txBody>
          <a:bodyPr wrap="square" lIns="0" tIns="0" rIns="0" bIns="0" rtlCol="0" anchor="ctr"/>
          <a:lstStyle/>
          <a:p>
            <a:pPr marL="0" indent="0">
              <a:buNone/>
            </a:pPr>
            <a:r>
              <a:rPr lang="en-US" sz="1500" dirty="0">
                <a:solidFill>
                  <a:schemeClr val="tx1"/>
                </a:solidFill>
              </a:rPr>
              <a:t>Each detail locked in a salted box</a:t>
            </a:r>
            <a:endParaRPr lang="en-US" sz="1500" dirty="0"/>
          </a:p>
        </p:txBody>
      </p:sp>
      <p:sp>
        <p:nvSpPr>
          <p:cNvPr id="12" name="Row number circle 2"/>
          <p:cNvSpPr/>
          <p:nvPr/>
        </p:nvSpPr>
        <p:spPr>
          <a:xfrm>
            <a:off x="457200" y="3602736"/>
            <a:ext cx="310896" cy="310896"/>
          </a:xfrm>
          <a:prstGeom prst="ellipse">
            <a:avLst/>
          </a:prstGeom>
          <a:solidFill>
            <a:schemeClr val="accent2"/>
          </a:solidFill>
          <a:ln w="12700">
            <a:solidFill>
              <a:schemeClr val="accent2"/>
            </a:solidFill>
            <a:prstDash val="solid"/>
          </a:ln>
        </p:spPr>
      </p:sp>
      <p:sp>
        <p:nvSpPr>
          <p:cNvPr id="13" name="Row number 2"/>
          <p:cNvSpPr txBox="1"/>
          <p:nvPr/>
        </p:nvSpPr>
        <p:spPr>
          <a:xfrm>
            <a:off x="457200" y="3602736"/>
            <a:ext cx="310896" cy="310896"/>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Built row 2"/>
          <p:cNvSpPr txBox="1"/>
          <p:nvPr/>
        </p:nvSpPr>
        <p:spPr>
          <a:xfrm>
            <a:off x="914400" y="3566160"/>
            <a:ext cx="4389120" cy="384048"/>
          </a:xfrm>
          <a:prstGeom prst="rect">
            <a:avLst/>
          </a:prstGeom>
          <a:noFill/>
          <a:ln/>
        </p:spPr>
        <p:txBody>
          <a:bodyPr wrap="square" lIns="0" tIns="0" rIns="0" bIns="0" rtlCol="0" anchor="ctr"/>
          <a:lstStyle/>
          <a:p>
            <a:pPr marL="0" indent="0">
              <a:buNone/>
            </a:pPr>
            <a:r>
              <a:rPr lang="en-US" sz="1500" dirty="0">
                <a:solidFill>
                  <a:schemeClr val="tx1"/>
                </a:solidFill>
              </a:rPr>
              <a:t>Issuer signs one root, not your data</a:t>
            </a:r>
            <a:endParaRPr lang="en-US" sz="1500" dirty="0"/>
          </a:p>
        </p:txBody>
      </p:sp>
      <p:sp>
        <p:nvSpPr>
          <p:cNvPr id="15" name="Row number circle 3"/>
          <p:cNvSpPr/>
          <p:nvPr/>
        </p:nvSpPr>
        <p:spPr>
          <a:xfrm>
            <a:off x="457200" y="4059936"/>
            <a:ext cx="310896" cy="310896"/>
          </a:xfrm>
          <a:prstGeom prst="ellipse">
            <a:avLst/>
          </a:prstGeom>
          <a:solidFill>
            <a:schemeClr val="accent2"/>
          </a:solidFill>
          <a:ln w="12700">
            <a:solidFill>
              <a:schemeClr val="accent2"/>
            </a:solidFill>
            <a:prstDash val="solid"/>
          </a:ln>
        </p:spPr>
      </p:sp>
      <p:sp>
        <p:nvSpPr>
          <p:cNvPr id="16" name="Row number 3"/>
          <p:cNvSpPr txBox="1"/>
          <p:nvPr/>
        </p:nvSpPr>
        <p:spPr>
          <a:xfrm>
            <a:off x="457200" y="4059936"/>
            <a:ext cx="310896" cy="310896"/>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Built row 3"/>
          <p:cNvSpPr txBox="1"/>
          <p:nvPr/>
        </p:nvSpPr>
        <p:spPr>
          <a:xfrm>
            <a:off x="914400" y="4023360"/>
            <a:ext cx="4389120" cy="384048"/>
          </a:xfrm>
          <a:prstGeom prst="rect">
            <a:avLst/>
          </a:prstGeom>
          <a:noFill/>
          <a:ln/>
        </p:spPr>
        <p:txBody>
          <a:bodyPr wrap="square" lIns="0" tIns="0" rIns="0" bIns="0" rtlCol="0" anchor="ctr"/>
          <a:lstStyle/>
          <a:p>
            <a:pPr marL="0" indent="0">
              <a:buNone/>
            </a:pPr>
            <a:r>
              <a:rPr lang="en-US" sz="1500" dirty="0">
                <a:solidFill>
                  <a:schemeClr val="tx1"/>
                </a:solidFill>
              </a:rPr>
              <a:t>Revocation list as sparse Merkle tree</a:t>
            </a:r>
            <a:endParaRPr lang="en-US" sz="1500" dirty="0"/>
          </a:p>
        </p:txBody>
      </p:sp>
      <p:sp>
        <p:nvSpPr>
          <p:cNvPr id="18" name="Stat card"/>
          <p:cNvSpPr/>
          <p:nvPr/>
        </p:nvSpPr>
        <p:spPr>
          <a:xfrm>
            <a:off x="5577840" y="1280160"/>
            <a:ext cx="3108960" cy="3200400"/>
          </a:xfrm>
          <a:prstGeom prst="roundRect">
            <a:avLst>
              <a:gd name="adj" fmla="val 3529"/>
            </a:avLst>
          </a:prstGeom>
          <a:solidFill>
            <a:schemeClr val="tx1"/>
          </a:solidFill>
          <a:ln w="12700">
            <a:solidFill>
              <a:schemeClr val="tx1"/>
            </a:solidFill>
            <a:prstDash val="solid"/>
          </a:ln>
          <a:effectLst>
            <a:outerShdw blurRad="101600" dist="25400" dir="5400000" algn="bl" rotWithShape="0">
              <a:srgbClr val="000000">
                <a:alpha val="12000"/>
              </a:srgbClr>
            </a:outerShdw>
          </a:effectLst>
        </p:spPr>
      </p:sp>
      <p:sp>
        <p:nvSpPr>
          <p:cNvPr id="19" name="Stat icon circle"/>
          <p:cNvSpPr/>
          <p:nvPr/>
        </p:nvSpPr>
        <p:spPr>
          <a:xfrm>
            <a:off x="5806440" y="1417320"/>
            <a:ext cx="502920" cy="502920"/>
          </a:xfrm>
          <a:prstGeom prst="ellipse">
            <a:avLst/>
          </a:prstGeom>
          <a:solidFill>
            <a:schemeClr val="accent1"/>
          </a:solidFill>
          <a:ln w="12700">
            <a:solidFill>
              <a:schemeClr val="accent1"/>
            </a:solidFill>
            <a:prstDash val="solid"/>
          </a:ln>
        </p:spPr>
      </p:sp>
      <p:pic>
        <p:nvPicPr>
          <p:cNvPr id="20" name="Icon FaUniversity" descr="FaUniversity"/>
          <p:cNvPicPr>
            <a:picLocks noChangeAspect="1"/>
          </p:cNvPicPr>
          <p:nvPr/>
        </p:nvPicPr>
        <p:blipFill>
          <a:blip r:embed="rId3"/>
          <a:stretch>
            <a:fillRect/>
          </a:stretch>
        </p:blipFill>
        <p:spPr>
          <a:xfrm>
            <a:off x="5942228" y="1553108"/>
            <a:ext cx="231343" cy="231343"/>
          </a:xfrm>
          <a:prstGeom prst="rect">
            <a:avLst/>
          </a:prstGeom>
        </p:spPr>
      </p:pic>
      <p:sp>
        <p:nvSpPr>
          <p:cNvPr id="21" name="Stat number"/>
          <p:cNvSpPr txBox="1"/>
          <p:nvPr/>
        </p:nvSpPr>
        <p:spPr>
          <a:xfrm>
            <a:off x="5806440" y="2011680"/>
            <a:ext cx="2697480" cy="685800"/>
          </a:xfrm>
          <a:prstGeom prst="rect">
            <a:avLst/>
          </a:prstGeom>
          <a:noFill/>
          <a:ln/>
        </p:spPr>
        <p:txBody>
          <a:bodyPr wrap="square" lIns="0" tIns="0" rIns="0" bIns="0" rtlCol="0" anchor="ctr"/>
          <a:lstStyle/>
          <a:p>
            <a:pPr marL="0" indent="0">
              <a:buNone/>
            </a:pPr>
            <a:r>
              <a:rPr lang="en-US" sz="4000" b="1" dirty="0">
                <a:solidFill>
                  <a:schemeClr val="accent1"/>
                </a:solidFill>
                <a:latin typeface="Cambria" pitchFamily="34" charset="0"/>
                <a:ea typeface="Cambria" pitchFamily="34" charset="-122"/>
                <a:cs typeface="Cambria" pitchFamily="34" charset="-120"/>
              </a:rPr>
              <a:t>1M+</a:t>
            </a:r>
            <a:endParaRPr lang="en-US" sz="4000" dirty="0"/>
          </a:p>
        </p:txBody>
      </p:sp>
      <p:sp>
        <p:nvSpPr>
          <p:cNvPr id="22" name="Stat label"/>
          <p:cNvSpPr txBox="1"/>
          <p:nvPr/>
        </p:nvSpPr>
        <p:spPr>
          <a:xfrm>
            <a:off x="5806440" y="2697480"/>
            <a:ext cx="2697480" cy="457200"/>
          </a:xfrm>
          <a:prstGeom prst="rect">
            <a:avLst/>
          </a:prstGeom>
          <a:noFill/>
          <a:ln/>
        </p:spPr>
        <p:txBody>
          <a:bodyPr wrap="square" lIns="0" tIns="0" rIns="0" bIns="0" rtlCol="0" anchor="t"/>
          <a:lstStyle/>
          <a:p>
            <a:pPr marL="0" indent="0">
              <a:buNone/>
            </a:pPr>
            <a:r>
              <a:rPr lang="en-US" sz="1300" dirty="0">
                <a:solidFill>
                  <a:schemeClr val="bg1"/>
                </a:solidFill>
              </a:rPr>
              <a:t>revocable credential slots in a 20-level tree</a:t>
            </a:r>
            <a:endParaRPr lang="en-US" sz="1300" dirty="0"/>
          </a:p>
        </p:txBody>
      </p:sp>
      <p:sp>
        <p:nvSpPr>
          <p:cNvPr id="23" name="Files label"/>
          <p:cNvSpPr txBox="1"/>
          <p:nvPr/>
        </p:nvSpPr>
        <p:spPr>
          <a:xfrm>
            <a:off x="5806440" y="3246120"/>
            <a:ext cx="2697480" cy="182880"/>
          </a:xfrm>
          <a:prstGeom prst="rect">
            <a:avLst/>
          </a:prstGeom>
          <a:noFill/>
          <a:ln/>
        </p:spPr>
        <p:txBody>
          <a:bodyPr wrap="square" lIns="0" tIns="0" rIns="0" bIns="0" rtlCol="0" anchor="ctr"/>
          <a:lstStyle/>
          <a:p>
            <a:pPr marL="0" indent="0">
              <a:buNone/>
            </a:pPr>
            <a:r>
              <a:rPr lang="en-US" sz="1000" b="1" dirty="0">
                <a:solidFill>
                  <a:schemeClr val="accent6"/>
                </a:solidFill>
              </a:rPr>
              <a:t>KEY FILES</a:t>
            </a:r>
            <a:endParaRPr lang="en-US" sz="1000" dirty="0"/>
          </a:p>
        </p:txBody>
      </p:sp>
      <p:sp>
        <p:nvSpPr>
          <p:cNvPr id="24" name="Files list"/>
          <p:cNvSpPr txBox="1"/>
          <p:nvPr/>
        </p:nvSpPr>
        <p:spPr>
          <a:xfrm>
            <a:off x="5806440" y="3474720"/>
            <a:ext cx="2697480" cy="914400"/>
          </a:xfrm>
          <a:prstGeom prst="rect">
            <a:avLst/>
          </a:prstGeom>
          <a:noFill/>
          <a:ln/>
        </p:spPr>
        <p:txBody>
          <a:bodyPr wrap="square" lIns="0" tIns="0" rIns="0" bIns="0" rtlCol="0" anchor="t"/>
          <a:lstStyle/>
          <a:p>
            <a:pPr marL="0" indent="0">
              <a:spcAft>
                <a:spcPts val="200"/>
              </a:spcAft>
              <a:buNone/>
            </a:pPr>
            <a:r>
              <a:rPr lang="en-US" sz="1100" dirty="0">
                <a:solidFill>
                  <a:schemeClr val="bg1"/>
                </a:solidFill>
                <a:latin typeface="Courier New" pitchFamily="34" charset="0"/>
                <a:ea typeface="Courier New" pitchFamily="34" charset="-122"/>
                <a:cs typeface="Courier New" pitchFamily="34" charset="-120"/>
              </a:rPr>
              <a:t>issuer-core.js</a:t>
            </a:r>
            <a:endParaRPr lang="en-US" sz="1100" dirty="0"/>
          </a:p>
          <a:p>
            <a:pPr marL="0" indent="0">
              <a:spcAft>
                <a:spcPts val="200"/>
              </a:spcAft>
              <a:buNone/>
            </a:pPr>
            <a:r>
              <a:rPr lang="en-US" sz="1100" dirty="0">
                <a:solidFill>
                  <a:schemeClr val="bg1"/>
                </a:solidFill>
                <a:latin typeface="Courier New" pitchFamily="34" charset="0"/>
                <a:ea typeface="Courier New" pitchFamily="34" charset="-122"/>
                <a:cs typeface="Courier New" pitchFamily="34" charset="-120"/>
              </a:rPr>
              <a:t>revocation.js</a:t>
            </a:r>
            <a:endParaRPr lang="en-US" sz="1100" dirty="0"/>
          </a:p>
          <a:p>
            <a:pPr marL="0" indent="0">
              <a:spcAft>
                <a:spcPts val="200"/>
              </a:spcAft>
              <a:buNone/>
            </a:pPr>
            <a:r>
              <a:rPr lang="en-US" sz="1100" dirty="0">
                <a:solidFill>
                  <a:schemeClr val="bg1"/>
                </a:solidFill>
                <a:latin typeface="Courier New" pitchFamily="34" charset="0"/>
                <a:ea typeface="Courier New" pitchFamily="34" charset="-122"/>
                <a:cs typeface="Courier New" pitchFamily="34" charset="-120"/>
              </a:rPr>
              <a:t>issuer.js</a:t>
            </a:r>
            <a:endParaRPr lang="en-US" sz="1100" dirty="0"/>
          </a:p>
          <a:p>
            <a:pPr marL="0" indent="0">
              <a:spcAft>
                <a:spcPts val="200"/>
              </a:spcAft>
              <a:buNone/>
            </a:pPr>
            <a:r>
              <a:rPr lang="en-US" sz="1100" dirty="0">
                <a:solidFill>
                  <a:schemeClr val="bg1"/>
                </a:solidFill>
                <a:latin typeface="Courier New" pitchFamily="34" charset="0"/>
                <a:ea typeface="Courier New" pitchFamily="34" charset="-122"/>
                <a:cs typeface="Courier New" pitchFamily="34" charset="-120"/>
              </a:rPr>
              <a:t>common.js</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6309360" cy="731520"/>
          </a:xfrm>
          <a:prstGeom prst="rect">
            <a:avLst/>
          </a:prstGeom>
          <a:noFill/>
          <a:ln/>
        </p:spPr>
        <p:txBody>
          <a:bodyPr wrap="square" lIns="0" tIns="0" rIns="0" bIns="0" rtlCol="0" anchor="ctr"/>
          <a:lstStyle/>
          <a:p>
            <a:pPr marL="0" indent="0" algn="l">
              <a:buNone/>
            </a:pPr>
            <a:r>
              <a:rPr lang="en-US" sz="3600" b="1" dirty="0">
                <a:solidFill>
                  <a:schemeClr val="tx1"/>
                </a:solidFill>
              </a:rPr>
              <a:t>Identity Proofing</a:t>
            </a:r>
            <a:endParaRPr lang="en-US" sz="3600" dirty="0"/>
          </a:p>
        </p:txBody>
      </p:sp>
      <p:sp>
        <p:nvSpPr>
          <p:cNvPr id="3" name="Part pill"/>
          <p:cNvSpPr/>
          <p:nvPr/>
        </p:nvSpPr>
        <p:spPr>
          <a:xfrm>
            <a:off x="7086600" y="457200"/>
            <a:ext cx="1600200" cy="384048"/>
          </a:xfrm>
          <a:prstGeom prst="roundRect">
            <a:avLst>
              <a:gd name="adj" fmla="val 50000"/>
            </a:avLst>
          </a:prstGeom>
          <a:solidFill>
            <a:schemeClr val="accent2"/>
          </a:solidFill>
          <a:ln w="12700">
            <a:solidFill>
              <a:schemeClr val="accent2"/>
            </a:solidFill>
            <a:prstDash val="solid"/>
          </a:ln>
        </p:spPr>
      </p:sp>
      <p:sp>
        <p:nvSpPr>
          <p:cNvPr id="4" name="Part label"/>
          <p:cNvSpPr txBox="1"/>
          <p:nvPr/>
        </p:nvSpPr>
        <p:spPr>
          <a:xfrm>
            <a:off x="7086600" y="457200"/>
            <a:ext cx="1600200" cy="384048"/>
          </a:xfrm>
          <a:prstGeom prst="rect">
            <a:avLst/>
          </a:prstGeom>
          <a:noFill/>
          <a:ln/>
        </p:spPr>
        <p:txBody>
          <a:bodyPr wrap="square" lIns="0" tIns="0" rIns="0" bIns="0" rtlCol="0" anchor="ctr"/>
          <a:lstStyle/>
          <a:p>
            <a:pPr marL="0" indent="0" algn="ctr">
              <a:buNone/>
            </a:pPr>
            <a:endParaRPr lang="en-US" sz="1100" dirty="0"/>
          </a:p>
        </p:txBody>
      </p:sp>
      <p:sp>
        <p:nvSpPr>
          <p:cNvPr id="5" name="Simple card"/>
          <p:cNvSpPr/>
          <p:nvPr/>
        </p:nvSpPr>
        <p:spPr>
          <a:xfrm>
            <a:off x="457200" y="1280160"/>
            <a:ext cx="4846320" cy="1325880"/>
          </a:xfrm>
          <a:prstGeom prst="roundRect">
            <a:avLst>
              <a:gd name="adj" fmla="val 8276"/>
            </a:avLst>
          </a:prstGeom>
          <a:solidFill>
            <a:schemeClr val="bg2"/>
          </a:solidFill>
          <a:ln w="12700">
            <a:solidFill>
              <a:schemeClr val="bg2"/>
            </a:solidFill>
            <a:prstDash val="solid"/>
          </a:ln>
        </p:spPr>
      </p:sp>
      <p:sp>
        <p:nvSpPr>
          <p:cNvPr id="6" name="Simple label"/>
          <p:cNvSpPr txBox="1"/>
          <p:nvPr/>
        </p:nvSpPr>
        <p:spPr>
          <a:xfrm>
            <a:off x="685800" y="1389888"/>
            <a:ext cx="4389120" cy="201168"/>
          </a:xfrm>
          <a:prstGeom prst="rect">
            <a:avLst/>
          </a:prstGeom>
          <a:noFill/>
          <a:ln/>
        </p:spPr>
        <p:txBody>
          <a:bodyPr wrap="square" lIns="0" tIns="0" rIns="0" bIns="0" rtlCol="0" anchor="ctr"/>
          <a:lstStyle/>
          <a:p>
            <a:pPr marL="0" indent="0">
              <a:buNone/>
            </a:pPr>
            <a:r>
              <a:rPr lang="en-US" sz="1100" b="1" dirty="0">
                <a:solidFill>
                  <a:schemeClr val="accent2"/>
                </a:solidFill>
              </a:rPr>
              <a:t>IN SIMPLE WORDS</a:t>
            </a:r>
            <a:endParaRPr lang="en-US" sz="1100" dirty="0"/>
          </a:p>
        </p:txBody>
      </p:sp>
      <p:sp>
        <p:nvSpPr>
          <p:cNvPr id="7" name="Simple text"/>
          <p:cNvSpPr txBox="1"/>
          <p:nvPr/>
        </p:nvSpPr>
        <p:spPr>
          <a:xfrm>
            <a:off x="685800" y="1645920"/>
            <a:ext cx="4389120" cy="868680"/>
          </a:xfrm>
          <a:prstGeom prst="rect">
            <a:avLst/>
          </a:prstGeom>
          <a:noFill/>
          <a:ln/>
        </p:spPr>
        <p:txBody>
          <a:bodyPr wrap="square" lIns="0" tIns="0" rIns="0" bIns="0" rtlCol="0" anchor="t"/>
          <a:lstStyle/>
          <a:p>
            <a:pPr marL="0" indent="0">
              <a:buNone/>
            </a:pPr>
            <a:r>
              <a:rPr lang="en-US" sz="1700" dirty="0">
                <a:solidFill>
                  <a:schemeClr val="tx1"/>
                </a:solidFill>
              </a:rPr>
              <a:t>We check your ID is real and that the live face matches it, all on your own device.</a:t>
            </a:r>
            <a:endParaRPr lang="en-US" sz="1700" dirty="0"/>
          </a:p>
        </p:txBody>
      </p:sp>
      <p:sp>
        <p:nvSpPr>
          <p:cNvPr id="8" name="Built label"/>
          <p:cNvSpPr txBox="1"/>
          <p:nvPr/>
        </p:nvSpPr>
        <p:spPr>
          <a:xfrm>
            <a:off x="457200" y="2788920"/>
            <a:ext cx="3657600" cy="201168"/>
          </a:xfrm>
          <a:prstGeom prst="rect">
            <a:avLst/>
          </a:prstGeom>
          <a:noFill/>
          <a:ln/>
        </p:spPr>
        <p:txBody>
          <a:bodyPr wrap="square" lIns="0" tIns="0" rIns="0" bIns="0" rtlCol="0" anchor="ctr"/>
          <a:lstStyle/>
          <a:p>
            <a:pPr marL="0" indent="0">
              <a:buNone/>
            </a:pPr>
            <a:r>
              <a:rPr lang="en-US" sz="1100" b="1" dirty="0">
                <a:solidFill>
                  <a:schemeClr val="accent2"/>
                </a:solidFill>
              </a:rPr>
              <a:t>WHAT WE BUILT</a:t>
            </a:r>
            <a:endParaRPr lang="en-US" sz="1100" dirty="0"/>
          </a:p>
        </p:txBody>
      </p:sp>
      <p:sp>
        <p:nvSpPr>
          <p:cNvPr id="9" name="Row number circle 1"/>
          <p:cNvSpPr/>
          <p:nvPr/>
        </p:nvSpPr>
        <p:spPr>
          <a:xfrm>
            <a:off x="457200" y="3145536"/>
            <a:ext cx="310896" cy="310896"/>
          </a:xfrm>
          <a:prstGeom prst="ellipse">
            <a:avLst/>
          </a:prstGeom>
          <a:solidFill>
            <a:schemeClr val="accent2"/>
          </a:solidFill>
          <a:ln w="12700">
            <a:solidFill>
              <a:schemeClr val="accent2"/>
            </a:solidFill>
            <a:prstDash val="solid"/>
          </a:ln>
        </p:spPr>
      </p:sp>
      <p:sp>
        <p:nvSpPr>
          <p:cNvPr id="10" name="Row number 1"/>
          <p:cNvSpPr txBox="1"/>
          <p:nvPr/>
        </p:nvSpPr>
        <p:spPr>
          <a:xfrm>
            <a:off x="457200" y="3145536"/>
            <a:ext cx="310896" cy="310896"/>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Built row 1"/>
          <p:cNvSpPr txBox="1"/>
          <p:nvPr/>
        </p:nvSpPr>
        <p:spPr>
          <a:xfrm>
            <a:off x="914400" y="3108960"/>
            <a:ext cx="4389120" cy="384048"/>
          </a:xfrm>
          <a:prstGeom prst="rect">
            <a:avLst/>
          </a:prstGeom>
          <a:noFill/>
          <a:ln/>
        </p:spPr>
        <p:txBody>
          <a:bodyPr wrap="square" lIns="0" tIns="0" rIns="0" bIns="0" rtlCol="0" anchor="ctr"/>
          <a:lstStyle/>
          <a:p>
            <a:pPr marL="0" indent="0">
              <a:buNone/>
            </a:pPr>
            <a:r>
              <a:rPr lang="en-US" sz="1500" dirty="0">
                <a:solidFill>
                  <a:schemeClr val="tx1"/>
                </a:solidFill>
              </a:rPr>
              <a:t>OCR reads Aadhaar, PAN, Passport</a:t>
            </a:r>
            <a:endParaRPr lang="en-US" sz="1500" dirty="0"/>
          </a:p>
        </p:txBody>
      </p:sp>
      <p:sp>
        <p:nvSpPr>
          <p:cNvPr id="12" name="Row number circle 2"/>
          <p:cNvSpPr/>
          <p:nvPr/>
        </p:nvSpPr>
        <p:spPr>
          <a:xfrm>
            <a:off x="457200" y="3602736"/>
            <a:ext cx="310896" cy="310896"/>
          </a:xfrm>
          <a:prstGeom prst="ellipse">
            <a:avLst/>
          </a:prstGeom>
          <a:solidFill>
            <a:schemeClr val="accent2"/>
          </a:solidFill>
          <a:ln w="12700">
            <a:solidFill>
              <a:schemeClr val="accent2"/>
            </a:solidFill>
            <a:prstDash val="solid"/>
          </a:ln>
        </p:spPr>
      </p:sp>
      <p:sp>
        <p:nvSpPr>
          <p:cNvPr id="13" name="Row number 2"/>
          <p:cNvSpPr txBox="1"/>
          <p:nvPr/>
        </p:nvSpPr>
        <p:spPr>
          <a:xfrm>
            <a:off x="457200" y="3602736"/>
            <a:ext cx="310896" cy="310896"/>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Built row 2"/>
          <p:cNvSpPr txBox="1"/>
          <p:nvPr/>
        </p:nvSpPr>
        <p:spPr>
          <a:xfrm>
            <a:off x="914400" y="3566160"/>
            <a:ext cx="4389120" cy="384048"/>
          </a:xfrm>
          <a:prstGeom prst="rect">
            <a:avLst/>
          </a:prstGeom>
          <a:noFill/>
          <a:ln/>
        </p:spPr>
        <p:txBody>
          <a:bodyPr wrap="square" lIns="0" tIns="0" rIns="0" bIns="0" rtlCol="0" anchor="ctr"/>
          <a:lstStyle/>
          <a:p>
            <a:pPr marL="0" indent="0">
              <a:buNone/>
            </a:pPr>
            <a:r>
              <a:rPr lang="en-US" sz="1500" dirty="0">
                <a:solidFill>
                  <a:schemeClr val="tx1"/>
                </a:solidFill>
              </a:rPr>
              <a:t>Checksums + government registry match</a:t>
            </a:r>
            <a:endParaRPr lang="en-US" sz="1500" dirty="0"/>
          </a:p>
        </p:txBody>
      </p:sp>
      <p:sp>
        <p:nvSpPr>
          <p:cNvPr id="15" name="Row number circle 3"/>
          <p:cNvSpPr/>
          <p:nvPr/>
        </p:nvSpPr>
        <p:spPr>
          <a:xfrm>
            <a:off x="457200" y="4059936"/>
            <a:ext cx="310896" cy="310896"/>
          </a:xfrm>
          <a:prstGeom prst="ellipse">
            <a:avLst/>
          </a:prstGeom>
          <a:solidFill>
            <a:schemeClr val="accent2"/>
          </a:solidFill>
          <a:ln w="12700">
            <a:solidFill>
              <a:schemeClr val="accent2"/>
            </a:solidFill>
            <a:prstDash val="solid"/>
          </a:ln>
        </p:spPr>
      </p:sp>
      <p:sp>
        <p:nvSpPr>
          <p:cNvPr id="16" name="Row number 3"/>
          <p:cNvSpPr txBox="1"/>
          <p:nvPr/>
        </p:nvSpPr>
        <p:spPr>
          <a:xfrm>
            <a:off x="457200" y="4059936"/>
            <a:ext cx="310896" cy="310896"/>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Built row 3"/>
          <p:cNvSpPr txBox="1"/>
          <p:nvPr/>
        </p:nvSpPr>
        <p:spPr>
          <a:xfrm>
            <a:off x="914400" y="4023360"/>
            <a:ext cx="4389120" cy="384048"/>
          </a:xfrm>
          <a:prstGeom prst="rect">
            <a:avLst/>
          </a:prstGeom>
          <a:noFill/>
          <a:ln/>
        </p:spPr>
        <p:txBody>
          <a:bodyPr wrap="square" lIns="0" tIns="0" rIns="0" bIns="0" rtlCol="0" anchor="ctr"/>
          <a:lstStyle/>
          <a:p>
            <a:pPr marL="0" indent="0">
              <a:buNone/>
            </a:pPr>
            <a:r>
              <a:rPr lang="en-US" sz="1500" dirty="0">
                <a:solidFill>
                  <a:schemeClr val="tx1"/>
                </a:solidFill>
              </a:rPr>
              <a:t>Webcam liveness and face match</a:t>
            </a:r>
            <a:endParaRPr lang="en-US" sz="1500" dirty="0"/>
          </a:p>
        </p:txBody>
      </p:sp>
      <p:sp>
        <p:nvSpPr>
          <p:cNvPr id="18" name="Stat card"/>
          <p:cNvSpPr/>
          <p:nvPr/>
        </p:nvSpPr>
        <p:spPr>
          <a:xfrm>
            <a:off x="5577840" y="1280160"/>
            <a:ext cx="3108960" cy="3200400"/>
          </a:xfrm>
          <a:prstGeom prst="roundRect">
            <a:avLst>
              <a:gd name="adj" fmla="val 3529"/>
            </a:avLst>
          </a:prstGeom>
          <a:solidFill>
            <a:schemeClr val="tx1"/>
          </a:solidFill>
          <a:ln w="12700">
            <a:solidFill>
              <a:schemeClr val="tx1"/>
            </a:solidFill>
            <a:prstDash val="solid"/>
          </a:ln>
          <a:effectLst>
            <a:outerShdw blurRad="101600" dist="25400" dir="5400000" algn="bl" rotWithShape="0">
              <a:srgbClr val="000000">
                <a:alpha val="12000"/>
              </a:srgbClr>
            </a:outerShdw>
          </a:effectLst>
        </p:spPr>
      </p:sp>
      <p:sp>
        <p:nvSpPr>
          <p:cNvPr id="19" name="Stat icon circle"/>
          <p:cNvSpPr/>
          <p:nvPr/>
        </p:nvSpPr>
        <p:spPr>
          <a:xfrm>
            <a:off x="5806440" y="1417320"/>
            <a:ext cx="502920" cy="502920"/>
          </a:xfrm>
          <a:prstGeom prst="ellipse">
            <a:avLst/>
          </a:prstGeom>
          <a:solidFill>
            <a:schemeClr val="accent1"/>
          </a:solidFill>
          <a:ln w="12700">
            <a:solidFill>
              <a:schemeClr val="accent1"/>
            </a:solidFill>
            <a:prstDash val="solid"/>
          </a:ln>
        </p:spPr>
      </p:sp>
      <p:pic>
        <p:nvPicPr>
          <p:cNvPr id="20" name="Icon FaIdCard" descr="FaIdCard"/>
          <p:cNvPicPr>
            <a:picLocks noChangeAspect="1"/>
          </p:cNvPicPr>
          <p:nvPr/>
        </p:nvPicPr>
        <p:blipFill>
          <a:blip r:embed="rId3"/>
          <a:stretch>
            <a:fillRect/>
          </a:stretch>
        </p:blipFill>
        <p:spPr>
          <a:xfrm>
            <a:off x="5942228" y="1553108"/>
            <a:ext cx="231343" cy="231343"/>
          </a:xfrm>
          <a:prstGeom prst="rect">
            <a:avLst/>
          </a:prstGeom>
        </p:spPr>
      </p:pic>
      <p:sp>
        <p:nvSpPr>
          <p:cNvPr id="21" name="Stat number"/>
          <p:cNvSpPr txBox="1"/>
          <p:nvPr/>
        </p:nvSpPr>
        <p:spPr>
          <a:xfrm>
            <a:off x="5806440" y="2011680"/>
            <a:ext cx="2697480" cy="685800"/>
          </a:xfrm>
          <a:prstGeom prst="rect">
            <a:avLst/>
          </a:prstGeom>
          <a:noFill/>
          <a:ln/>
        </p:spPr>
        <p:txBody>
          <a:bodyPr wrap="square" lIns="0" tIns="0" rIns="0" bIns="0" rtlCol="0" anchor="ctr"/>
          <a:lstStyle/>
          <a:p>
            <a:pPr marL="0" indent="0">
              <a:buNone/>
            </a:pPr>
            <a:r>
              <a:rPr lang="en-US" sz="4000" b="1" dirty="0">
                <a:solidFill>
                  <a:schemeClr val="accent1"/>
                </a:solidFill>
                <a:latin typeface="Cambria" pitchFamily="34" charset="0"/>
                <a:ea typeface="Cambria" pitchFamily="34" charset="-122"/>
                <a:cs typeface="Cambria" pitchFamily="34" charset="-120"/>
              </a:rPr>
              <a:t>3</a:t>
            </a:r>
            <a:endParaRPr lang="en-US" sz="4000" dirty="0"/>
          </a:p>
        </p:txBody>
      </p:sp>
      <p:sp>
        <p:nvSpPr>
          <p:cNvPr id="22" name="Stat label"/>
          <p:cNvSpPr txBox="1"/>
          <p:nvPr/>
        </p:nvSpPr>
        <p:spPr>
          <a:xfrm>
            <a:off x="5806440" y="2697480"/>
            <a:ext cx="2697480" cy="457200"/>
          </a:xfrm>
          <a:prstGeom prst="rect">
            <a:avLst/>
          </a:prstGeom>
          <a:noFill/>
          <a:ln/>
        </p:spPr>
        <p:txBody>
          <a:bodyPr wrap="square" lIns="0" tIns="0" rIns="0" bIns="0" rtlCol="0" anchor="t"/>
          <a:lstStyle/>
          <a:p>
            <a:pPr marL="0" indent="0">
              <a:buNone/>
            </a:pPr>
            <a:r>
              <a:rPr lang="en-US" sz="1300" dirty="0">
                <a:solidFill>
                  <a:schemeClr val="bg1"/>
                </a:solidFill>
              </a:rPr>
              <a:t>government registries checked: UIDAI, NSDL, MEA</a:t>
            </a:r>
            <a:endParaRPr lang="en-US" sz="1300" dirty="0"/>
          </a:p>
        </p:txBody>
      </p:sp>
      <p:sp>
        <p:nvSpPr>
          <p:cNvPr id="23" name="Files label"/>
          <p:cNvSpPr txBox="1"/>
          <p:nvPr/>
        </p:nvSpPr>
        <p:spPr>
          <a:xfrm>
            <a:off x="5806440" y="3246120"/>
            <a:ext cx="2697480" cy="182880"/>
          </a:xfrm>
          <a:prstGeom prst="rect">
            <a:avLst/>
          </a:prstGeom>
          <a:noFill/>
          <a:ln/>
        </p:spPr>
        <p:txBody>
          <a:bodyPr wrap="square" lIns="0" tIns="0" rIns="0" bIns="0" rtlCol="0" anchor="ctr"/>
          <a:lstStyle/>
          <a:p>
            <a:pPr marL="0" indent="0">
              <a:buNone/>
            </a:pPr>
            <a:r>
              <a:rPr lang="en-US" sz="1000" b="1" dirty="0">
                <a:solidFill>
                  <a:schemeClr val="accent6"/>
                </a:solidFill>
              </a:rPr>
              <a:t>KEY FILES</a:t>
            </a:r>
            <a:endParaRPr lang="en-US" sz="1000" dirty="0"/>
          </a:p>
        </p:txBody>
      </p:sp>
      <p:sp>
        <p:nvSpPr>
          <p:cNvPr id="24" name="Files list"/>
          <p:cNvSpPr txBox="1"/>
          <p:nvPr/>
        </p:nvSpPr>
        <p:spPr>
          <a:xfrm>
            <a:off x="5806440" y="3474720"/>
            <a:ext cx="2697480" cy="914400"/>
          </a:xfrm>
          <a:prstGeom prst="rect">
            <a:avLst/>
          </a:prstGeom>
          <a:noFill/>
          <a:ln/>
        </p:spPr>
        <p:txBody>
          <a:bodyPr wrap="square" lIns="0" tIns="0" rIns="0" bIns="0" rtlCol="0" anchor="t"/>
          <a:lstStyle/>
          <a:p>
            <a:pPr marL="0" indent="0">
              <a:spcAft>
                <a:spcPts val="200"/>
              </a:spcAft>
              <a:buNone/>
            </a:pPr>
            <a:r>
              <a:rPr lang="en-US" sz="1100" dirty="0">
                <a:solidFill>
                  <a:schemeClr val="bg1"/>
                </a:solidFill>
                <a:latin typeface="Courier New" pitchFamily="34" charset="0"/>
                <a:ea typeface="Courier New" pitchFamily="34" charset="-122"/>
                <a:cs typeface="Courier New" pitchFamily="34" charset="-120"/>
              </a:rPr>
              <a:t>registry.js</a:t>
            </a:r>
            <a:endParaRPr lang="en-US" sz="1100" dirty="0"/>
          </a:p>
          <a:p>
            <a:pPr marL="0" indent="0">
              <a:spcAft>
                <a:spcPts val="200"/>
              </a:spcAft>
              <a:buNone/>
            </a:pPr>
            <a:r>
              <a:rPr lang="en-US" sz="1100" dirty="0">
                <a:solidFill>
                  <a:schemeClr val="bg1"/>
                </a:solidFill>
                <a:latin typeface="Courier New" pitchFamily="34" charset="0"/>
                <a:ea typeface="Courier New" pitchFamily="34" charset="-122"/>
                <a:cs typeface="Courier New" pitchFamily="34" charset="-120"/>
              </a:rPr>
              <a:t>doc-import.mjs</a:t>
            </a:r>
            <a:endParaRPr lang="en-US" sz="1100" dirty="0"/>
          </a:p>
          <a:p>
            <a:pPr marL="0" indent="0">
              <a:spcAft>
                <a:spcPts val="200"/>
              </a:spcAft>
              <a:buNone/>
            </a:pPr>
            <a:r>
              <a:rPr lang="en-US" sz="1100" dirty="0">
                <a:solidFill>
                  <a:schemeClr val="bg1"/>
                </a:solidFill>
                <a:latin typeface="Courier New" pitchFamily="34" charset="0"/>
                <a:ea typeface="Courier New" pitchFamily="34" charset="-122"/>
                <a:cs typeface="Courier New" pitchFamily="34" charset="-120"/>
              </a:rPr>
              <a:t>biometrics.mjs</a:t>
            </a:r>
            <a:endParaRPr lang="en-US" sz="1100" dirty="0"/>
          </a:p>
          <a:p>
            <a:pPr marL="0" indent="0">
              <a:spcAft>
                <a:spcPts val="200"/>
              </a:spcAft>
              <a:buNone/>
            </a:pPr>
            <a:r>
              <a:rPr lang="en-US" sz="1100" dirty="0">
                <a:solidFill>
                  <a:schemeClr val="bg1"/>
                </a:solidFill>
                <a:latin typeface="Courier New" pitchFamily="34" charset="0"/>
                <a:ea typeface="Courier New" pitchFamily="34" charset="-122"/>
                <a:cs typeface="Courier New" pitchFamily="34" charset="-120"/>
              </a:rPr>
              <a:t>government-registry.json</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6309360" cy="731520"/>
          </a:xfrm>
          <a:prstGeom prst="rect">
            <a:avLst/>
          </a:prstGeom>
          <a:noFill/>
          <a:ln/>
        </p:spPr>
        <p:txBody>
          <a:bodyPr wrap="square" lIns="0" tIns="0" rIns="0" bIns="0" rtlCol="0" anchor="ctr"/>
          <a:lstStyle/>
          <a:p>
            <a:pPr marL="0" indent="0" algn="l">
              <a:buNone/>
            </a:pPr>
            <a:r>
              <a:rPr lang="en-US" sz="3600" b="1" dirty="0">
                <a:solidFill>
                  <a:schemeClr val="tx1"/>
                </a:solidFill>
              </a:rPr>
              <a:t>Wallet &amp; Experience</a:t>
            </a:r>
            <a:endParaRPr lang="en-US" sz="3600" dirty="0"/>
          </a:p>
        </p:txBody>
      </p:sp>
      <p:sp>
        <p:nvSpPr>
          <p:cNvPr id="3" name="Part pill"/>
          <p:cNvSpPr/>
          <p:nvPr/>
        </p:nvSpPr>
        <p:spPr>
          <a:xfrm>
            <a:off x="7086600" y="457200"/>
            <a:ext cx="1600200" cy="384048"/>
          </a:xfrm>
          <a:prstGeom prst="roundRect">
            <a:avLst>
              <a:gd name="adj" fmla="val 50000"/>
            </a:avLst>
          </a:prstGeom>
          <a:solidFill>
            <a:schemeClr val="accent2"/>
          </a:solidFill>
          <a:ln w="12700">
            <a:solidFill>
              <a:schemeClr val="accent2"/>
            </a:solidFill>
            <a:prstDash val="solid"/>
          </a:ln>
        </p:spPr>
      </p:sp>
      <p:sp>
        <p:nvSpPr>
          <p:cNvPr id="4" name="Part label"/>
          <p:cNvSpPr txBox="1"/>
          <p:nvPr/>
        </p:nvSpPr>
        <p:spPr>
          <a:xfrm>
            <a:off x="7086600" y="457200"/>
            <a:ext cx="1600200" cy="384048"/>
          </a:xfrm>
          <a:prstGeom prst="rect">
            <a:avLst/>
          </a:prstGeom>
          <a:noFill/>
          <a:ln/>
        </p:spPr>
        <p:txBody>
          <a:bodyPr wrap="square" lIns="0" tIns="0" rIns="0" bIns="0" rtlCol="0" anchor="ctr"/>
          <a:lstStyle/>
          <a:p>
            <a:pPr marL="0" indent="0" algn="ctr">
              <a:buNone/>
            </a:pPr>
            <a:endParaRPr lang="en-US" sz="1100" dirty="0"/>
          </a:p>
        </p:txBody>
      </p:sp>
      <p:sp>
        <p:nvSpPr>
          <p:cNvPr id="5" name="Simple card"/>
          <p:cNvSpPr/>
          <p:nvPr/>
        </p:nvSpPr>
        <p:spPr>
          <a:xfrm>
            <a:off x="457200" y="1280160"/>
            <a:ext cx="4846320" cy="1325880"/>
          </a:xfrm>
          <a:prstGeom prst="roundRect">
            <a:avLst>
              <a:gd name="adj" fmla="val 8276"/>
            </a:avLst>
          </a:prstGeom>
          <a:solidFill>
            <a:schemeClr val="bg2"/>
          </a:solidFill>
          <a:ln w="12700">
            <a:solidFill>
              <a:schemeClr val="bg2"/>
            </a:solidFill>
            <a:prstDash val="solid"/>
          </a:ln>
        </p:spPr>
      </p:sp>
      <p:sp>
        <p:nvSpPr>
          <p:cNvPr id="6" name="Simple label"/>
          <p:cNvSpPr txBox="1"/>
          <p:nvPr/>
        </p:nvSpPr>
        <p:spPr>
          <a:xfrm>
            <a:off x="685800" y="1389888"/>
            <a:ext cx="4389120" cy="201168"/>
          </a:xfrm>
          <a:prstGeom prst="rect">
            <a:avLst/>
          </a:prstGeom>
          <a:noFill/>
          <a:ln/>
        </p:spPr>
        <p:txBody>
          <a:bodyPr wrap="square" lIns="0" tIns="0" rIns="0" bIns="0" rtlCol="0" anchor="ctr"/>
          <a:lstStyle/>
          <a:p>
            <a:pPr marL="0" indent="0">
              <a:buNone/>
            </a:pPr>
            <a:r>
              <a:rPr lang="en-US" sz="1100" b="1" dirty="0">
                <a:solidFill>
                  <a:schemeClr val="accent2"/>
                </a:solidFill>
              </a:rPr>
              <a:t>IN SIMPLE WORDS</a:t>
            </a:r>
            <a:endParaRPr lang="en-US" sz="1100" dirty="0"/>
          </a:p>
        </p:txBody>
      </p:sp>
      <p:sp>
        <p:nvSpPr>
          <p:cNvPr id="7" name="Simple text"/>
          <p:cNvSpPr txBox="1"/>
          <p:nvPr/>
        </p:nvSpPr>
        <p:spPr>
          <a:xfrm>
            <a:off x="685800" y="1645920"/>
            <a:ext cx="4389120" cy="868680"/>
          </a:xfrm>
          <a:prstGeom prst="rect">
            <a:avLst/>
          </a:prstGeom>
          <a:noFill/>
          <a:ln/>
        </p:spPr>
        <p:txBody>
          <a:bodyPr wrap="square" lIns="0" tIns="0" rIns="0" bIns="0" rtlCol="0" anchor="t"/>
          <a:lstStyle/>
          <a:p>
            <a:pPr marL="0" indent="0">
              <a:buNone/>
            </a:pPr>
            <a:r>
              <a:rPr lang="en-US" sz="1700" dirty="0">
                <a:solidFill>
                  <a:schemeClr val="tx1"/>
                </a:solidFill>
              </a:rPr>
              <a:t>Your private vault. It holds your credential and builds the proof right inside your browser.</a:t>
            </a:r>
            <a:endParaRPr lang="en-US" sz="1700" dirty="0"/>
          </a:p>
        </p:txBody>
      </p:sp>
      <p:sp>
        <p:nvSpPr>
          <p:cNvPr id="8" name="Built label"/>
          <p:cNvSpPr txBox="1"/>
          <p:nvPr/>
        </p:nvSpPr>
        <p:spPr>
          <a:xfrm>
            <a:off x="457200" y="2788920"/>
            <a:ext cx="3657600" cy="201168"/>
          </a:xfrm>
          <a:prstGeom prst="rect">
            <a:avLst/>
          </a:prstGeom>
          <a:noFill/>
          <a:ln/>
        </p:spPr>
        <p:txBody>
          <a:bodyPr wrap="square" lIns="0" tIns="0" rIns="0" bIns="0" rtlCol="0" anchor="ctr"/>
          <a:lstStyle/>
          <a:p>
            <a:pPr marL="0" indent="0">
              <a:buNone/>
            </a:pPr>
            <a:r>
              <a:rPr lang="en-US" sz="1100" b="1" dirty="0">
                <a:solidFill>
                  <a:schemeClr val="accent2"/>
                </a:solidFill>
              </a:rPr>
              <a:t>WHAT WE BUILT</a:t>
            </a:r>
            <a:endParaRPr lang="en-US" sz="1100" dirty="0"/>
          </a:p>
        </p:txBody>
      </p:sp>
      <p:sp>
        <p:nvSpPr>
          <p:cNvPr id="9" name="Row number circle 1"/>
          <p:cNvSpPr/>
          <p:nvPr/>
        </p:nvSpPr>
        <p:spPr>
          <a:xfrm>
            <a:off x="457200" y="3145536"/>
            <a:ext cx="310896" cy="310896"/>
          </a:xfrm>
          <a:prstGeom prst="ellipse">
            <a:avLst/>
          </a:prstGeom>
          <a:solidFill>
            <a:schemeClr val="accent2"/>
          </a:solidFill>
          <a:ln w="12700">
            <a:solidFill>
              <a:schemeClr val="accent2"/>
            </a:solidFill>
            <a:prstDash val="solid"/>
          </a:ln>
        </p:spPr>
      </p:sp>
      <p:sp>
        <p:nvSpPr>
          <p:cNvPr id="10" name="Row number 1"/>
          <p:cNvSpPr txBox="1"/>
          <p:nvPr/>
        </p:nvSpPr>
        <p:spPr>
          <a:xfrm>
            <a:off x="457200" y="3145536"/>
            <a:ext cx="310896" cy="310896"/>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Built row 1"/>
          <p:cNvSpPr txBox="1"/>
          <p:nvPr/>
        </p:nvSpPr>
        <p:spPr>
          <a:xfrm>
            <a:off x="914400" y="3108960"/>
            <a:ext cx="4389120" cy="384048"/>
          </a:xfrm>
          <a:prstGeom prst="rect">
            <a:avLst/>
          </a:prstGeom>
          <a:noFill/>
          <a:ln/>
        </p:spPr>
        <p:txBody>
          <a:bodyPr wrap="square" lIns="0" tIns="0" rIns="0" bIns="0" rtlCol="0" anchor="ctr"/>
          <a:lstStyle/>
          <a:p>
            <a:pPr marL="0" indent="0">
              <a:buNone/>
            </a:pPr>
            <a:r>
              <a:rPr lang="en-US" sz="1500" dirty="0">
                <a:solidFill>
                  <a:schemeClr val="tx1"/>
                </a:solidFill>
              </a:rPr>
              <a:t>Encrypted vault (AES-256 + passphrase)</a:t>
            </a:r>
            <a:endParaRPr lang="en-US" sz="1500" dirty="0"/>
          </a:p>
        </p:txBody>
      </p:sp>
      <p:sp>
        <p:nvSpPr>
          <p:cNvPr id="12" name="Row number circle 2"/>
          <p:cNvSpPr/>
          <p:nvPr/>
        </p:nvSpPr>
        <p:spPr>
          <a:xfrm>
            <a:off x="457200" y="3602736"/>
            <a:ext cx="310896" cy="310896"/>
          </a:xfrm>
          <a:prstGeom prst="ellipse">
            <a:avLst/>
          </a:prstGeom>
          <a:solidFill>
            <a:schemeClr val="accent2"/>
          </a:solidFill>
          <a:ln w="12700">
            <a:solidFill>
              <a:schemeClr val="accent2"/>
            </a:solidFill>
            <a:prstDash val="solid"/>
          </a:ln>
        </p:spPr>
      </p:sp>
      <p:sp>
        <p:nvSpPr>
          <p:cNvPr id="13" name="Row number 2"/>
          <p:cNvSpPr txBox="1"/>
          <p:nvPr/>
        </p:nvSpPr>
        <p:spPr>
          <a:xfrm>
            <a:off x="457200" y="3602736"/>
            <a:ext cx="310896" cy="310896"/>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Built row 2"/>
          <p:cNvSpPr txBox="1"/>
          <p:nvPr/>
        </p:nvSpPr>
        <p:spPr>
          <a:xfrm>
            <a:off x="914400" y="3566160"/>
            <a:ext cx="4389120" cy="384048"/>
          </a:xfrm>
          <a:prstGeom prst="rect">
            <a:avLst/>
          </a:prstGeom>
          <a:noFill/>
          <a:ln/>
        </p:spPr>
        <p:txBody>
          <a:bodyPr wrap="square" lIns="0" tIns="0" rIns="0" bIns="0" rtlCol="0" anchor="ctr"/>
          <a:lstStyle/>
          <a:p>
            <a:pPr marL="0" indent="0">
              <a:buNone/>
            </a:pPr>
            <a:r>
              <a:rPr lang="en-US" sz="1500" dirty="0">
                <a:solidFill>
                  <a:schemeClr val="tx1"/>
                </a:solidFill>
              </a:rPr>
              <a:t>Consent screen: you choose what to share</a:t>
            </a:r>
            <a:endParaRPr lang="en-US" sz="1500" dirty="0"/>
          </a:p>
        </p:txBody>
      </p:sp>
      <p:sp>
        <p:nvSpPr>
          <p:cNvPr id="15" name="Row number circle 3"/>
          <p:cNvSpPr/>
          <p:nvPr/>
        </p:nvSpPr>
        <p:spPr>
          <a:xfrm>
            <a:off x="457200" y="4059936"/>
            <a:ext cx="310896" cy="310896"/>
          </a:xfrm>
          <a:prstGeom prst="ellipse">
            <a:avLst/>
          </a:prstGeom>
          <a:solidFill>
            <a:schemeClr val="accent2"/>
          </a:solidFill>
          <a:ln w="12700">
            <a:solidFill>
              <a:schemeClr val="accent2"/>
            </a:solidFill>
            <a:prstDash val="solid"/>
          </a:ln>
        </p:spPr>
      </p:sp>
      <p:sp>
        <p:nvSpPr>
          <p:cNvPr id="16" name="Row number 3"/>
          <p:cNvSpPr txBox="1"/>
          <p:nvPr/>
        </p:nvSpPr>
        <p:spPr>
          <a:xfrm>
            <a:off x="457200" y="4059936"/>
            <a:ext cx="310896" cy="310896"/>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Built row 3"/>
          <p:cNvSpPr txBox="1"/>
          <p:nvPr/>
        </p:nvSpPr>
        <p:spPr>
          <a:xfrm>
            <a:off x="914400" y="4023360"/>
            <a:ext cx="4389120" cy="384048"/>
          </a:xfrm>
          <a:prstGeom prst="rect">
            <a:avLst/>
          </a:prstGeom>
          <a:noFill/>
          <a:ln/>
        </p:spPr>
        <p:txBody>
          <a:bodyPr wrap="square" lIns="0" tIns="0" rIns="0" bIns="0" rtlCol="0" anchor="ctr"/>
          <a:lstStyle/>
          <a:p>
            <a:pPr marL="0" indent="0">
              <a:buNone/>
            </a:pPr>
            <a:r>
              <a:rPr lang="en-US" sz="1500" dirty="0">
                <a:solidFill>
                  <a:schemeClr val="tx1"/>
                </a:solidFill>
              </a:rPr>
              <a:t>Proof built in-browser via WebAssembly</a:t>
            </a:r>
            <a:endParaRPr lang="en-US" sz="1500" dirty="0"/>
          </a:p>
        </p:txBody>
      </p:sp>
      <p:sp>
        <p:nvSpPr>
          <p:cNvPr id="18" name="Stat card"/>
          <p:cNvSpPr/>
          <p:nvPr/>
        </p:nvSpPr>
        <p:spPr>
          <a:xfrm>
            <a:off x="5577840" y="1280160"/>
            <a:ext cx="3108960" cy="3200400"/>
          </a:xfrm>
          <a:prstGeom prst="roundRect">
            <a:avLst>
              <a:gd name="adj" fmla="val 3529"/>
            </a:avLst>
          </a:prstGeom>
          <a:solidFill>
            <a:schemeClr val="tx1"/>
          </a:solidFill>
          <a:ln w="12700">
            <a:solidFill>
              <a:schemeClr val="tx1"/>
            </a:solidFill>
            <a:prstDash val="solid"/>
          </a:ln>
          <a:effectLst>
            <a:outerShdw blurRad="101600" dist="25400" dir="5400000" algn="bl" rotWithShape="0">
              <a:srgbClr val="000000">
                <a:alpha val="12000"/>
              </a:srgbClr>
            </a:outerShdw>
          </a:effectLst>
        </p:spPr>
      </p:sp>
      <p:sp>
        <p:nvSpPr>
          <p:cNvPr id="19" name="Stat icon circle"/>
          <p:cNvSpPr/>
          <p:nvPr/>
        </p:nvSpPr>
        <p:spPr>
          <a:xfrm>
            <a:off x="5806440" y="1417320"/>
            <a:ext cx="502920" cy="502920"/>
          </a:xfrm>
          <a:prstGeom prst="ellipse">
            <a:avLst/>
          </a:prstGeom>
          <a:solidFill>
            <a:schemeClr val="accent1"/>
          </a:solidFill>
          <a:ln w="12700">
            <a:solidFill>
              <a:schemeClr val="accent1"/>
            </a:solidFill>
            <a:prstDash val="solid"/>
          </a:ln>
        </p:spPr>
      </p:sp>
      <p:pic>
        <p:nvPicPr>
          <p:cNvPr id="20" name="Icon FaWallet" descr="FaWallet"/>
          <p:cNvPicPr>
            <a:picLocks noChangeAspect="1"/>
          </p:cNvPicPr>
          <p:nvPr/>
        </p:nvPicPr>
        <p:blipFill>
          <a:blip r:embed="rId3"/>
          <a:stretch>
            <a:fillRect/>
          </a:stretch>
        </p:blipFill>
        <p:spPr>
          <a:xfrm>
            <a:off x="5942228" y="1553108"/>
            <a:ext cx="231343" cy="231343"/>
          </a:xfrm>
          <a:prstGeom prst="rect">
            <a:avLst/>
          </a:prstGeom>
        </p:spPr>
      </p:pic>
      <p:sp>
        <p:nvSpPr>
          <p:cNvPr id="21" name="Stat number"/>
          <p:cNvSpPr txBox="1"/>
          <p:nvPr/>
        </p:nvSpPr>
        <p:spPr>
          <a:xfrm>
            <a:off x="5806440" y="2011680"/>
            <a:ext cx="2697480" cy="685800"/>
          </a:xfrm>
          <a:prstGeom prst="rect">
            <a:avLst/>
          </a:prstGeom>
          <a:noFill/>
          <a:ln/>
        </p:spPr>
        <p:txBody>
          <a:bodyPr wrap="square" lIns="0" tIns="0" rIns="0" bIns="0" rtlCol="0" anchor="ctr"/>
          <a:lstStyle/>
          <a:p>
            <a:pPr marL="0" indent="0">
              <a:buNone/>
            </a:pPr>
            <a:r>
              <a:rPr lang="en-US" sz="4000" b="1" dirty="0">
                <a:solidFill>
                  <a:schemeClr val="accent1"/>
                </a:solidFill>
                <a:latin typeface="Cambria" pitchFamily="34" charset="0"/>
                <a:ea typeface="Cambria" pitchFamily="34" charset="-122"/>
                <a:cs typeface="Cambria" pitchFamily="34" charset="-120"/>
              </a:rPr>
              <a:t>AES-256</a:t>
            </a:r>
            <a:endParaRPr lang="en-US" sz="4000" dirty="0"/>
          </a:p>
        </p:txBody>
      </p:sp>
      <p:sp>
        <p:nvSpPr>
          <p:cNvPr id="22" name="Stat label"/>
          <p:cNvSpPr txBox="1"/>
          <p:nvPr/>
        </p:nvSpPr>
        <p:spPr>
          <a:xfrm>
            <a:off x="5806440" y="2697480"/>
            <a:ext cx="2697480" cy="457200"/>
          </a:xfrm>
          <a:prstGeom prst="rect">
            <a:avLst/>
          </a:prstGeom>
          <a:noFill/>
          <a:ln/>
        </p:spPr>
        <p:txBody>
          <a:bodyPr wrap="square" lIns="0" tIns="0" rIns="0" bIns="0" rtlCol="0" anchor="t"/>
          <a:lstStyle/>
          <a:p>
            <a:pPr marL="0" indent="0">
              <a:buNone/>
            </a:pPr>
            <a:r>
              <a:rPr lang="en-US" sz="1300" dirty="0">
                <a:solidFill>
                  <a:schemeClr val="bg1"/>
                </a:solidFill>
              </a:rPr>
              <a:t>vault encryption: only ciphertext is stored</a:t>
            </a:r>
            <a:endParaRPr lang="en-US" sz="1300" dirty="0"/>
          </a:p>
        </p:txBody>
      </p:sp>
      <p:sp>
        <p:nvSpPr>
          <p:cNvPr id="23" name="Files label"/>
          <p:cNvSpPr txBox="1"/>
          <p:nvPr/>
        </p:nvSpPr>
        <p:spPr>
          <a:xfrm>
            <a:off x="5806440" y="3246120"/>
            <a:ext cx="2697480" cy="182880"/>
          </a:xfrm>
          <a:prstGeom prst="rect">
            <a:avLst/>
          </a:prstGeom>
          <a:noFill/>
          <a:ln/>
        </p:spPr>
        <p:txBody>
          <a:bodyPr wrap="square" lIns="0" tIns="0" rIns="0" bIns="0" rtlCol="0" anchor="ctr"/>
          <a:lstStyle/>
          <a:p>
            <a:pPr marL="0" indent="0">
              <a:buNone/>
            </a:pPr>
            <a:r>
              <a:rPr lang="en-US" sz="1000" b="1" dirty="0">
                <a:solidFill>
                  <a:schemeClr val="accent6"/>
                </a:solidFill>
              </a:rPr>
              <a:t>KEY FILES</a:t>
            </a:r>
            <a:endParaRPr lang="en-US" sz="1000" dirty="0"/>
          </a:p>
        </p:txBody>
      </p:sp>
      <p:sp>
        <p:nvSpPr>
          <p:cNvPr id="24" name="Files list"/>
          <p:cNvSpPr txBox="1"/>
          <p:nvPr/>
        </p:nvSpPr>
        <p:spPr>
          <a:xfrm>
            <a:off x="5806440" y="3474720"/>
            <a:ext cx="2697480" cy="914400"/>
          </a:xfrm>
          <a:prstGeom prst="rect">
            <a:avLst/>
          </a:prstGeom>
          <a:noFill/>
          <a:ln/>
        </p:spPr>
        <p:txBody>
          <a:bodyPr wrap="square" lIns="0" tIns="0" rIns="0" bIns="0" rtlCol="0" anchor="t"/>
          <a:lstStyle/>
          <a:p>
            <a:pPr marL="0" indent="0">
              <a:spcAft>
                <a:spcPts val="200"/>
              </a:spcAft>
              <a:buNone/>
            </a:pPr>
            <a:r>
              <a:rPr lang="en-US" sz="1100" dirty="0">
                <a:solidFill>
                  <a:schemeClr val="bg1"/>
                </a:solidFill>
                <a:latin typeface="Courier New" pitchFamily="34" charset="0"/>
                <a:ea typeface="Courier New" pitchFamily="34" charset="-122"/>
                <a:cs typeface="Courier New" pitchFamily="34" charset="-120"/>
              </a:rPr>
              <a:t>wallet/index.html</a:t>
            </a:r>
            <a:endParaRPr lang="en-US" sz="1100" dirty="0"/>
          </a:p>
          <a:p>
            <a:pPr marL="0" indent="0">
              <a:spcAft>
                <a:spcPts val="200"/>
              </a:spcAft>
              <a:buNone/>
            </a:pPr>
            <a:r>
              <a:rPr lang="en-US" sz="1100" dirty="0">
                <a:solidFill>
                  <a:schemeClr val="bg1"/>
                </a:solidFill>
                <a:latin typeface="Courier New" pitchFamily="34" charset="0"/>
                <a:ea typeface="Courier New" pitchFamily="34" charset="-122"/>
                <a:cs typeface="Courier New" pitchFamily="34" charset="-120"/>
              </a:rPr>
              <a:t>wallet-core.mjs</a:t>
            </a:r>
            <a:endParaRPr lang="en-US" sz="1100" dirty="0"/>
          </a:p>
          <a:p>
            <a:pPr marL="0" indent="0">
              <a:spcAft>
                <a:spcPts val="200"/>
              </a:spcAft>
              <a:buNone/>
            </a:pPr>
            <a:r>
              <a:rPr lang="en-US" sz="1100" dirty="0">
                <a:solidFill>
                  <a:schemeClr val="bg1"/>
                </a:solidFill>
                <a:latin typeface="Courier New" pitchFamily="34" charset="0"/>
                <a:ea typeface="Courier New" pitchFamily="34" charset="-122"/>
                <a:cs typeface="Courier New" pitchFamily="34" charset="-120"/>
              </a:rPr>
              <a:t>holder.js</a:t>
            </a:r>
            <a:endParaRPr lang="en-US" sz="1100" dirty="0"/>
          </a:p>
          <a:p>
            <a:pPr marL="0" indent="0">
              <a:spcAft>
                <a:spcPts val="200"/>
              </a:spcAft>
              <a:buNone/>
            </a:pPr>
            <a:r>
              <a:rPr lang="en-US" sz="1100" dirty="0">
                <a:solidFill>
                  <a:schemeClr val="bg1"/>
                </a:solidFill>
                <a:latin typeface="Courier New" pitchFamily="34" charset="0"/>
                <a:ea typeface="Courier New" pitchFamily="34" charset="-122"/>
                <a:cs typeface="Courier New" pitchFamily="34" charset="-120"/>
              </a:rPr>
              <a:t>snarkjs.min.js</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6309360" cy="731520"/>
          </a:xfrm>
          <a:prstGeom prst="rect">
            <a:avLst/>
          </a:prstGeom>
          <a:noFill/>
          <a:ln/>
        </p:spPr>
        <p:txBody>
          <a:bodyPr wrap="square" lIns="0" tIns="0" rIns="0" bIns="0" rtlCol="0" anchor="ctr"/>
          <a:lstStyle/>
          <a:p>
            <a:pPr marL="0" indent="0" algn="l">
              <a:buNone/>
            </a:pPr>
            <a:r>
              <a:rPr lang="en-US" sz="3600" b="1" dirty="0">
                <a:solidFill>
                  <a:schemeClr val="tx1"/>
                </a:solidFill>
              </a:rPr>
              <a:t>Quantum, AML &amp; Chain</a:t>
            </a:r>
            <a:endParaRPr lang="en-US" sz="3600" dirty="0"/>
          </a:p>
        </p:txBody>
      </p:sp>
      <p:sp>
        <p:nvSpPr>
          <p:cNvPr id="3" name="Part pill"/>
          <p:cNvSpPr/>
          <p:nvPr/>
        </p:nvSpPr>
        <p:spPr>
          <a:xfrm>
            <a:off x="7086600" y="457200"/>
            <a:ext cx="1600200" cy="384048"/>
          </a:xfrm>
          <a:prstGeom prst="roundRect">
            <a:avLst>
              <a:gd name="adj" fmla="val 50000"/>
            </a:avLst>
          </a:prstGeom>
          <a:solidFill>
            <a:schemeClr val="accent2"/>
          </a:solidFill>
          <a:ln w="12700">
            <a:solidFill>
              <a:schemeClr val="accent2"/>
            </a:solidFill>
            <a:prstDash val="solid"/>
          </a:ln>
        </p:spPr>
      </p:sp>
      <p:sp>
        <p:nvSpPr>
          <p:cNvPr id="4" name="Part label"/>
          <p:cNvSpPr txBox="1"/>
          <p:nvPr/>
        </p:nvSpPr>
        <p:spPr>
          <a:xfrm>
            <a:off x="7086600" y="457200"/>
            <a:ext cx="1600200" cy="384048"/>
          </a:xfrm>
          <a:prstGeom prst="rect">
            <a:avLst/>
          </a:prstGeom>
          <a:noFill/>
          <a:ln/>
        </p:spPr>
        <p:txBody>
          <a:bodyPr wrap="square" lIns="0" tIns="0" rIns="0" bIns="0" rtlCol="0" anchor="ctr"/>
          <a:lstStyle/>
          <a:p>
            <a:pPr marL="0" indent="0" algn="ctr">
              <a:buNone/>
            </a:pPr>
            <a:endParaRPr lang="en-US" sz="1100" dirty="0"/>
          </a:p>
        </p:txBody>
      </p:sp>
      <p:sp>
        <p:nvSpPr>
          <p:cNvPr id="5" name="Simple card"/>
          <p:cNvSpPr/>
          <p:nvPr/>
        </p:nvSpPr>
        <p:spPr>
          <a:xfrm>
            <a:off x="457200" y="1280160"/>
            <a:ext cx="4846320" cy="1325880"/>
          </a:xfrm>
          <a:prstGeom prst="roundRect">
            <a:avLst>
              <a:gd name="adj" fmla="val 8276"/>
            </a:avLst>
          </a:prstGeom>
          <a:solidFill>
            <a:schemeClr val="bg2"/>
          </a:solidFill>
          <a:ln w="12700">
            <a:solidFill>
              <a:schemeClr val="bg2"/>
            </a:solidFill>
            <a:prstDash val="solid"/>
          </a:ln>
        </p:spPr>
      </p:sp>
      <p:sp>
        <p:nvSpPr>
          <p:cNvPr id="6" name="Simple label"/>
          <p:cNvSpPr txBox="1"/>
          <p:nvPr/>
        </p:nvSpPr>
        <p:spPr>
          <a:xfrm>
            <a:off x="685800" y="1389888"/>
            <a:ext cx="4389120" cy="201168"/>
          </a:xfrm>
          <a:prstGeom prst="rect">
            <a:avLst/>
          </a:prstGeom>
          <a:noFill/>
          <a:ln/>
        </p:spPr>
        <p:txBody>
          <a:bodyPr wrap="square" lIns="0" tIns="0" rIns="0" bIns="0" rtlCol="0" anchor="ctr"/>
          <a:lstStyle/>
          <a:p>
            <a:pPr marL="0" indent="0">
              <a:buNone/>
            </a:pPr>
            <a:r>
              <a:rPr lang="en-US" sz="1100" b="1" dirty="0">
                <a:solidFill>
                  <a:schemeClr val="accent2"/>
                </a:solidFill>
              </a:rPr>
              <a:t>IN SIMPLE WORDS</a:t>
            </a:r>
            <a:endParaRPr lang="en-US" sz="1100" dirty="0"/>
          </a:p>
        </p:txBody>
      </p:sp>
      <p:sp>
        <p:nvSpPr>
          <p:cNvPr id="7" name="Simple text"/>
          <p:cNvSpPr txBox="1"/>
          <p:nvPr/>
        </p:nvSpPr>
        <p:spPr>
          <a:xfrm>
            <a:off x="685800" y="1645920"/>
            <a:ext cx="4389120" cy="868680"/>
          </a:xfrm>
          <a:prstGeom prst="rect">
            <a:avLst/>
          </a:prstGeom>
          <a:noFill/>
          <a:ln/>
        </p:spPr>
        <p:txBody>
          <a:bodyPr wrap="square" lIns="0" tIns="0" rIns="0" bIns="0" rtlCol="0" anchor="t"/>
          <a:lstStyle/>
          <a:p>
            <a:pPr marL="0" indent="0">
              <a:buNone/>
            </a:pPr>
            <a:r>
              <a:rPr lang="en-US" sz="1700" dirty="0">
                <a:solidFill>
                  <a:schemeClr val="tx1"/>
                </a:solidFill>
              </a:rPr>
              <a:t>Quantum-safe signatures, a hidden-name sanctions check, and a blockchain verifier.</a:t>
            </a:r>
            <a:endParaRPr lang="en-US" sz="1700" dirty="0"/>
          </a:p>
        </p:txBody>
      </p:sp>
      <p:sp>
        <p:nvSpPr>
          <p:cNvPr id="8" name="Built label"/>
          <p:cNvSpPr txBox="1"/>
          <p:nvPr/>
        </p:nvSpPr>
        <p:spPr>
          <a:xfrm>
            <a:off x="457200" y="2788920"/>
            <a:ext cx="3657600" cy="201168"/>
          </a:xfrm>
          <a:prstGeom prst="rect">
            <a:avLst/>
          </a:prstGeom>
          <a:noFill/>
          <a:ln/>
        </p:spPr>
        <p:txBody>
          <a:bodyPr wrap="square" lIns="0" tIns="0" rIns="0" bIns="0" rtlCol="0" anchor="ctr"/>
          <a:lstStyle/>
          <a:p>
            <a:pPr marL="0" indent="0">
              <a:buNone/>
            </a:pPr>
            <a:r>
              <a:rPr lang="en-US" sz="1100" b="1" dirty="0">
                <a:solidFill>
                  <a:schemeClr val="accent2"/>
                </a:solidFill>
              </a:rPr>
              <a:t>WHAT WE BUILT</a:t>
            </a:r>
            <a:endParaRPr lang="en-US" sz="1100" dirty="0"/>
          </a:p>
        </p:txBody>
      </p:sp>
      <p:sp>
        <p:nvSpPr>
          <p:cNvPr id="9" name="Row number circle 1"/>
          <p:cNvSpPr/>
          <p:nvPr/>
        </p:nvSpPr>
        <p:spPr>
          <a:xfrm>
            <a:off x="457200" y="3145536"/>
            <a:ext cx="310896" cy="310896"/>
          </a:xfrm>
          <a:prstGeom prst="ellipse">
            <a:avLst/>
          </a:prstGeom>
          <a:solidFill>
            <a:schemeClr val="accent2"/>
          </a:solidFill>
          <a:ln w="12700">
            <a:solidFill>
              <a:schemeClr val="accent2"/>
            </a:solidFill>
            <a:prstDash val="solid"/>
          </a:ln>
        </p:spPr>
      </p:sp>
      <p:sp>
        <p:nvSpPr>
          <p:cNvPr id="10" name="Row number 1"/>
          <p:cNvSpPr txBox="1"/>
          <p:nvPr/>
        </p:nvSpPr>
        <p:spPr>
          <a:xfrm>
            <a:off x="457200" y="3145536"/>
            <a:ext cx="310896" cy="310896"/>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Built row 1"/>
          <p:cNvSpPr txBox="1"/>
          <p:nvPr/>
        </p:nvSpPr>
        <p:spPr>
          <a:xfrm>
            <a:off x="914400" y="3108960"/>
            <a:ext cx="4389120" cy="384048"/>
          </a:xfrm>
          <a:prstGeom prst="rect">
            <a:avLst/>
          </a:prstGeom>
          <a:noFill/>
          <a:ln/>
        </p:spPr>
        <p:txBody>
          <a:bodyPr wrap="square" lIns="0" tIns="0" rIns="0" bIns="0" rtlCol="0" anchor="ctr"/>
          <a:lstStyle/>
          <a:p>
            <a:pPr marL="0" indent="0">
              <a:buNone/>
            </a:pPr>
            <a:r>
              <a:rPr lang="en-US" sz="1500" dirty="0">
                <a:solidFill>
                  <a:schemeClr val="tx1"/>
                </a:solidFill>
              </a:rPr>
              <a:t>ML-DSA-65 signs alongside EdDSA</a:t>
            </a:r>
            <a:endParaRPr lang="en-US" sz="1500" dirty="0"/>
          </a:p>
        </p:txBody>
      </p:sp>
      <p:sp>
        <p:nvSpPr>
          <p:cNvPr id="12" name="Row number circle 2"/>
          <p:cNvSpPr/>
          <p:nvPr/>
        </p:nvSpPr>
        <p:spPr>
          <a:xfrm>
            <a:off x="457200" y="3602736"/>
            <a:ext cx="310896" cy="310896"/>
          </a:xfrm>
          <a:prstGeom prst="ellipse">
            <a:avLst/>
          </a:prstGeom>
          <a:solidFill>
            <a:schemeClr val="accent2"/>
          </a:solidFill>
          <a:ln w="12700">
            <a:solidFill>
              <a:schemeClr val="accent2"/>
            </a:solidFill>
            <a:prstDash val="solid"/>
          </a:ln>
        </p:spPr>
      </p:sp>
      <p:sp>
        <p:nvSpPr>
          <p:cNvPr id="13" name="Row number 2"/>
          <p:cNvSpPr txBox="1"/>
          <p:nvPr/>
        </p:nvSpPr>
        <p:spPr>
          <a:xfrm>
            <a:off x="457200" y="3602736"/>
            <a:ext cx="310896" cy="310896"/>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Built row 2"/>
          <p:cNvSpPr txBox="1"/>
          <p:nvPr/>
        </p:nvSpPr>
        <p:spPr>
          <a:xfrm>
            <a:off x="914400" y="3566160"/>
            <a:ext cx="4389120" cy="384048"/>
          </a:xfrm>
          <a:prstGeom prst="rect">
            <a:avLst/>
          </a:prstGeom>
          <a:noFill/>
          <a:ln/>
        </p:spPr>
        <p:txBody>
          <a:bodyPr wrap="square" lIns="0" tIns="0" rIns="0" bIns="0" rtlCol="0" anchor="ctr"/>
          <a:lstStyle/>
          <a:p>
            <a:pPr marL="0" indent="0">
              <a:buNone/>
            </a:pPr>
            <a:r>
              <a:rPr lang="en-US" sz="1500" dirty="0">
                <a:solidFill>
                  <a:schemeClr val="tx1"/>
                </a:solidFill>
              </a:rPr>
              <a:t>Prove you're NOT on a sanctions list</a:t>
            </a:r>
            <a:endParaRPr lang="en-US" sz="1500" dirty="0"/>
          </a:p>
        </p:txBody>
      </p:sp>
      <p:sp>
        <p:nvSpPr>
          <p:cNvPr id="15" name="Row number circle 3"/>
          <p:cNvSpPr/>
          <p:nvPr/>
        </p:nvSpPr>
        <p:spPr>
          <a:xfrm>
            <a:off x="457200" y="4059936"/>
            <a:ext cx="310896" cy="310896"/>
          </a:xfrm>
          <a:prstGeom prst="ellipse">
            <a:avLst/>
          </a:prstGeom>
          <a:solidFill>
            <a:schemeClr val="accent2"/>
          </a:solidFill>
          <a:ln w="12700">
            <a:solidFill>
              <a:schemeClr val="accent2"/>
            </a:solidFill>
            <a:prstDash val="solid"/>
          </a:ln>
        </p:spPr>
      </p:sp>
      <p:sp>
        <p:nvSpPr>
          <p:cNvPr id="16" name="Row number 3"/>
          <p:cNvSpPr txBox="1"/>
          <p:nvPr/>
        </p:nvSpPr>
        <p:spPr>
          <a:xfrm>
            <a:off x="457200" y="4059936"/>
            <a:ext cx="310896" cy="310896"/>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Built row 3"/>
          <p:cNvSpPr txBox="1"/>
          <p:nvPr/>
        </p:nvSpPr>
        <p:spPr>
          <a:xfrm>
            <a:off x="914400" y="4023360"/>
            <a:ext cx="4389120" cy="384048"/>
          </a:xfrm>
          <a:prstGeom prst="rect">
            <a:avLst/>
          </a:prstGeom>
          <a:noFill/>
          <a:ln/>
        </p:spPr>
        <p:txBody>
          <a:bodyPr wrap="square" lIns="0" tIns="0" rIns="0" bIns="0" rtlCol="0" anchor="ctr"/>
          <a:lstStyle/>
          <a:p>
            <a:pPr marL="0" indent="0">
              <a:buNone/>
            </a:pPr>
            <a:r>
              <a:rPr lang="en-US" sz="1500" dirty="0">
                <a:solidFill>
                  <a:schemeClr val="tx1"/>
                </a:solidFill>
              </a:rPr>
              <a:t>Smart contract blocks replays</a:t>
            </a:r>
            <a:endParaRPr lang="en-US" sz="1500" dirty="0"/>
          </a:p>
        </p:txBody>
      </p:sp>
      <p:sp>
        <p:nvSpPr>
          <p:cNvPr id="18" name="Stat card"/>
          <p:cNvSpPr/>
          <p:nvPr/>
        </p:nvSpPr>
        <p:spPr>
          <a:xfrm>
            <a:off x="5577840" y="1280160"/>
            <a:ext cx="3108960" cy="3200400"/>
          </a:xfrm>
          <a:prstGeom prst="roundRect">
            <a:avLst>
              <a:gd name="adj" fmla="val 3529"/>
            </a:avLst>
          </a:prstGeom>
          <a:solidFill>
            <a:schemeClr val="tx1"/>
          </a:solidFill>
          <a:ln w="12700">
            <a:solidFill>
              <a:schemeClr val="tx1"/>
            </a:solidFill>
            <a:prstDash val="solid"/>
          </a:ln>
          <a:effectLst>
            <a:outerShdw blurRad="101600" dist="25400" dir="5400000" algn="bl" rotWithShape="0">
              <a:srgbClr val="000000">
                <a:alpha val="12000"/>
              </a:srgbClr>
            </a:outerShdw>
          </a:effectLst>
        </p:spPr>
      </p:sp>
      <p:sp>
        <p:nvSpPr>
          <p:cNvPr id="19" name="Stat icon circle"/>
          <p:cNvSpPr/>
          <p:nvPr/>
        </p:nvSpPr>
        <p:spPr>
          <a:xfrm>
            <a:off x="5806440" y="1417320"/>
            <a:ext cx="502920" cy="502920"/>
          </a:xfrm>
          <a:prstGeom prst="ellipse">
            <a:avLst/>
          </a:prstGeom>
          <a:solidFill>
            <a:schemeClr val="accent1"/>
          </a:solidFill>
          <a:ln w="12700">
            <a:solidFill>
              <a:schemeClr val="accent1"/>
            </a:solidFill>
            <a:prstDash val="solid"/>
          </a:ln>
        </p:spPr>
      </p:sp>
      <p:pic>
        <p:nvPicPr>
          <p:cNvPr id="20" name="Icon FaAtom" descr="FaAtom"/>
          <p:cNvPicPr>
            <a:picLocks noChangeAspect="1"/>
          </p:cNvPicPr>
          <p:nvPr/>
        </p:nvPicPr>
        <p:blipFill>
          <a:blip r:embed="rId3"/>
          <a:stretch>
            <a:fillRect/>
          </a:stretch>
        </p:blipFill>
        <p:spPr>
          <a:xfrm>
            <a:off x="5942228" y="1553108"/>
            <a:ext cx="231343" cy="231343"/>
          </a:xfrm>
          <a:prstGeom prst="rect">
            <a:avLst/>
          </a:prstGeom>
        </p:spPr>
      </p:pic>
      <p:sp>
        <p:nvSpPr>
          <p:cNvPr id="21" name="Stat number"/>
          <p:cNvSpPr txBox="1"/>
          <p:nvPr/>
        </p:nvSpPr>
        <p:spPr>
          <a:xfrm>
            <a:off x="5806440" y="2011680"/>
            <a:ext cx="2697480" cy="685800"/>
          </a:xfrm>
          <a:prstGeom prst="rect">
            <a:avLst/>
          </a:prstGeom>
          <a:noFill/>
          <a:ln/>
        </p:spPr>
        <p:txBody>
          <a:bodyPr wrap="square" lIns="0" tIns="0" rIns="0" bIns="0" rtlCol="0" anchor="ctr"/>
          <a:lstStyle/>
          <a:p>
            <a:pPr marL="0" indent="0">
              <a:buNone/>
            </a:pPr>
            <a:r>
              <a:rPr lang="en-US" sz="4000" b="1" dirty="0">
                <a:solidFill>
                  <a:schemeClr val="accent1"/>
                </a:solidFill>
                <a:latin typeface="Cambria" pitchFamily="34" charset="0"/>
                <a:ea typeface="Cambria" pitchFamily="34" charset="-122"/>
                <a:cs typeface="Cambria" pitchFamily="34" charset="-120"/>
              </a:rPr>
              <a:t>FIPS 204</a:t>
            </a:r>
            <a:endParaRPr lang="en-US" sz="4000" dirty="0"/>
          </a:p>
        </p:txBody>
      </p:sp>
      <p:sp>
        <p:nvSpPr>
          <p:cNvPr id="22" name="Stat label"/>
          <p:cNvSpPr txBox="1"/>
          <p:nvPr/>
        </p:nvSpPr>
        <p:spPr>
          <a:xfrm>
            <a:off x="5806440" y="2697480"/>
            <a:ext cx="2697480" cy="457200"/>
          </a:xfrm>
          <a:prstGeom prst="rect">
            <a:avLst/>
          </a:prstGeom>
          <a:noFill/>
          <a:ln/>
        </p:spPr>
        <p:txBody>
          <a:bodyPr wrap="square" lIns="0" tIns="0" rIns="0" bIns="0" rtlCol="0" anchor="t"/>
          <a:lstStyle/>
          <a:p>
            <a:pPr marL="0" indent="0">
              <a:buNone/>
            </a:pPr>
            <a:r>
              <a:rPr lang="en-US" sz="1300" dirty="0">
                <a:solidFill>
                  <a:schemeClr val="bg1"/>
                </a:solidFill>
              </a:rPr>
              <a:t>NIST post-quantum signature standard (ML-DSA-65)</a:t>
            </a:r>
            <a:endParaRPr lang="en-US" sz="1300" dirty="0"/>
          </a:p>
        </p:txBody>
      </p:sp>
      <p:sp>
        <p:nvSpPr>
          <p:cNvPr id="23" name="Files label"/>
          <p:cNvSpPr txBox="1"/>
          <p:nvPr/>
        </p:nvSpPr>
        <p:spPr>
          <a:xfrm>
            <a:off x="5806440" y="3246120"/>
            <a:ext cx="2697480" cy="182880"/>
          </a:xfrm>
          <a:prstGeom prst="rect">
            <a:avLst/>
          </a:prstGeom>
          <a:noFill/>
          <a:ln/>
        </p:spPr>
        <p:txBody>
          <a:bodyPr wrap="square" lIns="0" tIns="0" rIns="0" bIns="0" rtlCol="0" anchor="ctr"/>
          <a:lstStyle/>
          <a:p>
            <a:pPr marL="0" indent="0">
              <a:buNone/>
            </a:pPr>
            <a:r>
              <a:rPr lang="en-US" sz="1000" b="1" dirty="0">
                <a:solidFill>
                  <a:schemeClr val="accent6"/>
                </a:solidFill>
              </a:rPr>
              <a:t>KEY FILES</a:t>
            </a:r>
            <a:endParaRPr lang="en-US" sz="1000" dirty="0"/>
          </a:p>
        </p:txBody>
      </p:sp>
      <p:sp>
        <p:nvSpPr>
          <p:cNvPr id="24" name="Files list"/>
          <p:cNvSpPr txBox="1"/>
          <p:nvPr/>
        </p:nvSpPr>
        <p:spPr>
          <a:xfrm>
            <a:off x="5806440" y="3474720"/>
            <a:ext cx="2697480" cy="914400"/>
          </a:xfrm>
          <a:prstGeom prst="rect">
            <a:avLst/>
          </a:prstGeom>
          <a:noFill/>
          <a:ln/>
        </p:spPr>
        <p:txBody>
          <a:bodyPr wrap="square" lIns="0" tIns="0" rIns="0" bIns="0" rtlCol="0" anchor="t"/>
          <a:lstStyle/>
          <a:p>
            <a:pPr marL="0" indent="0">
              <a:spcAft>
                <a:spcPts val="200"/>
              </a:spcAft>
              <a:buNone/>
            </a:pPr>
            <a:r>
              <a:rPr lang="en-US" sz="1100" dirty="0">
                <a:solidFill>
                  <a:schemeClr val="bg1"/>
                </a:solidFill>
                <a:latin typeface="Courier New" pitchFamily="34" charset="0"/>
                <a:ea typeface="Courier New" pitchFamily="34" charset="-122"/>
                <a:cs typeface="Courier New" pitchFamily="34" charset="-120"/>
              </a:rPr>
              <a:t>crypto-suite.js</a:t>
            </a:r>
            <a:endParaRPr lang="en-US" sz="1100" dirty="0"/>
          </a:p>
          <a:p>
            <a:pPr marL="0" indent="0">
              <a:spcAft>
                <a:spcPts val="200"/>
              </a:spcAft>
              <a:buNone/>
            </a:pPr>
            <a:r>
              <a:rPr lang="en-US" sz="1100" dirty="0">
                <a:solidFill>
                  <a:schemeClr val="bg1"/>
                </a:solidFill>
                <a:latin typeface="Courier New" pitchFamily="34" charset="0"/>
                <a:ea typeface="Courier New" pitchFamily="34" charset="-122"/>
                <a:cs typeface="Courier New" pitchFamily="34" charset="-120"/>
              </a:rPr>
              <a:t>aml.js</a:t>
            </a:r>
            <a:endParaRPr lang="en-US" sz="1100" dirty="0"/>
          </a:p>
          <a:p>
            <a:pPr marL="0" indent="0">
              <a:spcAft>
                <a:spcPts val="200"/>
              </a:spcAft>
              <a:buNone/>
            </a:pPr>
            <a:r>
              <a:rPr lang="en-US" sz="1100" dirty="0">
                <a:solidFill>
                  <a:schemeClr val="bg1"/>
                </a:solidFill>
                <a:latin typeface="Courier New" pitchFamily="34" charset="0"/>
                <a:ea typeface="Courier New" pitchFamily="34" charset="-122"/>
                <a:cs typeface="Courier New" pitchFamily="34" charset="-120"/>
              </a:rPr>
              <a:t>EKYCRegistry.sol</a:t>
            </a:r>
            <a:endParaRPr lang="en-US" sz="1100" dirty="0"/>
          </a:p>
          <a:p>
            <a:pPr marL="0" indent="0">
              <a:spcAft>
                <a:spcPts val="200"/>
              </a:spcAft>
              <a:buNone/>
            </a:pPr>
            <a:r>
              <a:rPr lang="en-US" sz="1100" dirty="0">
                <a:solidFill>
                  <a:schemeClr val="bg1"/>
                </a:solidFill>
                <a:latin typeface="Courier New" pitchFamily="34" charset="0"/>
                <a:ea typeface="Courier New" pitchFamily="34" charset="-122"/>
                <a:cs typeface="Courier New" pitchFamily="34" charset="-120"/>
              </a:rPr>
              <a:t>Groth16Verifier.sol</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6309360" cy="731520"/>
          </a:xfrm>
          <a:prstGeom prst="rect">
            <a:avLst/>
          </a:prstGeom>
          <a:noFill/>
          <a:ln/>
        </p:spPr>
        <p:txBody>
          <a:bodyPr wrap="square" lIns="0" tIns="0" rIns="0" bIns="0" rtlCol="0" anchor="ctr"/>
          <a:lstStyle/>
          <a:p>
            <a:pPr marL="0" indent="0" algn="l">
              <a:buNone/>
            </a:pPr>
            <a:r>
              <a:rPr lang="en-US" sz="3600" b="1" dirty="0">
                <a:solidFill>
                  <a:schemeClr val="tx1"/>
                </a:solidFill>
              </a:rPr>
              <a:t>Gateway &amp; Testing</a:t>
            </a:r>
            <a:endParaRPr lang="en-US" sz="3600" dirty="0"/>
          </a:p>
        </p:txBody>
      </p:sp>
      <p:sp>
        <p:nvSpPr>
          <p:cNvPr id="3" name="Part pill"/>
          <p:cNvSpPr/>
          <p:nvPr/>
        </p:nvSpPr>
        <p:spPr>
          <a:xfrm>
            <a:off x="7086600" y="457200"/>
            <a:ext cx="1600200" cy="384048"/>
          </a:xfrm>
          <a:prstGeom prst="roundRect">
            <a:avLst>
              <a:gd name="adj" fmla="val 50000"/>
            </a:avLst>
          </a:prstGeom>
          <a:solidFill>
            <a:schemeClr val="accent2"/>
          </a:solidFill>
          <a:ln w="12700">
            <a:solidFill>
              <a:schemeClr val="accent2"/>
            </a:solidFill>
            <a:prstDash val="solid"/>
          </a:ln>
        </p:spPr>
      </p:sp>
      <p:sp>
        <p:nvSpPr>
          <p:cNvPr id="4" name="Part label"/>
          <p:cNvSpPr txBox="1"/>
          <p:nvPr/>
        </p:nvSpPr>
        <p:spPr>
          <a:xfrm>
            <a:off x="7086600" y="457200"/>
            <a:ext cx="1600200" cy="384048"/>
          </a:xfrm>
          <a:prstGeom prst="rect">
            <a:avLst/>
          </a:prstGeom>
          <a:noFill/>
          <a:ln/>
        </p:spPr>
        <p:txBody>
          <a:bodyPr wrap="square" lIns="0" tIns="0" rIns="0" bIns="0" rtlCol="0" anchor="ctr"/>
          <a:lstStyle/>
          <a:p>
            <a:pPr marL="0" indent="0" algn="ctr">
              <a:buNone/>
            </a:pPr>
            <a:endParaRPr lang="en-US" sz="1100" dirty="0"/>
          </a:p>
        </p:txBody>
      </p:sp>
      <p:sp>
        <p:nvSpPr>
          <p:cNvPr id="5" name="Simple card"/>
          <p:cNvSpPr/>
          <p:nvPr/>
        </p:nvSpPr>
        <p:spPr>
          <a:xfrm>
            <a:off x="457200" y="1280160"/>
            <a:ext cx="4846320" cy="1325880"/>
          </a:xfrm>
          <a:prstGeom prst="roundRect">
            <a:avLst>
              <a:gd name="adj" fmla="val 8276"/>
            </a:avLst>
          </a:prstGeom>
          <a:solidFill>
            <a:schemeClr val="bg2"/>
          </a:solidFill>
          <a:ln w="12700">
            <a:solidFill>
              <a:schemeClr val="bg2"/>
            </a:solidFill>
            <a:prstDash val="solid"/>
          </a:ln>
        </p:spPr>
      </p:sp>
      <p:sp>
        <p:nvSpPr>
          <p:cNvPr id="6" name="Simple label"/>
          <p:cNvSpPr txBox="1"/>
          <p:nvPr/>
        </p:nvSpPr>
        <p:spPr>
          <a:xfrm>
            <a:off x="685800" y="1389888"/>
            <a:ext cx="4389120" cy="201168"/>
          </a:xfrm>
          <a:prstGeom prst="rect">
            <a:avLst/>
          </a:prstGeom>
          <a:noFill/>
          <a:ln/>
        </p:spPr>
        <p:txBody>
          <a:bodyPr wrap="square" lIns="0" tIns="0" rIns="0" bIns="0" rtlCol="0" anchor="ctr"/>
          <a:lstStyle/>
          <a:p>
            <a:pPr marL="0" indent="0">
              <a:buNone/>
            </a:pPr>
            <a:r>
              <a:rPr lang="en-US" sz="1100" b="1" dirty="0">
                <a:solidFill>
                  <a:schemeClr val="accent2"/>
                </a:solidFill>
              </a:rPr>
              <a:t>IN SIMPLE WORDS</a:t>
            </a:r>
            <a:endParaRPr lang="en-US" sz="1100" dirty="0"/>
          </a:p>
        </p:txBody>
      </p:sp>
      <p:sp>
        <p:nvSpPr>
          <p:cNvPr id="7" name="Simple text"/>
          <p:cNvSpPr txBox="1"/>
          <p:nvPr/>
        </p:nvSpPr>
        <p:spPr>
          <a:xfrm>
            <a:off x="685800" y="1645920"/>
            <a:ext cx="4389120" cy="868680"/>
          </a:xfrm>
          <a:prstGeom prst="rect">
            <a:avLst/>
          </a:prstGeom>
          <a:noFill/>
          <a:ln/>
        </p:spPr>
        <p:txBody>
          <a:bodyPr wrap="square" lIns="0" tIns="0" rIns="0" bIns="0" rtlCol="0" anchor="t"/>
          <a:lstStyle/>
          <a:p>
            <a:pPr marL="0" indent="0">
              <a:buNone/>
            </a:pPr>
            <a:r>
              <a:rPr lang="en-US" sz="1700" dirty="0">
                <a:solidFill>
                  <a:schemeClr val="tx1"/>
                </a:solidFill>
              </a:rPr>
              <a:t>The front door for banks and apps. It runs 8 checks on every proof and records one-time use.</a:t>
            </a:r>
            <a:endParaRPr lang="en-US" sz="1700" dirty="0"/>
          </a:p>
        </p:txBody>
      </p:sp>
      <p:sp>
        <p:nvSpPr>
          <p:cNvPr id="8" name="Built label"/>
          <p:cNvSpPr txBox="1"/>
          <p:nvPr/>
        </p:nvSpPr>
        <p:spPr>
          <a:xfrm>
            <a:off x="457200" y="2788920"/>
            <a:ext cx="3657600" cy="201168"/>
          </a:xfrm>
          <a:prstGeom prst="rect">
            <a:avLst/>
          </a:prstGeom>
          <a:noFill/>
          <a:ln/>
        </p:spPr>
        <p:txBody>
          <a:bodyPr wrap="square" lIns="0" tIns="0" rIns="0" bIns="0" rtlCol="0" anchor="ctr"/>
          <a:lstStyle/>
          <a:p>
            <a:pPr marL="0" indent="0">
              <a:buNone/>
            </a:pPr>
            <a:r>
              <a:rPr lang="en-US" sz="1100" b="1" dirty="0">
                <a:solidFill>
                  <a:schemeClr val="accent2"/>
                </a:solidFill>
              </a:rPr>
              <a:t>WHAT WE BUILT</a:t>
            </a:r>
            <a:endParaRPr lang="en-US" sz="1100" dirty="0"/>
          </a:p>
        </p:txBody>
      </p:sp>
      <p:sp>
        <p:nvSpPr>
          <p:cNvPr id="9" name="Row number circle 1"/>
          <p:cNvSpPr/>
          <p:nvPr/>
        </p:nvSpPr>
        <p:spPr>
          <a:xfrm>
            <a:off x="457200" y="3145536"/>
            <a:ext cx="310896" cy="310896"/>
          </a:xfrm>
          <a:prstGeom prst="ellipse">
            <a:avLst/>
          </a:prstGeom>
          <a:solidFill>
            <a:schemeClr val="accent2"/>
          </a:solidFill>
          <a:ln w="12700">
            <a:solidFill>
              <a:schemeClr val="accent2"/>
            </a:solidFill>
            <a:prstDash val="solid"/>
          </a:ln>
        </p:spPr>
      </p:sp>
      <p:sp>
        <p:nvSpPr>
          <p:cNvPr id="10" name="Row number 1"/>
          <p:cNvSpPr txBox="1"/>
          <p:nvPr/>
        </p:nvSpPr>
        <p:spPr>
          <a:xfrm>
            <a:off x="457200" y="3145536"/>
            <a:ext cx="310896" cy="310896"/>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Built row 1"/>
          <p:cNvSpPr txBox="1"/>
          <p:nvPr/>
        </p:nvSpPr>
        <p:spPr>
          <a:xfrm>
            <a:off x="914400" y="3108960"/>
            <a:ext cx="4389120" cy="384048"/>
          </a:xfrm>
          <a:prstGeom prst="rect">
            <a:avLst/>
          </a:prstGeom>
          <a:noFill/>
          <a:ln/>
        </p:spPr>
        <p:txBody>
          <a:bodyPr wrap="square" lIns="0" tIns="0" rIns="0" bIns="0" rtlCol="0" anchor="ctr"/>
          <a:lstStyle/>
          <a:p>
            <a:pPr marL="0" indent="0">
              <a:buNone/>
            </a:pPr>
            <a:r>
              <a:rPr lang="en-US" sz="1500" dirty="0">
                <a:solidFill>
                  <a:schemeClr val="tx1"/>
                </a:solidFill>
              </a:rPr>
              <a:t>REST API with JSON and XML replies</a:t>
            </a:r>
            <a:endParaRPr lang="en-US" sz="1500" dirty="0"/>
          </a:p>
        </p:txBody>
      </p:sp>
      <p:sp>
        <p:nvSpPr>
          <p:cNvPr id="12" name="Row number circle 2"/>
          <p:cNvSpPr/>
          <p:nvPr/>
        </p:nvSpPr>
        <p:spPr>
          <a:xfrm>
            <a:off x="457200" y="3602736"/>
            <a:ext cx="310896" cy="310896"/>
          </a:xfrm>
          <a:prstGeom prst="ellipse">
            <a:avLst/>
          </a:prstGeom>
          <a:solidFill>
            <a:schemeClr val="accent2"/>
          </a:solidFill>
          <a:ln w="12700">
            <a:solidFill>
              <a:schemeClr val="accent2"/>
            </a:solidFill>
            <a:prstDash val="solid"/>
          </a:ln>
        </p:spPr>
      </p:sp>
      <p:sp>
        <p:nvSpPr>
          <p:cNvPr id="13" name="Row number 2"/>
          <p:cNvSpPr txBox="1"/>
          <p:nvPr/>
        </p:nvSpPr>
        <p:spPr>
          <a:xfrm>
            <a:off x="457200" y="3602736"/>
            <a:ext cx="310896" cy="310896"/>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Built row 2"/>
          <p:cNvSpPr txBox="1"/>
          <p:nvPr/>
        </p:nvSpPr>
        <p:spPr>
          <a:xfrm>
            <a:off x="914400" y="3566160"/>
            <a:ext cx="4389120" cy="384048"/>
          </a:xfrm>
          <a:prstGeom prst="rect">
            <a:avLst/>
          </a:prstGeom>
          <a:noFill/>
          <a:ln/>
        </p:spPr>
        <p:txBody>
          <a:bodyPr wrap="square" lIns="0" tIns="0" rIns="0" bIns="0" rtlCol="0" anchor="ctr"/>
          <a:lstStyle/>
          <a:p>
            <a:pPr marL="0" indent="0">
              <a:buNone/>
            </a:pPr>
            <a:r>
              <a:rPr lang="en-US" sz="1500" dirty="0">
                <a:solidFill>
                  <a:schemeClr val="tx1"/>
                </a:solidFill>
              </a:rPr>
              <a:t>8-point verification of every proof</a:t>
            </a:r>
            <a:endParaRPr lang="en-US" sz="1500" dirty="0"/>
          </a:p>
        </p:txBody>
      </p:sp>
      <p:sp>
        <p:nvSpPr>
          <p:cNvPr id="15" name="Row number circle 3"/>
          <p:cNvSpPr/>
          <p:nvPr/>
        </p:nvSpPr>
        <p:spPr>
          <a:xfrm>
            <a:off x="457200" y="4059936"/>
            <a:ext cx="310896" cy="310896"/>
          </a:xfrm>
          <a:prstGeom prst="ellipse">
            <a:avLst/>
          </a:prstGeom>
          <a:solidFill>
            <a:schemeClr val="accent2"/>
          </a:solidFill>
          <a:ln w="12700">
            <a:solidFill>
              <a:schemeClr val="accent2"/>
            </a:solidFill>
            <a:prstDash val="solid"/>
          </a:ln>
        </p:spPr>
      </p:sp>
      <p:sp>
        <p:nvSpPr>
          <p:cNvPr id="16" name="Row number 3"/>
          <p:cNvSpPr txBox="1"/>
          <p:nvPr/>
        </p:nvSpPr>
        <p:spPr>
          <a:xfrm>
            <a:off x="457200" y="4059936"/>
            <a:ext cx="310896" cy="310896"/>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Built row 3"/>
          <p:cNvSpPr txBox="1"/>
          <p:nvPr/>
        </p:nvSpPr>
        <p:spPr>
          <a:xfrm>
            <a:off x="914400" y="4023360"/>
            <a:ext cx="4389120" cy="384048"/>
          </a:xfrm>
          <a:prstGeom prst="rect">
            <a:avLst/>
          </a:prstGeom>
          <a:noFill/>
          <a:ln/>
        </p:spPr>
        <p:txBody>
          <a:bodyPr wrap="square" lIns="0" tIns="0" rIns="0" bIns="0" rtlCol="0" anchor="ctr"/>
          <a:lstStyle/>
          <a:p>
            <a:pPr marL="0" indent="0">
              <a:buNone/>
            </a:pPr>
            <a:r>
              <a:rPr lang="en-US" sz="1500" dirty="0">
                <a:solidFill>
                  <a:schemeClr val="tx1"/>
                </a:solidFill>
              </a:rPr>
              <a:t>36 automated tests + legacy CSV import</a:t>
            </a:r>
            <a:endParaRPr lang="en-US" sz="1500" dirty="0"/>
          </a:p>
        </p:txBody>
      </p:sp>
      <p:sp>
        <p:nvSpPr>
          <p:cNvPr id="18" name="Stat card"/>
          <p:cNvSpPr/>
          <p:nvPr/>
        </p:nvSpPr>
        <p:spPr>
          <a:xfrm>
            <a:off x="5577840" y="1280160"/>
            <a:ext cx="3108960" cy="3200400"/>
          </a:xfrm>
          <a:prstGeom prst="roundRect">
            <a:avLst>
              <a:gd name="adj" fmla="val 3529"/>
            </a:avLst>
          </a:prstGeom>
          <a:solidFill>
            <a:schemeClr val="tx1"/>
          </a:solidFill>
          <a:ln w="12700">
            <a:solidFill>
              <a:schemeClr val="tx1"/>
            </a:solidFill>
            <a:prstDash val="solid"/>
          </a:ln>
          <a:effectLst>
            <a:outerShdw blurRad="101600" dist="25400" dir="5400000" algn="bl" rotWithShape="0">
              <a:srgbClr val="000000">
                <a:alpha val="12000"/>
              </a:srgbClr>
            </a:outerShdw>
          </a:effectLst>
        </p:spPr>
      </p:sp>
      <p:sp>
        <p:nvSpPr>
          <p:cNvPr id="19" name="Stat icon circle"/>
          <p:cNvSpPr/>
          <p:nvPr/>
        </p:nvSpPr>
        <p:spPr>
          <a:xfrm>
            <a:off x="5806440" y="1417320"/>
            <a:ext cx="502920" cy="502920"/>
          </a:xfrm>
          <a:prstGeom prst="ellipse">
            <a:avLst/>
          </a:prstGeom>
          <a:solidFill>
            <a:schemeClr val="accent1"/>
          </a:solidFill>
          <a:ln w="12700">
            <a:solidFill>
              <a:schemeClr val="accent1"/>
            </a:solidFill>
            <a:prstDash val="solid"/>
          </a:ln>
        </p:spPr>
      </p:sp>
      <p:pic>
        <p:nvPicPr>
          <p:cNvPr id="20" name="Icon FaServer" descr="FaServer"/>
          <p:cNvPicPr>
            <a:picLocks noChangeAspect="1"/>
          </p:cNvPicPr>
          <p:nvPr/>
        </p:nvPicPr>
        <p:blipFill>
          <a:blip r:embed="rId3"/>
          <a:stretch>
            <a:fillRect/>
          </a:stretch>
        </p:blipFill>
        <p:spPr>
          <a:xfrm>
            <a:off x="5942228" y="1553108"/>
            <a:ext cx="231343" cy="231343"/>
          </a:xfrm>
          <a:prstGeom prst="rect">
            <a:avLst/>
          </a:prstGeom>
        </p:spPr>
      </p:pic>
      <p:sp>
        <p:nvSpPr>
          <p:cNvPr id="21" name="Stat number"/>
          <p:cNvSpPr txBox="1"/>
          <p:nvPr/>
        </p:nvSpPr>
        <p:spPr>
          <a:xfrm>
            <a:off x="5806440" y="2011680"/>
            <a:ext cx="2697480" cy="685800"/>
          </a:xfrm>
          <a:prstGeom prst="rect">
            <a:avLst/>
          </a:prstGeom>
          <a:noFill/>
          <a:ln/>
        </p:spPr>
        <p:txBody>
          <a:bodyPr wrap="square" lIns="0" tIns="0" rIns="0" bIns="0" rtlCol="0" anchor="ctr"/>
          <a:lstStyle/>
          <a:p>
            <a:pPr marL="0" indent="0">
              <a:buNone/>
            </a:pPr>
            <a:r>
              <a:rPr lang="en-US" sz="4000" b="1" dirty="0">
                <a:solidFill>
                  <a:schemeClr val="accent1"/>
                </a:solidFill>
                <a:latin typeface="Cambria" pitchFamily="34" charset="0"/>
                <a:ea typeface="Cambria" pitchFamily="34" charset="-122"/>
                <a:cs typeface="Cambria" pitchFamily="34" charset="-120"/>
              </a:rPr>
              <a:t>8</a:t>
            </a:r>
            <a:endParaRPr lang="en-US" sz="4000" dirty="0"/>
          </a:p>
        </p:txBody>
      </p:sp>
      <p:sp>
        <p:nvSpPr>
          <p:cNvPr id="22" name="Stat label"/>
          <p:cNvSpPr txBox="1"/>
          <p:nvPr/>
        </p:nvSpPr>
        <p:spPr>
          <a:xfrm>
            <a:off x="5806440" y="2697480"/>
            <a:ext cx="2697480" cy="457200"/>
          </a:xfrm>
          <a:prstGeom prst="rect">
            <a:avLst/>
          </a:prstGeom>
          <a:noFill/>
          <a:ln/>
        </p:spPr>
        <p:txBody>
          <a:bodyPr wrap="square" lIns="0" tIns="0" rIns="0" bIns="0" rtlCol="0" anchor="t"/>
          <a:lstStyle/>
          <a:p>
            <a:pPr marL="0" indent="0">
              <a:buNone/>
            </a:pPr>
            <a:r>
              <a:rPr lang="en-US" sz="1300" dirty="0">
                <a:solidFill>
                  <a:schemeClr val="bg1"/>
                </a:solidFill>
              </a:rPr>
              <a:t>checks before any proof is accepted</a:t>
            </a:r>
            <a:endParaRPr lang="en-US" sz="1300" dirty="0"/>
          </a:p>
        </p:txBody>
      </p:sp>
      <p:sp>
        <p:nvSpPr>
          <p:cNvPr id="23" name="Files label"/>
          <p:cNvSpPr txBox="1"/>
          <p:nvPr/>
        </p:nvSpPr>
        <p:spPr>
          <a:xfrm>
            <a:off x="5806440" y="3246120"/>
            <a:ext cx="2697480" cy="182880"/>
          </a:xfrm>
          <a:prstGeom prst="rect">
            <a:avLst/>
          </a:prstGeom>
          <a:noFill/>
          <a:ln/>
        </p:spPr>
        <p:txBody>
          <a:bodyPr wrap="square" lIns="0" tIns="0" rIns="0" bIns="0" rtlCol="0" anchor="ctr"/>
          <a:lstStyle/>
          <a:p>
            <a:pPr marL="0" indent="0">
              <a:buNone/>
            </a:pPr>
            <a:r>
              <a:rPr lang="en-US" sz="1000" b="1" dirty="0">
                <a:solidFill>
                  <a:schemeClr val="accent6"/>
                </a:solidFill>
              </a:rPr>
              <a:t>KEY FILES</a:t>
            </a:r>
            <a:endParaRPr lang="en-US" sz="1000" dirty="0"/>
          </a:p>
        </p:txBody>
      </p:sp>
      <p:sp>
        <p:nvSpPr>
          <p:cNvPr id="24" name="Files list"/>
          <p:cNvSpPr txBox="1"/>
          <p:nvPr/>
        </p:nvSpPr>
        <p:spPr>
          <a:xfrm>
            <a:off x="5806440" y="3474720"/>
            <a:ext cx="2697480" cy="914400"/>
          </a:xfrm>
          <a:prstGeom prst="rect">
            <a:avLst/>
          </a:prstGeom>
          <a:noFill/>
          <a:ln/>
        </p:spPr>
        <p:txBody>
          <a:bodyPr wrap="square" lIns="0" tIns="0" rIns="0" bIns="0" rtlCol="0" anchor="t"/>
          <a:lstStyle/>
          <a:p>
            <a:pPr marL="0" indent="0">
              <a:spcAft>
                <a:spcPts val="200"/>
              </a:spcAft>
              <a:buNone/>
            </a:pPr>
            <a:r>
              <a:rPr lang="en-US" sz="1100" dirty="0">
                <a:solidFill>
                  <a:schemeClr val="bg1"/>
                </a:solidFill>
                <a:latin typeface="Courier New" pitchFamily="34" charset="0"/>
                <a:ea typeface="Courier New" pitchFamily="34" charset="-122"/>
                <a:cs typeface="Courier New" pitchFamily="34" charset="-120"/>
              </a:rPr>
              <a:t>server.js</a:t>
            </a:r>
            <a:endParaRPr lang="en-US" sz="1100" dirty="0"/>
          </a:p>
          <a:p>
            <a:pPr marL="0" indent="0">
              <a:spcAft>
                <a:spcPts val="200"/>
              </a:spcAft>
              <a:buNone/>
            </a:pPr>
            <a:r>
              <a:rPr lang="en-US" sz="1100" dirty="0">
                <a:solidFill>
                  <a:schemeClr val="bg1"/>
                </a:solidFill>
                <a:latin typeface="Courier New" pitchFamily="34" charset="0"/>
                <a:ea typeface="Courier New" pitchFamily="34" charset="-122"/>
                <a:cs typeface="Courier New" pitchFamily="34" charset="-120"/>
              </a:rPr>
              <a:t>verify-core.js</a:t>
            </a:r>
            <a:endParaRPr lang="en-US" sz="1100" dirty="0"/>
          </a:p>
          <a:p>
            <a:pPr marL="0" indent="0">
              <a:spcAft>
                <a:spcPts val="200"/>
              </a:spcAft>
              <a:buNone/>
            </a:pPr>
            <a:r>
              <a:rPr lang="en-US" sz="1100" dirty="0">
                <a:solidFill>
                  <a:schemeClr val="bg1"/>
                </a:solidFill>
                <a:latin typeface="Courier New" pitchFamily="34" charset="0"/>
                <a:ea typeface="Courier New" pitchFamily="34" charset="-122"/>
                <a:cs typeface="Courier New" pitchFamily="34" charset="-120"/>
              </a:rPr>
              <a:t>e2e.js</a:t>
            </a:r>
            <a:endParaRPr lang="en-US" sz="1100" dirty="0"/>
          </a:p>
          <a:p>
            <a:pPr marL="0" indent="0">
              <a:spcAft>
                <a:spcPts val="200"/>
              </a:spcAft>
              <a:buNone/>
            </a:pPr>
            <a:r>
              <a:rPr lang="en-US" sz="1100" dirty="0">
                <a:solidFill>
                  <a:schemeClr val="bg1"/>
                </a:solidFill>
                <a:latin typeface="Courier New" pitchFamily="34" charset="0"/>
                <a:ea typeface="Courier New" pitchFamily="34" charset="-122"/>
                <a:cs typeface="Courier New" pitchFamily="34" charset="-120"/>
              </a:rPr>
              <a:t>import-legacy.js</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600" b="1" dirty="0">
                <a:solidFill>
                  <a:schemeClr val="tx1"/>
                </a:solidFill>
              </a:rPr>
              <a:t>Live Demo in 5 Steps</a:t>
            </a:r>
            <a:endParaRPr lang="en-US" sz="3600" dirty="0"/>
          </a:p>
        </p:txBody>
      </p:sp>
      <p:sp>
        <p:nvSpPr>
          <p:cNvPr id="3" name="Step card 1"/>
          <p:cNvSpPr/>
          <p:nvPr/>
        </p:nvSpPr>
        <p:spPr>
          <a:xfrm>
            <a:off x="457200" y="1280160"/>
            <a:ext cx="1554480" cy="2468880"/>
          </a:xfrm>
          <a:prstGeom prst="roundRect">
            <a:avLst>
              <a:gd name="adj" fmla="val 7059"/>
            </a:avLst>
          </a:prstGeom>
          <a:solidFill>
            <a:schemeClr val="bg2"/>
          </a:solidFill>
          <a:ln w="12700">
            <a:solidFill>
              <a:schemeClr val="bg2"/>
            </a:solidFill>
            <a:prstDash val="solid"/>
          </a:ln>
        </p:spPr>
      </p:sp>
      <p:sp>
        <p:nvSpPr>
          <p:cNvPr id="4" name="Step icon circle 1"/>
          <p:cNvSpPr/>
          <p:nvPr/>
        </p:nvSpPr>
        <p:spPr>
          <a:xfrm>
            <a:off x="868680" y="1463040"/>
            <a:ext cx="731520" cy="731520"/>
          </a:xfrm>
          <a:prstGeom prst="ellipse">
            <a:avLst/>
          </a:prstGeom>
          <a:solidFill>
            <a:schemeClr val="accent2"/>
          </a:solidFill>
          <a:ln w="12700">
            <a:solidFill>
              <a:schemeClr val="accent2"/>
            </a:solidFill>
            <a:prstDash val="solid"/>
          </a:ln>
        </p:spPr>
      </p:sp>
      <p:pic>
        <p:nvPicPr>
          <p:cNvPr id="5" name="Icon FaFileAlt" descr="FaFileAlt"/>
          <p:cNvPicPr>
            <a:picLocks noChangeAspect="1"/>
          </p:cNvPicPr>
          <p:nvPr/>
        </p:nvPicPr>
        <p:blipFill>
          <a:blip r:embed="rId3"/>
          <a:stretch>
            <a:fillRect/>
          </a:stretch>
        </p:blipFill>
        <p:spPr>
          <a:xfrm>
            <a:off x="1066190" y="1660550"/>
            <a:ext cx="336499" cy="336499"/>
          </a:xfrm>
          <a:prstGeom prst="rect">
            <a:avLst/>
          </a:prstGeom>
        </p:spPr>
      </p:pic>
      <p:sp>
        <p:nvSpPr>
          <p:cNvPr id="6" name="Step number 1"/>
          <p:cNvSpPr txBox="1"/>
          <p:nvPr/>
        </p:nvSpPr>
        <p:spPr>
          <a:xfrm>
            <a:off x="594360" y="2331720"/>
            <a:ext cx="1280160" cy="274320"/>
          </a:xfrm>
          <a:prstGeom prst="rect">
            <a:avLst/>
          </a:prstGeom>
          <a:noFill/>
          <a:ln/>
        </p:spPr>
        <p:txBody>
          <a:bodyPr wrap="square" lIns="0" tIns="0" rIns="0" bIns="0" rtlCol="0" anchor="ctr"/>
          <a:lstStyle/>
          <a:p>
            <a:pPr marL="0" indent="0" algn="ctr">
              <a:buNone/>
            </a:pPr>
            <a:r>
              <a:rPr lang="en-US" sz="1200" b="1" dirty="0">
                <a:solidFill>
                  <a:schemeClr val="accent2"/>
                </a:solidFill>
              </a:rPr>
              <a:t>1</a:t>
            </a:r>
            <a:endParaRPr lang="en-US" sz="1200" dirty="0"/>
          </a:p>
        </p:txBody>
      </p:sp>
      <p:sp>
        <p:nvSpPr>
          <p:cNvPr id="7" name="Step title 1"/>
          <p:cNvSpPr txBox="1"/>
          <p:nvPr/>
        </p:nvSpPr>
        <p:spPr>
          <a:xfrm>
            <a:off x="548640" y="2560320"/>
            <a:ext cx="1371600" cy="320040"/>
          </a:xfrm>
          <a:prstGeom prst="rect">
            <a:avLst/>
          </a:prstGeom>
          <a:noFill/>
          <a:ln/>
        </p:spPr>
        <p:txBody>
          <a:bodyPr wrap="square" lIns="0" tIns="0" rIns="0" bIns="0" rtlCol="0" anchor="ctr"/>
          <a:lstStyle/>
          <a:p>
            <a:pPr marL="0" indent="0" algn="ctr">
              <a:buNone/>
            </a:pPr>
            <a:r>
              <a:rPr lang="en-US" sz="1500" b="1" dirty="0">
                <a:solidFill>
                  <a:schemeClr val="tx1"/>
                </a:solidFill>
                <a:latin typeface="Cambria" pitchFamily="34" charset="0"/>
                <a:ea typeface="Cambria" pitchFamily="34" charset="-122"/>
                <a:cs typeface="Cambria" pitchFamily="34" charset="-120"/>
              </a:rPr>
              <a:t>Upload ID</a:t>
            </a:r>
            <a:endParaRPr lang="en-US" sz="1500" dirty="0"/>
          </a:p>
        </p:txBody>
      </p:sp>
      <p:sp>
        <p:nvSpPr>
          <p:cNvPr id="8" name="Step text 1"/>
          <p:cNvSpPr txBox="1"/>
          <p:nvPr/>
        </p:nvSpPr>
        <p:spPr>
          <a:xfrm>
            <a:off x="566928" y="2907792"/>
            <a:ext cx="1335024" cy="777240"/>
          </a:xfrm>
          <a:prstGeom prst="rect">
            <a:avLst/>
          </a:prstGeom>
          <a:noFill/>
          <a:ln/>
        </p:spPr>
        <p:txBody>
          <a:bodyPr wrap="square" lIns="0" tIns="0" rIns="0" bIns="0" rtlCol="0" anchor="t"/>
          <a:lstStyle/>
          <a:p>
            <a:pPr marL="0" indent="0" algn="ctr">
              <a:buNone/>
            </a:pPr>
            <a:r>
              <a:rPr lang="en-US" sz="1400" dirty="0">
                <a:solidFill>
                  <a:schemeClr val="tx2"/>
                </a:solidFill>
              </a:rPr>
              <a:t>OCR reads it, checksum validates</a:t>
            </a:r>
            <a:endParaRPr lang="en-US" sz="1400" dirty="0"/>
          </a:p>
        </p:txBody>
      </p:sp>
      <p:sp>
        <p:nvSpPr>
          <p:cNvPr id="9" name="Step card 2"/>
          <p:cNvSpPr/>
          <p:nvPr/>
        </p:nvSpPr>
        <p:spPr>
          <a:xfrm>
            <a:off x="2125980" y="1280160"/>
            <a:ext cx="1554480" cy="2468880"/>
          </a:xfrm>
          <a:prstGeom prst="roundRect">
            <a:avLst>
              <a:gd name="adj" fmla="val 7059"/>
            </a:avLst>
          </a:prstGeom>
          <a:solidFill>
            <a:schemeClr val="bg2"/>
          </a:solidFill>
          <a:ln w="12700">
            <a:solidFill>
              <a:schemeClr val="bg2"/>
            </a:solidFill>
            <a:prstDash val="solid"/>
          </a:ln>
        </p:spPr>
      </p:sp>
      <p:sp>
        <p:nvSpPr>
          <p:cNvPr id="10" name="Step icon circle 2"/>
          <p:cNvSpPr/>
          <p:nvPr/>
        </p:nvSpPr>
        <p:spPr>
          <a:xfrm>
            <a:off x="2537460" y="1463040"/>
            <a:ext cx="731520" cy="731520"/>
          </a:xfrm>
          <a:prstGeom prst="ellipse">
            <a:avLst/>
          </a:prstGeom>
          <a:solidFill>
            <a:schemeClr val="accent2"/>
          </a:solidFill>
          <a:ln w="12700">
            <a:solidFill>
              <a:schemeClr val="accent2"/>
            </a:solidFill>
            <a:prstDash val="solid"/>
          </a:ln>
        </p:spPr>
      </p:sp>
      <p:pic>
        <p:nvPicPr>
          <p:cNvPr id="11" name="Icon FaCamera" descr="FaCamera"/>
          <p:cNvPicPr>
            <a:picLocks noChangeAspect="1"/>
          </p:cNvPicPr>
          <p:nvPr/>
        </p:nvPicPr>
        <p:blipFill>
          <a:blip r:embed="rId4"/>
          <a:stretch>
            <a:fillRect/>
          </a:stretch>
        </p:blipFill>
        <p:spPr>
          <a:xfrm>
            <a:off x="2734970" y="1660550"/>
            <a:ext cx="336499" cy="336499"/>
          </a:xfrm>
          <a:prstGeom prst="rect">
            <a:avLst/>
          </a:prstGeom>
        </p:spPr>
      </p:pic>
      <p:sp>
        <p:nvSpPr>
          <p:cNvPr id="12" name="Step number 2"/>
          <p:cNvSpPr txBox="1"/>
          <p:nvPr/>
        </p:nvSpPr>
        <p:spPr>
          <a:xfrm>
            <a:off x="2263140" y="2331720"/>
            <a:ext cx="1280160" cy="274320"/>
          </a:xfrm>
          <a:prstGeom prst="rect">
            <a:avLst/>
          </a:prstGeom>
          <a:noFill/>
          <a:ln/>
        </p:spPr>
        <p:txBody>
          <a:bodyPr wrap="square" lIns="0" tIns="0" rIns="0" bIns="0" rtlCol="0" anchor="ctr"/>
          <a:lstStyle/>
          <a:p>
            <a:pPr marL="0" indent="0" algn="ctr">
              <a:buNone/>
            </a:pPr>
            <a:r>
              <a:rPr lang="en-US" sz="1200" b="1" dirty="0">
                <a:solidFill>
                  <a:schemeClr val="accent2"/>
                </a:solidFill>
              </a:rPr>
              <a:t>2</a:t>
            </a:r>
            <a:endParaRPr lang="en-US" sz="1200" dirty="0"/>
          </a:p>
        </p:txBody>
      </p:sp>
      <p:sp>
        <p:nvSpPr>
          <p:cNvPr id="13" name="Step title 2"/>
          <p:cNvSpPr txBox="1"/>
          <p:nvPr/>
        </p:nvSpPr>
        <p:spPr>
          <a:xfrm>
            <a:off x="2217420" y="2560320"/>
            <a:ext cx="1371600" cy="320040"/>
          </a:xfrm>
          <a:prstGeom prst="rect">
            <a:avLst/>
          </a:prstGeom>
          <a:noFill/>
          <a:ln/>
        </p:spPr>
        <p:txBody>
          <a:bodyPr wrap="square" lIns="0" tIns="0" rIns="0" bIns="0" rtlCol="0" anchor="ctr"/>
          <a:lstStyle/>
          <a:p>
            <a:pPr marL="0" indent="0" algn="ctr">
              <a:buNone/>
            </a:pPr>
            <a:r>
              <a:rPr lang="en-US" sz="1500" b="1" dirty="0">
                <a:solidFill>
                  <a:schemeClr val="tx1"/>
                </a:solidFill>
                <a:latin typeface="Cambria" pitchFamily="34" charset="0"/>
                <a:ea typeface="Cambria" pitchFamily="34" charset="-122"/>
                <a:cs typeface="Cambria" pitchFamily="34" charset="-120"/>
              </a:rPr>
              <a:t>Face check</a:t>
            </a:r>
            <a:endParaRPr lang="en-US" sz="1500" dirty="0"/>
          </a:p>
        </p:txBody>
      </p:sp>
      <p:sp>
        <p:nvSpPr>
          <p:cNvPr id="14" name="Step text 2"/>
          <p:cNvSpPr txBox="1"/>
          <p:nvPr/>
        </p:nvSpPr>
        <p:spPr>
          <a:xfrm>
            <a:off x="2235708" y="2907792"/>
            <a:ext cx="1335024" cy="777240"/>
          </a:xfrm>
          <a:prstGeom prst="rect">
            <a:avLst/>
          </a:prstGeom>
          <a:noFill/>
          <a:ln/>
        </p:spPr>
        <p:txBody>
          <a:bodyPr wrap="square" lIns="0" tIns="0" rIns="0" bIns="0" rtlCol="0" anchor="t"/>
          <a:lstStyle/>
          <a:p>
            <a:pPr marL="0" indent="0" algn="ctr">
              <a:buNone/>
            </a:pPr>
            <a:r>
              <a:rPr lang="en-US" sz="1400" dirty="0">
                <a:solidFill>
                  <a:schemeClr val="tx2"/>
                </a:solidFill>
              </a:rPr>
              <a:t>Live webcam matches ID photo</a:t>
            </a:r>
            <a:endParaRPr lang="en-US" sz="1400" dirty="0"/>
          </a:p>
        </p:txBody>
      </p:sp>
      <p:sp>
        <p:nvSpPr>
          <p:cNvPr id="15" name="Step card 3"/>
          <p:cNvSpPr/>
          <p:nvPr/>
        </p:nvSpPr>
        <p:spPr>
          <a:xfrm>
            <a:off x="3794760" y="1280160"/>
            <a:ext cx="1554480" cy="2468880"/>
          </a:xfrm>
          <a:prstGeom prst="roundRect">
            <a:avLst>
              <a:gd name="adj" fmla="val 7059"/>
            </a:avLst>
          </a:prstGeom>
          <a:solidFill>
            <a:schemeClr val="bg2"/>
          </a:solidFill>
          <a:ln w="12700">
            <a:solidFill>
              <a:schemeClr val="bg2"/>
            </a:solidFill>
            <a:prstDash val="solid"/>
          </a:ln>
        </p:spPr>
      </p:sp>
      <p:sp>
        <p:nvSpPr>
          <p:cNvPr id="16" name="Step icon circle 3"/>
          <p:cNvSpPr/>
          <p:nvPr/>
        </p:nvSpPr>
        <p:spPr>
          <a:xfrm>
            <a:off x="4206240" y="1463040"/>
            <a:ext cx="731520" cy="731520"/>
          </a:xfrm>
          <a:prstGeom prst="ellipse">
            <a:avLst/>
          </a:prstGeom>
          <a:solidFill>
            <a:schemeClr val="accent2"/>
          </a:solidFill>
          <a:ln w="12700">
            <a:solidFill>
              <a:schemeClr val="accent2"/>
            </a:solidFill>
            <a:prstDash val="solid"/>
          </a:ln>
        </p:spPr>
      </p:sp>
      <p:pic>
        <p:nvPicPr>
          <p:cNvPr id="17" name="Icon FaBan" descr="FaBan"/>
          <p:cNvPicPr>
            <a:picLocks noChangeAspect="1"/>
          </p:cNvPicPr>
          <p:nvPr/>
        </p:nvPicPr>
        <p:blipFill>
          <a:blip r:embed="rId5"/>
          <a:stretch>
            <a:fillRect/>
          </a:stretch>
        </p:blipFill>
        <p:spPr>
          <a:xfrm>
            <a:off x="4403750" y="1660550"/>
            <a:ext cx="336499" cy="336499"/>
          </a:xfrm>
          <a:prstGeom prst="rect">
            <a:avLst/>
          </a:prstGeom>
        </p:spPr>
      </p:pic>
      <p:sp>
        <p:nvSpPr>
          <p:cNvPr id="18" name="Step number 3"/>
          <p:cNvSpPr txBox="1"/>
          <p:nvPr/>
        </p:nvSpPr>
        <p:spPr>
          <a:xfrm>
            <a:off x="3931920" y="2331720"/>
            <a:ext cx="1280160" cy="274320"/>
          </a:xfrm>
          <a:prstGeom prst="rect">
            <a:avLst/>
          </a:prstGeom>
          <a:noFill/>
          <a:ln/>
        </p:spPr>
        <p:txBody>
          <a:bodyPr wrap="square" lIns="0" tIns="0" rIns="0" bIns="0" rtlCol="0" anchor="ctr"/>
          <a:lstStyle/>
          <a:p>
            <a:pPr marL="0" indent="0" algn="ctr">
              <a:buNone/>
            </a:pPr>
            <a:r>
              <a:rPr lang="en-US" sz="1200" b="1" dirty="0">
                <a:solidFill>
                  <a:schemeClr val="accent2"/>
                </a:solidFill>
              </a:rPr>
              <a:t>3</a:t>
            </a:r>
            <a:endParaRPr lang="en-US" sz="1200" dirty="0"/>
          </a:p>
        </p:txBody>
      </p:sp>
      <p:sp>
        <p:nvSpPr>
          <p:cNvPr id="19" name="Step title 3"/>
          <p:cNvSpPr txBox="1"/>
          <p:nvPr/>
        </p:nvSpPr>
        <p:spPr>
          <a:xfrm>
            <a:off x="3886200" y="2560320"/>
            <a:ext cx="1371600" cy="320040"/>
          </a:xfrm>
          <a:prstGeom prst="rect">
            <a:avLst/>
          </a:prstGeom>
          <a:noFill/>
          <a:ln/>
        </p:spPr>
        <p:txBody>
          <a:bodyPr wrap="square" lIns="0" tIns="0" rIns="0" bIns="0" rtlCol="0" anchor="ctr"/>
          <a:lstStyle/>
          <a:p>
            <a:pPr marL="0" indent="0" algn="ctr">
              <a:buNone/>
            </a:pPr>
            <a:r>
              <a:rPr lang="en-US" sz="1500" b="1" dirty="0">
                <a:solidFill>
                  <a:schemeClr val="tx1"/>
                </a:solidFill>
                <a:latin typeface="Cambria" pitchFamily="34" charset="0"/>
                <a:ea typeface="Cambria" pitchFamily="34" charset="-122"/>
                <a:cs typeface="Cambria" pitchFamily="34" charset="-120"/>
              </a:rPr>
              <a:t>AML check</a:t>
            </a:r>
            <a:endParaRPr lang="en-US" sz="1500" dirty="0"/>
          </a:p>
        </p:txBody>
      </p:sp>
      <p:sp>
        <p:nvSpPr>
          <p:cNvPr id="20" name="Step text 3"/>
          <p:cNvSpPr txBox="1"/>
          <p:nvPr/>
        </p:nvSpPr>
        <p:spPr>
          <a:xfrm>
            <a:off x="3904488" y="2907792"/>
            <a:ext cx="1335024" cy="777240"/>
          </a:xfrm>
          <a:prstGeom prst="rect">
            <a:avLst/>
          </a:prstGeom>
          <a:noFill/>
          <a:ln/>
        </p:spPr>
        <p:txBody>
          <a:bodyPr wrap="square" lIns="0" tIns="0" rIns="0" bIns="0" rtlCol="0" anchor="t"/>
          <a:lstStyle/>
          <a:p>
            <a:pPr marL="0" indent="0" algn="ctr">
              <a:buNone/>
            </a:pPr>
            <a:r>
              <a:rPr lang="en-US" sz="1400" dirty="0">
                <a:solidFill>
                  <a:schemeClr val="tx2"/>
                </a:solidFill>
              </a:rPr>
              <a:t>Prove you're not on the list</a:t>
            </a:r>
            <a:endParaRPr lang="en-US" sz="1400" dirty="0"/>
          </a:p>
        </p:txBody>
      </p:sp>
      <p:sp>
        <p:nvSpPr>
          <p:cNvPr id="21" name="Step card 4"/>
          <p:cNvSpPr/>
          <p:nvPr/>
        </p:nvSpPr>
        <p:spPr>
          <a:xfrm>
            <a:off x="5463540" y="1280160"/>
            <a:ext cx="1554480" cy="2468880"/>
          </a:xfrm>
          <a:prstGeom prst="roundRect">
            <a:avLst>
              <a:gd name="adj" fmla="val 7059"/>
            </a:avLst>
          </a:prstGeom>
          <a:solidFill>
            <a:schemeClr val="bg2"/>
          </a:solidFill>
          <a:ln w="12700">
            <a:solidFill>
              <a:schemeClr val="bg2"/>
            </a:solidFill>
            <a:prstDash val="solid"/>
          </a:ln>
        </p:spPr>
      </p:sp>
      <p:sp>
        <p:nvSpPr>
          <p:cNvPr id="22" name="Step icon circle 4"/>
          <p:cNvSpPr/>
          <p:nvPr/>
        </p:nvSpPr>
        <p:spPr>
          <a:xfrm>
            <a:off x="5875020" y="1463040"/>
            <a:ext cx="731520" cy="731520"/>
          </a:xfrm>
          <a:prstGeom prst="ellipse">
            <a:avLst/>
          </a:prstGeom>
          <a:solidFill>
            <a:schemeClr val="accent2"/>
          </a:solidFill>
          <a:ln w="12700">
            <a:solidFill>
              <a:schemeClr val="accent2"/>
            </a:solidFill>
            <a:prstDash val="solid"/>
          </a:ln>
        </p:spPr>
      </p:sp>
      <p:pic>
        <p:nvPicPr>
          <p:cNvPr id="23" name="Icon FaKey" descr="FaKey"/>
          <p:cNvPicPr>
            <a:picLocks noChangeAspect="1"/>
          </p:cNvPicPr>
          <p:nvPr/>
        </p:nvPicPr>
        <p:blipFill>
          <a:blip r:embed="rId6"/>
          <a:stretch>
            <a:fillRect/>
          </a:stretch>
        </p:blipFill>
        <p:spPr>
          <a:xfrm>
            <a:off x="6072530" y="1660550"/>
            <a:ext cx="336499" cy="336499"/>
          </a:xfrm>
          <a:prstGeom prst="rect">
            <a:avLst/>
          </a:prstGeom>
        </p:spPr>
      </p:pic>
      <p:sp>
        <p:nvSpPr>
          <p:cNvPr id="24" name="Step number 4"/>
          <p:cNvSpPr txBox="1"/>
          <p:nvPr/>
        </p:nvSpPr>
        <p:spPr>
          <a:xfrm>
            <a:off x="5600700" y="2331720"/>
            <a:ext cx="1280160" cy="274320"/>
          </a:xfrm>
          <a:prstGeom prst="rect">
            <a:avLst/>
          </a:prstGeom>
          <a:noFill/>
          <a:ln/>
        </p:spPr>
        <p:txBody>
          <a:bodyPr wrap="square" lIns="0" tIns="0" rIns="0" bIns="0" rtlCol="0" anchor="ctr"/>
          <a:lstStyle/>
          <a:p>
            <a:pPr marL="0" indent="0" algn="ctr">
              <a:buNone/>
            </a:pPr>
            <a:r>
              <a:rPr lang="en-US" sz="1200" b="1" dirty="0">
                <a:solidFill>
                  <a:schemeClr val="accent2"/>
                </a:solidFill>
              </a:rPr>
              <a:t>4</a:t>
            </a:r>
            <a:endParaRPr lang="en-US" sz="1200" dirty="0"/>
          </a:p>
        </p:txBody>
      </p:sp>
      <p:sp>
        <p:nvSpPr>
          <p:cNvPr id="25" name="Step title 4"/>
          <p:cNvSpPr txBox="1"/>
          <p:nvPr/>
        </p:nvSpPr>
        <p:spPr>
          <a:xfrm>
            <a:off x="5554980" y="2560320"/>
            <a:ext cx="1371600" cy="320040"/>
          </a:xfrm>
          <a:prstGeom prst="rect">
            <a:avLst/>
          </a:prstGeom>
          <a:noFill/>
          <a:ln/>
        </p:spPr>
        <p:txBody>
          <a:bodyPr wrap="square" lIns="0" tIns="0" rIns="0" bIns="0" rtlCol="0" anchor="ctr"/>
          <a:lstStyle/>
          <a:p>
            <a:pPr marL="0" indent="0" algn="ctr">
              <a:buNone/>
            </a:pPr>
            <a:r>
              <a:rPr lang="en-US" sz="1500" b="1" dirty="0">
                <a:solidFill>
                  <a:schemeClr val="tx1"/>
                </a:solidFill>
                <a:latin typeface="Cambria" pitchFamily="34" charset="0"/>
                <a:ea typeface="Cambria" pitchFamily="34" charset="-122"/>
                <a:cs typeface="Cambria" pitchFamily="34" charset="-120"/>
              </a:rPr>
              <a:t>Get credential</a:t>
            </a:r>
            <a:endParaRPr lang="en-US" sz="1500" dirty="0"/>
          </a:p>
        </p:txBody>
      </p:sp>
      <p:sp>
        <p:nvSpPr>
          <p:cNvPr id="26" name="Step text 4"/>
          <p:cNvSpPr txBox="1"/>
          <p:nvPr/>
        </p:nvSpPr>
        <p:spPr>
          <a:xfrm>
            <a:off x="5573268" y="2907792"/>
            <a:ext cx="1335024" cy="777240"/>
          </a:xfrm>
          <a:prstGeom prst="rect">
            <a:avLst/>
          </a:prstGeom>
          <a:noFill/>
          <a:ln/>
        </p:spPr>
        <p:txBody>
          <a:bodyPr wrap="square" lIns="0" tIns="0" rIns="0" bIns="0" rtlCol="0" anchor="t"/>
          <a:lstStyle/>
          <a:p>
            <a:pPr marL="0" indent="0" algn="ctr">
              <a:buNone/>
            </a:pPr>
            <a:r>
              <a:rPr lang="en-US" sz="1400" dirty="0">
                <a:solidFill>
                  <a:schemeClr val="tx2"/>
                </a:solidFill>
              </a:rPr>
              <a:t>Issuer signs, vault stores it</a:t>
            </a:r>
            <a:endParaRPr lang="en-US" sz="1400" dirty="0"/>
          </a:p>
        </p:txBody>
      </p:sp>
      <p:sp>
        <p:nvSpPr>
          <p:cNvPr id="27" name="Step card 5"/>
          <p:cNvSpPr/>
          <p:nvPr/>
        </p:nvSpPr>
        <p:spPr>
          <a:xfrm>
            <a:off x="7132320" y="1280160"/>
            <a:ext cx="1554480" cy="2468880"/>
          </a:xfrm>
          <a:prstGeom prst="roundRect">
            <a:avLst>
              <a:gd name="adj" fmla="val 7059"/>
            </a:avLst>
          </a:prstGeom>
          <a:solidFill>
            <a:schemeClr val="tx1"/>
          </a:solidFill>
          <a:ln w="12700">
            <a:solidFill>
              <a:schemeClr val="tx1"/>
            </a:solidFill>
            <a:prstDash val="solid"/>
          </a:ln>
        </p:spPr>
      </p:sp>
      <p:sp>
        <p:nvSpPr>
          <p:cNvPr id="28" name="Step icon circle 5"/>
          <p:cNvSpPr/>
          <p:nvPr/>
        </p:nvSpPr>
        <p:spPr>
          <a:xfrm>
            <a:off x="7543800" y="1463040"/>
            <a:ext cx="731520" cy="731520"/>
          </a:xfrm>
          <a:prstGeom prst="ellipse">
            <a:avLst/>
          </a:prstGeom>
          <a:solidFill>
            <a:schemeClr val="accent1"/>
          </a:solidFill>
          <a:ln w="12700">
            <a:solidFill>
              <a:schemeClr val="accent1"/>
            </a:solidFill>
            <a:prstDash val="solid"/>
          </a:ln>
        </p:spPr>
      </p:sp>
      <p:pic>
        <p:nvPicPr>
          <p:cNvPr id="29" name="Icon FaCheckCircle" descr="FaCheckCircle"/>
          <p:cNvPicPr>
            <a:picLocks noChangeAspect="1"/>
          </p:cNvPicPr>
          <p:nvPr/>
        </p:nvPicPr>
        <p:blipFill>
          <a:blip r:embed="rId7"/>
          <a:stretch>
            <a:fillRect/>
          </a:stretch>
        </p:blipFill>
        <p:spPr>
          <a:xfrm>
            <a:off x="7741310" y="1660550"/>
            <a:ext cx="336499" cy="336499"/>
          </a:xfrm>
          <a:prstGeom prst="rect">
            <a:avLst/>
          </a:prstGeom>
        </p:spPr>
      </p:pic>
      <p:sp>
        <p:nvSpPr>
          <p:cNvPr id="30" name="Step number 5"/>
          <p:cNvSpPr txBox="1"/>
          <p:nvPr/>
        </p:nvSpPr>
        <p:spPr>
          <a:xfrm>
            <a:off x="7269480" y="2331720"/>
            <a:ext cx="1280160" cy="274320"/>
          </a:xfrm>
          <a:prstGeom prst="rect">
            <a:avLst/>
          </a:prstGeom>
          <a:noFill/>
          <a:ln/>
        </p:spPr>
        <p:txBody>
          <a:bodyPr wrap="square" lIns="0" tIns="0" rIns="0" bIns="0" rtlCol="0" anchor="ctr"/>
          <a:lstStyle/>
          <a:p>
            <a:pPr marL="0" indent="0" algn="ctr">
              <a:buNone/>
            </a:pPr>
            <a:r>
              <a:rPr lang="en-US" sz="1200" b="1" dirty="0">
                <a:solidFill>
                  <a:schemeClr val="accent1"/>
                </a:solidFill>
              </a:rPr>
              <a:t>5</a:t>
            </a:r>
            <a:endParaRPr lang="en-US" sz="1200" dirty="0"/>
          </a:p>
        </p:txBody>
      </p:sp>
      <p:sp>
        <p:nvSpPr>
          <p:cNvPr id="31" name="Step title 5"/>
          <p:cNvSpPr txBox="1"/>
          <p:nvPr/>
        </p:nvSpPr>
        <p:spPr>
          <a:xfrm>
            <a:off x="7223760" y="2560320"/>
            <a:ext cx="1371600" cy="320040"/>
          </a:xfrm>
          <a:prstGeom prst="rect">
            <a:avLst/>
          </a:prstGeom>
          <a:noFill/>
          <a:ln/>
        </p:spPr>
        <p:txBody>
          <a:bodyPr wrap="square" lIns="0" tIns="0" rIns="0" bIns="0" rtlCol="0" anchor="ctr"/>
          <a:lstStyle/>
          <a:p>
            <a:pPr marL="0" indent="0" algn="ctr">
              <a:buNone/>
            </a:pPr>
            <a:r>
              <a:rPr lang="en-US" sz="1500" b="1" dirty="0">
                <a:solidFill>
                  <a:schemeClr val="bg1"/>
                </a:solidFill>
                <a:latin typeface="Cambria" pitchFamily="34" charset="0"/>
                <a:ea typeface="Cambria" pitchFamily="34" charset="-122"/>
                <a:cs typeface="Cambria" pitchFamily="34" charset="-120"/>
              </a:rPr>
              <a:t>Verify proof</a:t>
            </a:r>
            <a:endParaRPr lang="en-US" sz="1500" dirty="0"/>
          </a:p>
        </p:txBody>
      </p:sp>
      <p:sp>
        <p:nvSpPr>
          <p:cNvPr id="32" name="Step text 5"/>
          <p:cNvSpPr txBox="1"/>
          <p:nvPr/>
        </p:nvSpPr>
        <p:spPr>
          <a:xfrm>
            <a:off x="7242048" y="2907792"/>
            <a:ext cx="1335024" cy="777240"/>
          </a:xfrm>
          <a:prstGeom prst="rect">
            <a:avLst/>
          </a:prstGeom>
          <a:noFill/>
          <a:ln/>
        </p:spPr>
        <p:txBody>
          <a:bodyPr wrap="square" lIns="0" tIns="0" rIns="0" bIns="0" rtlCol="0" anchor="t"/>
          <a:lstStyle/>
          <a:p>
            <a:pPr marL="0" indent="0" algn="ctr">
              <a:buNone/>
            </a:pPr>
            <a:r>
              <a:rPr lang="en-US" sz="1400" dirty="0">
                <a:solidFill>
                  <a:schemeClr val="bg2"/>
                </a:solidFill>
              </a:rPr>
              <a:t>Gateway checks Age ≥ 18</a:t>
            </a:r>
            <a:endParaRPr lang="en-US" sz="1400" dirty="0"/>
          </a:p>
        </p:txBody>
      </p:sp>
      <p:sp>
        <p:nvSpPr>
          <p:cNvPr id="33" name="Result bar"/>
          <p:cNvSpPr/>
          <p:nvPr/>
        </p:nvSpPr>
        <p:spPr>
          <a:xfrm>
            <a:off x="457200" y="3931920"/>
            <a:ext cx="8229600" cy="594360"/>
          </a:xfrm>
          <a:prstGeom prst="roundRect">
            <a:avLst>
              <a:gd name="adj" fmla="val 49231"/>
            </a:avLst>
          </a:prstGeom>
          <a:solidFill>
            <a:schemeClr val="accent1"/>
          </a:solidFill>
          <a:ln w="12700">
            <a:solidFill>
              <a:schemeClr val="accent1"/>
            </a:solidFill>
            <a:prstDash val="solid"/>
          </a:ln>
        </p:spPr>
      </p:sp>
      <p:sp>
        <p:nvSpPr>
          <p:cNvPr id="34" name="Result bar text"/>
          <p:cNvSpPr txBox="1"/>
          <p:nvPr/>
        </p:nvSpPr>
        <p:spPr>
          <a:xfrm>
            <a:off x="457200" y="3931920"/>
            <a:ext cx="8229600" cy="594360"/>
          </a:xfrm>
          <a:prstGeom prst="rect">
            <a:avLst/>
          </a:prstGeom>
          <a:noFill/>
          <a:ln/>
        </p:spPr>
        <p:txBody>
          <a:bodyPr wrap="square" lIns="0" tIns="0" rIns="0" bIns="0" rtlCol="0" anchor="ctr"/>
          <a:lstStyle/>
          <a:p>
            <a:pPr marL="0" indent="0" algn="ctr">
              <a:buNone/>
            </a:pPr>
            <a:r>
              <a:rPr lang="en-US" sz="1800" b="1" dirty="0">
                <a:solidFill>
                  <a:schemeClr val="tx1"/>
                </a:solidFill>
              </a:rPr>
              <a:t>Result: VERIFIED. Age ≥ 18 proven, date of birth never shown.</a:t>
            </a:r>
            <a:endParaRPr lang="en-US" sz="1800" dirty="0"/>
          </a:p>
        </p:txBody>
      </p:sp>
      <p:sp>
        <p:nvSpPr>
          <p:cNvPr id="3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600" b="1" dirty="0">
                <a:solidFill>
                  <a:schemeClr val="tx1"/>
                </a:solidFill>
              </a:rPr>
              <a:t>Attacks We Block</a:t>
            </a:r>
            <a:endParaRPr lang="en-US" sz="3600" dirty="0"/>
          </a:p>
        </p:txBody>
      </p:sp>
      <p:sp>
        <p:nvSpPr>
          <p:cNvPr id="3" name="Threat pill 1"/>
          <p:cNvSpPr/>
          <p:nvPr/>
        </p:nvSpPr>
        <p:spPr>
          <a:xfrm>
            <a:off x="457200" y="1280160"/>
            <a:ext cx="3383280" cy="548640"/>
          </a:xfrm>
          <a:prstGeom prst="roundRect">
            <a:avLst>
              <a:gd name="adj" fmla="val 50000"/>
            </a:avLst>
          </a:prstGeom>
          <a:solidFill>
            <a:schemeClr val="accent4">
              <a:alpha val="18000"/>
            </a:schemeClr>
          </a:solidFill>
          <a:ln w="12700">
            <a:solidFill>
              <a:schemeClr val="accent4"/>
            </a:solidFill>
            <a:prstDash val="solid"/>
          </a:ln>
        </p:spPr>
      </p:sp>
      <p:sp>
        <p:nvSpPr>
          <p:cNvPr id="4" name="Threat text 1"/>
          <p:cNvSpPr txBox="1"/>
          <p:nvPr/>
        </p:nvSpPr>
        <p:spPr>
          <a:xfrm>
            <a:off x="685800" y="1280160"/>
            <a:ext cx="3017520" cy="548640"/>
          </a:xfrm>
          <a:prstGeom prst="rect">
            <a:avLst/>
          </a:prstGeom>
          <a:noFill/>
          <a:ln/>
        </p:spPr>
        <p:txBody>
          <a:bodyPr wrap="square" lIns="0" tIns="0" rIns="0" bIns="0" rtlCol="0" anchor="ctr"/>
          <a:lstStyle/>
          <a:p>
            <a:pPr marL="0" indent="0">
              <a:buNone/>
            </a:pPr>
            <a:r>
              <a:rPr lang="en-US" sz="1500" b="1" dirty="0">
                <a:solidFill>
                  <a:schemeClr val="tx1"/>
                </a:solidFill>
              </a:rPr>
              <a:t>Replaying a copied proof</a:t>
            </a:r>
            <a:endParaRPr lang="en-US" sz="1500" dirty="0"/>
          </a:p>
        </p:txBody>
      </p:sp>
      <p:sp>
        <p:nvSpPr>
          <p:cNvPr id="5" name="Threat arrow 1"/>
          <p:cNvSpPr/>
          <p:nvPr/>
        </p:nvSpPr>
        <p:spPr>
          <a:xfrm>
            <a:off x="3977640" y="1389888"/>
            <a:ext cx="457200" cy="329184"/>
          </a:xfrm>
          <a:prstGeom prst="rightArrow">
            <a:avLst/>
          </a:prstGeom>
          <a:solidFill>
            <a:schemeClr val="accent2"/>
          </a:solidFill>
          <a:ln w="12700">
            <a:solidFill>
              <a:schemeClr val="accent2"/>
            </a:solidFill>
            <a:prstDash val="solid"/>
          </a:ln>
        </p:spPr>
      </p:sp>
      <p:sp>
        <p:nvSpPr>
          <p:cNvPr id="6" name="Defense pill 1"/>
          <p:cNvSpPr/>
          <p:nvPr/>
        </p:nvSpPr>
        <p:spPr>
          <a:xfrm>
            <a:off x="4572000" y="1280160"/>
            <a:ext cx="4114800" cy="548640"/>
          </a:xfrm>
          <a:prstGeom prst="roundRect">
            <a:avLst>
              <a:gd name="adj" fmla="val 50000"/>
            </a:avLst>
          </a:prstGeom>
          <a:solidFill>
            <a:schemeClr val="accent1">
              <a:alpha val="25000"/>
            </a:schemeClr>
          </a:solidFill>
          <a:ln w="12700">
            <a:solidFill>
              <a:schemeClr val="accent1"/>
            </a:solidFill>
            <a:prstDash val="solid"/>
          </a:ln>
        </p:spPr>
      </p:sp>
      <p:sp>
        <p:nvSpPr>
          <p:cNvPr id="7" name="Defense text 1"/>
          <p:cNvSpPr txBox="1"/>
          <p:nvPr/>
        </p:nvSpPr>
        <p:spPr>
          <a:xfrm>
            <a:off x="4800600" y="1280160"/>
            <a:ext cx="3749040" cy="548640"/>
          </a:xfrm>
          <a:prstGeom prst="rect">
            <a:avLst/>
          </a:prstGeom>
          <a:noFill/>
          <a:ln/>
        </p:spPr>
        <p:txBody>
          <a:bodyPr wrap="square" lIns="0" tIns="0" rIns="0" bIns="0" rtlCol="0" anchor="ctr"/>
          <a:lstStyle/>
          <a:p>
            <a:pPr marL="0" indent="0">
              <a:buNone/>
            </a:pPr>
            <a:r>
              <a:rPr lang="en-US" sz="1500" dirty="0">
                <a:solidFill>
                  <a:schemeClr val="tx1"/>
                </a:solidFill>
              </a:rPr>
              <a:t>Nonce + one-time nullifier</a:t>
            </a:r>
            <a:endParaRPr lang="en-US" sz="1500" dirty="0"/>
          </a:p>
        </p:txBody>
      </p:sp>
      <p:sp>
        <p:nvSpPr>
          <p:cNvPr id="8" name="Threat pill 2"/>
          <p:cNvSpPr/>
          <p:nvPr/>
        </p:nvSpPr>
        <p:spPr>
          <a:xfrm>
            <a:off x="457200" y="1938528"/>
            <a:ext cx="3383280" cy="548640"/>
          </a:xfrm>
          <a:prstGeom prst="roundRect">
            <a:avLst>
              <a:gd name="adj" fmla="val 50000"/>
            </a:avLst>
          </a:prstGeom>
          <a:solidFill>
            <a:schemeClr val="accent4">
              <a:alpha val="18000"/>
            </a:schemeClr>
          </a:solidFill>
          <a:ln w="12700">
            <a:solidFill>
              <a:schemeClr val="accent4"/>
            </a:solidFill>
            <a:prstDash val="solid"/>
          </a:ln>
        </p:spPr>
      </p:sp>
      <p:sp>
        <p:nvSpPr>
          <p:cNvPr id="9" name="Threat text 2"/>
          <p:cNvSpPr txBox="1"/>
          <p:nvPr/>
        </p:nvSpPr>
        <p:spPr>
          <a:xfrm>
            <a:off x="685800" y="1938528"/>
            <a:ext cx="3017520" cy="548640"/>
          </a:xfrm>
          <a:prstGeom prst="rect">
            <a:avLst/>
          </a:prstGeom>
          <a:noFill/>
          <a:ln/>
        </p:spPr>
        <p:txBody>
          <a:bodyPr wrap="square" lIns="0" tIns="0" rIns="0" bIns="0" rtlCol="0" anchor="ctr"/>
          <a:lstStyle/>
          <a:p>
            <a:pPr marL="0" indent="0">
              <a:buNone/>
            </a:pPr>
            <a:r>
              <a:rPr lang="en-US" sz="1500" b="1" dirty="0">
                <a:solidFill>
                  <a:schemeClr val="tx1"/>
                </a:solidFill>
              </a:rPr>
              <a:t>Sharing a stolen credential</a:t>
            </a:r>
            <a:endParaRPr lang="en-US" sz="1500" dirty="0"/>
          </a:p>
        </p:txBody>
      </p:sp>
      <p:sp>
        <p:nvSpPr>
          <p:cNvPr id="10" name="Threat arrow 2"/>
          <p:cNvSpPr/>
          <p:nvPr/>
        </p:nvSpPr>
        <p:spPr>
          <a:xfrm>
            <a:off x="3977640" y="2048256"/>
            <a:ext cx="457200" cy="329184"/>
          </a:xfrm>
          <a:prstGeom prst="rightArrow">
            <a:avLst/>
          </a:prstGeom>
          <a:solidFill>
            <a:schemeClr val="accent2"/>
          </a:solidFill>
          <a:ln w="12700">
            <a:solidFill>
              <a:schemeClr val="accent2"/>
            </a:solidFill>
            <a:prstDash val="solid"/>
          </a:ln>
        </p:spPr>
      </p:sp>
      <p:sp>
        <p:nvSpPr>
          <p:cNvPr id="11" name="Defense pill 2"/>
          <p:cNvSpPr/>
          <p:nvPr/>
        </p:nvSpPr>
        <p:spPr>
          <a:xfrm>
            <a:off x="4572000" y="1938528"/>
            <a:ext cx="4114800" cy="548640"/>
          </a:xfrm>
          <a:prstGeom prst="roundRect">
            <a:avLst>
              <a:gd name="adj" fmla="val 50000"/>
            </a:avLst>
          </a:prstGeom>
          <a:solidFill>
            <a:schemeClr val="accent1">
              <a:alpha val="25000"/>
            </a:schemeClr>
          </a:solidFill>
          <a:ln w="12700">
            <a:solidFill>
              <a:schemeClr val="accent1"/>
            </a:solidFill>
            <a:prstDash val="solid"/>
          </a:ln>
        </p:spPr>
      </p:sp>
      <p:sp>
        <p:nvSpPr>
          <p:cNvPr id="12" name="Defense text 2"/>
          <p:cNvSpPr txBox="1"/>
          <p:nvPr/>
        </p:nvSpPr>
        <p:spPr>
          <a:xfrm>
            <a:off x="4800600" y="1938528"/>
            <a:ext cx="3749040" cy="548640"/>
          </a:xfrm>
          <a:prstGeom prst="rect">
            <a:avLst/>
          </a:prstGeom>
          <a:noFill/>
          <a:ln/>
        </p:spPr>
        <p:txBody>
          <a:bodyPr wrap="square" lIns="0" tIns="0" rIns="0" bIns="0" rtlCol="0" anchor="ctr"/>
          <a:lstStyle/>
          <a:p>
            <a:pPr marL="0" indent="0">
              <a:buNone/>
            </a:pPr>
            <a:r>
              <a:rPr lang="en-US" sz="1500" dirty="0">
                <a:solidFill>
                  <a:schemeClr val="tx1"/>
                </a:solidFill>
              </a:rPr>
              <a:t>Needs your secret key to prove</a:t>
            </a:r>
            <a:endParaRPr lang="en-US" sz="1500" dirty="0"/>
          </a:p>
        </p:txBody>
      </p:sp>
      <p:sp>
        <p:nvSpPr>
          <p:cNvPr id="13" name="Threat pill 3"/>
          <p:cNvSpPr/>
          <p:nvPr/>
        </p:nvSpPr>
        <p:spPr>
          <a:xfrm>
            <a:off x="457200" y="2596896"/>
            <a:ext cx="3383280" cy="548640"/>
          </a:xfrm>
          <a:prstGeom prst="roundRect">
            <a:avLst>
              <a:gd name="adj" fmla="val 50000"/>
            </a:avLst>
          </a:prstGeom>
          <a:solidFill>
            <a:schemeClr val="accent4">
              <a:alpha val="18000"/>
            </a:schemeClr>
          </a:solidFill>
          <a:ln w="12700">
            <a:solidFill>
              <a:schemeClr val="accent4"/>
            </a:solidFill>
            <a:prstDash val="solid"/>
          </a:ln>
        </p:spPr>
      </p:sp>
      <p:sp>
        <p:nvSpPr>
          <p:cNvPr id="14" name="Threat text 3"/>
          <p:cNvSpPr txBox="1"/>
          <p:nvPr/>
        </p:nvSpPr>
        <p:spPr>
          <a:xfrm>
            <a:off x="685800" y="2596896"/>
            <a:ext cx="3017520" cy="548640"/>
          </a:xfrm>
          <a:prstGeom prst="rect">
            <a:avLst/>
          </a:prstGeom>
          <a:noFill/>
          <a:ln/>
        </p:spPr>
        <p:txBody>
          <a:bodyPr wrap="square" lIns="0" tIns="0" rIns="0" bIns="0" rtlCol="0" anchor="ctr"/>
          <a:lstStyle/>
          <a:p>
            <a:pPr marL="0" indent="0">
              <a:buNone/>
            </a:pPr>
            <a:r>
              <a:rPr lang="en-US" sz="1500" b="1" dirty="0">
                <a:solidFill>
                  <a:schemeClr val="tx1"/>
                </a:solidFill>
              </a:rPr>
              <a:t>Fake issuer or fake ID</a:t>
            </a:r>
            <a:endParaRPr lang="en-US" sz="1500" dirty="0"/>
          </a:p>
        </p:txBody>
      </p:sp>
      <p:sp>
        <p:nvSpPr>
          <p:cNvPr id="15" name="Threat arrow 3"/>
          <p:cNvSpPr/>
          <p:nvPr/>
        </p:nvSpPr>
        <p:spPr>
          <a:xfrm>
            <a:off x="3977640" y="2706624"/>
            <a:ext cx="457200" cy="329184"/>
          </a:xfrm>
          <a:prstGeom prst="rightArrow">
            <a:avLst/>
          </a:prstGeom>
          <a:solidFill>
            <a:schemeClr val="accent2"/>
          </a:solidFill>
          <a:ln w="12700">
            <a:solidFill>
              <a:schemeClr val="accent2"/>
            </a:solidFill>
            <a:prstDash val="solid"/>
          </a:ln>
        </p:spPr>
      </p:sp>
      <p:sp>
        <p:nvSpPr>
          <p:cNvPr id="16" name="Defense pill 3"/>
          <p:cNvSpPr/>
          <p:nvPr/>
        </p:nvSpPr>
        <p:spPr>
          <a:xfrm>
            <a:off x="4572000" y="2596896"/>
            <a:ext cx="4114800" cy="548640"/>
          </a:xfrm>
          <a:prstGeom prst="roundRect">
            <a:avLst>
              <a:gd name="adj" fmla="val 50000"/>
            </a:avLst>
          </a:prstGeom>
          <a:solidFill>
            <a:schemeClr val="accent1">
              <a:alpha val="25000"/>
            </a:schemeClr>
          </a:solidFill>
          <a:ln w="12700">
            <a:solidFill>
              <a:schemeClr val="accent1"/>
            </a:solidFill>
            <a:prstDash val="solid"/>
          </a:ln>
        </p:spPr>
      </p:sp>
      <p:sp>
        <p:nvSpPr>
          <p:cNvPr id="17" name="Defense text 3"/>
          <p:cNvSpPr txBox="1"/>
          <p:nvPr/>
        </p:nvSpPr>
        <p:spPr>
          <a:xfrm>
            <a:off x="4800600" y="2596896"/>
            <a:ext cx="3749040" cy="548640"/>
          </a:xfrm>
          <a:prstGeom prst="rect">
            <a:avLst/>
          </a:prstGeom>
          <a:noFill/>
          <a:ln/>
        </p:spPr>
        <p:txBody>
          <a:bodyPr wrap="square" lIns="0" tIns="0" rIns="0" bIns="0" rtlCol="0" anchor="ctr"/>
          <a:lstStyle/>
          <a:p>
            <a:pPr marL="0" indent="0">
              <a:buNone/>
            </a:pPr>
            <a:r>
              <a:rPr lang="en-US" sz="1500" dirty="0">
                <a:solidFill>
                  <a:schemeClr val="tx1"/>
                </a:solidFill>
              </a:rPr>
              <a:t>Trusted issuer key + registry check</a:t>
            </a:r>
            <a:endParaRPr lang="en-US" sz="1500" dirty="0"/>
          </a:p>
        </p:txBody>
      </p:sp>
      <p:sp>
        <p:nvSpPr>
          <p:cNvPr id="18" name="Threat pill 4"/>
          <p:cNvSpPr/>
          <p:nvPr/>
        </p:nvSpPr>
        <p:spPr>
          <a:xfrm>
            <a:off x="457200" y="3255264"/>
            <a:ext cx="3383280" cy="548640"/>
          </a:xfrm>
          <a:prstGeom prst="roundRect">
            <a:avLst>
              <a:gd name="adj" fmla="val 50000"/>
            </a:avLst>
          </a:prstGeom>
          <a:solidFill>
            <a:schemeClr val="accent4">
              <a:alpha val="18000"/>
            </a:schemeClr>
          </a:solidFill>
          <a:ln w="12700">
            <a:solidFill>
              <a:schemeClr val="accent4"/>
            </a:solidFill>
            <a:prstDash val="solid"/>
          </a:ln>
        </p:spPr>
      </p:sp>
      <p:sp>
        <p:nvSpPr>
          <p:cNvPr id="19" name="Threat text 4"/>
          <p:cNvSpPr txBox="1"/>
          <p:nvPr/>
        </p:nvSpPr>
        <p:spPr>
          <a:xfrm>
            <a:off x="685800" y="3255264"/>
            <a:ext cx="3017520" cy="548640"/>
          </a:xfrm>
          <a:prstGeom prst="rect">
            <a:avLst/>
          </a:prstGeom>
          <a:noFill/>
          <a:ln/>
        </p:spPr>
        <p:txBody>
          <a:bodyPr wrap="square" lIns="0" tIns="0" rIns="0" bIns="0" rtlCol="0" anchor="ctr"/>
          <a:lstStyle/>
          <a:p>
            <a:pPr marL="0" indent="0">
              <a:buNone/>
            </a:pPr>
            <a:r>
              <a:rPr lang="en-US" sz="1500" b="1" dirty="0">
                <a:solidFill>
                  <a:schemeClr val="tx1"/>
                </a:solidFill>
              </a:rPr>
              <a:t>Front-running on Ethereum</a:t>
            </a:r>
            <a:endParaRPr lang="en-US" sz="1500" dirty="0"/>
          </a:p>
        </p:txBody>
      </p:sp>
      <p:sp>
        <p:nvSpPr>
          <p:cNvPr id="20" name="Threat arrow 4"/>
          <p:cNvSpPr/>
          <p:nvPr/>
        </p:nvSpPr>
        <p:spPr>
          <a:xfrm>
            <a:off x="3977640" y="3364992"/>
            <a:ext cx="457200" cy="329184"/>
          </a:xfrm>
          <a:prstGeom prst="rightArrow">
            <a:avLst/>
          </a:prstGeom>
          <a:solidFill>
            <a:schemeClr val="accent2"/>
          </a:solidFill>
          <a:ln w="12700">
            <a:solidFill>
              <a:schemeClr val="accent2"/>
            </a:solidFill>
            <a:prstDash val="solid"/>
          </a:ln>
        </p:spPr>
      </p:sp>
      <p:sp>
        <p:nvSpPr>
          <p:cNvPr id="21" name="Defense pill 4"/>
          <p:cNvSpPr/>
          <p:nvPr/>
        </p:nvSpPr>
        <p:spPr>
          <a:xfrm>
            <a:off x="4572000" y="3255264"/>
            <a:ext cx="4114800" cy="548640"/>
          </a:xfrm>
          <a:prstGeom prst="roundRect">
            <a:avLst>
              <a:gd name="adj" fmla="val 50000"/>
            </a:avLst>
          </a:prstGeom>
          <a:solidFill>
            <a:schemeClr val="accent1">
              <a:alpha val="25000"/>
            </a:schemeClr>
          </a:solidFill>
          <a:ln w="12700">
            <a:solidFill>
              <a:schemeClr val="accent1"/>
            </a:solidFill>
            <a:prstDash val="solid"/>
          </a:ln>
        </p:spPr>
      </p:sp>
      <p:sp>
        <p:nvSpPr>
          <p:cNvPr id="22" name="Defense text 4"/>
          <p:cNvSpPr txBox="1"/>
          <p:nvPr/>
        </p:nvSpPr>
        <p:spPr>
          <a:xfrm>
            <a:off x="4800600" y="3255264"/>
            <a:ext cx="3749040" cy="548640"/>
          </a:xfrm>
          <a:prstGeom prst="rect">
            <a:avLst/>
          </a:prstGeom>
          <a:noFill/>
          <a:ln/>
        </p:spPr>
        <p:txBody>
          <a:bodyPr wrap="square" lIns="0" tIns="0" rIns="0" bIns="0" rtlCol="0" anchor="ctr"/>
          <a:lstStyle/>
          <a:p>
            <a:pPr marL="0" indent="0">
              <a:buNone/>
            </a:pPr>
            <a:r>
              <a:rPr lang="en-US" sz="1500" dirty="0">
                <a:solidFill>
                  <a:schemeClr val="tx1"/>
                </a:solidFill>
              </a:rPr>
              <a:t>Proof is bound to sender address</a:t>
            </a:r>
            <a:endParaRPr lang="en-US" sz="1500" dirty="0"/>
          </a:p>
        </p:txBody>
      </p:sp>
      <p:sp>
        <p:nvSpPr>
          <p:cNvPr id="23" name="Threat pill 5"/>
          <p:cNvSpPr/>
          <p:nvPr/>
        </p:nvSpPr>
        <p:spPr>
          <a:xfrm>
            <a:off x="457200" y="3913632"/>
            <a:ext cx="3383280" cy="548640"/>
          </a:xfrm>
          <a:prstGeom prst="roundRect">
            <a:avLst>
              <a:gd name="adj" fmla="val 50000"/>
            </a:avLst>
          </a:prstGeom>
          <a:solidFill>
            <a:schemeClr val="accent4">
              <a:alpha val="18000"/>
            </a:schemeClr>
          </a:solidFill>
          <a:ln w="12700">
            <a:solidFill>
              <a:schemeClr val="accent4"/>
            </a:solidFill>
            <a:prstDash val="solid"/>
          </a:ln>
        </p:spPr>
      </p:sp>
      <p:sp>
        <p:nvSpPr>
          <p:cNvPr id="24" name="Threat text 5"/>
          <p:cNvSpPr txBox="1"/>
          <p:nvPr/>
        </p:nvSpPr>
        <p:spPr>
          <a:xfrm>
            <a:off x="685800" y="3913632"/>
            <a:ext cx="3017520" cy="548640"/>
          </a:xfrm>
          <a:prstGeom prst="rect">
            <a:avLst/>
          </a:prstGeom>
          <a:noFill/>
          <a:ln/>
        </p:spPr>
        <p:txBody>
          <a:bodyPr wrap="square" lIns="0" tIns="0" rIns="0" bIns="0" rtlCol="0" anchor="ctr"/>
          <a:lstStyle/>
          <a:p>
            <a:pPr marL="0" indent="0">
              <a:buNone/>
            </a:pPr>
            <a:r>
              <a:rPr lang="en-US" sz="1500" b="1" dirty="0">
                <a:solidFill>
                  <a:schemeClr val="tx1"/>
                </a:solidFill>
              </a:rPr>
              <a:t>Photo or video spoofing</a:t>
            </a:r>
            <a:endParaRPr lang="en-US" sz="1500" dirty="0"/>
          </a:p>
        </p:txBody>
      </p:sp>
      <p:sp>
        <p:nvSpPr>
          <p:cNvPr id="25" name="Threat arrow 5"/>
          <p:cNvSpPr/>
          <p:nvPr/>
        </p:nvSpPr>
        <p:spPr>
          <a:xfrm>
            <a:off x="3977640" y="4023360"/>
            <a:ext cx="457200" cy="329184"/>
          </a:xfrm>
          <a:prstGeom prst="rightArrow">
            <a:avLst/>
          </a:prstGeom>
          <a:solidFill>
            <a:schemeClr val="accent2"/>
          </a:solidFill>
          <a:ln w="12700">
            <a:solidFill>
              <a:schemeClr val="accent2"/>
            </a:solidFill>
            <a:prstDash val="solid"/>
          </a:ln>
        </p:spPr>
      </p:sp>
      <p:sp>
        <p:nvSpPr>
          <p:cNvPr id="26" name="Defense pill 5"/>
          <p:cNvSpPr/>
          <p:nvPr/>
        </p:nvSpPr>
        <p:spPr>
          <a:xfrm>
            <a:off x="4572000" y="3913632"/>
            <a:ext cx="4114800" cy="548640"/>
          </a:xfrm>
          <a:prstGeom prst="roundRect">
            <a:avLst>
              <a:gd name="adj" fmla="val 50000"/>
            </a:avLst>
          </a:prstGeom>
          <a:solidFill>
            <a:schemeClr val="accent1">
              <a:alpha val="25000"/>
            </a:schemeClr>
          </a:solidFill>
          <a:ln w="12700">
            <a:solidFill>
              <a:schemeClr val="accent1"/>
            </a:solidFill>
            <a:prstDash val="solid"/>
          </a:ln>
        </p:spPr>
      </p:sp>
      <p:sp>
        <p:nvSpPr>
          <p:cNvPr id="27" name="Defense text 5"/>
          <p:cNvSpPr txBox="1"/>
          <p:nvPr/>
        </p:nvSpPr>
        <p:spPr>
          <a:xfrm>
            <a:off x="4800600" y="3913632"/>
            <a:ext cx="3749040" cy="548640"/>
          </a:xfrm>
          <a:prstGeom prst="rect">
            <a:avLst/>
          </a:prstGeom>
          <a:noFill/>
          <a:ln/>
        </p:spPr>
        <p:txBody>
          <a:bodyPr wrap="square" lIns="0" tIns="0" rIns="0" bIns="0" rtlCol="0" anchor="ctr"/>
          <a:lstStyle/>
          <a:p>
            <a:pPr marL="0" indent="0">
              <a:buNone/>
            </a:pPr>
            <a:r>
              <a:rPr lang="en-US" sz="1500" dirty="0">
                <a:solidFill>
                  <a:schemeClr val="tx1"/>
                </a:solidFill>
              </a:rPr>
              <a:t>Motion-based liveness check</a:t>
            </a:r>
            <a:endParaRPr lang="en-US" sz="1500" dirty="0"/>
          </a:p>
        </p:txBody>
      </p:sp>
      <p:sp>
        <p:nvSpPr>
          <p:cNvPr id="28"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Results at a Glance</a:t>
            </a:r>
            <a:endParaRPr lang="en-US" sz="3600" dirty="0"/>
          </a:p>
        </p:txBody>
      </p:sp>
      <p:sp>
        <p:nvSpPr>
          <p:cNvPr id="3" name="Stat tile 1"/>
          <p:cNvSpPr/>
          <p:nvPr/>
        </p:nvSpPr>
        <p:spPr>
          <a:xfrm>
            <a:off x="457200" y="1371600"/>
            <a:ext cx="1554480" cy="2103120"/>
          </a:xfrm>
          <a:prstGeom prst="roundRect">
            <a:avLst>
              <a:gd name="adj" fmla="val 7059"/>
            </a:avLst>
          </a:prstGeom>
          <a:solidFill>
            <a:schemeClr val="tx2"/>
          </a:solidFill>
          <a:ln w="12700">
            <a:solidFill>
              <a:schemeClr val="tx2"/>
            </a:solidFill>
            <a:prstDash val="solid"/>
          </a:ln>
        </p:spPr>
      </p:sp>
      <p:sp>
        <p:nvSpPr>
          <p:cNvPr id="4" name="Stat value 1"/>
          <p:cNvSpPr txBox="1"/>
          <p:nvPr/>
        </p:nvSpPr>
        <p:spPr>
          <a:xfrm>
            <a:off x="502920" y="1645920"/>
            <a:ext cx="1463040" cy="731520"/>
          </a:xfrm>
          <a:prstGeom prst="rect">
            <a:avLst/>
          </a:prstGeom>
          <a:noFill/>
          <a:ln/>
        </p:spPr>
        <p:txBody>
          <a:bodyPr wrap="square" lIns="0" tIns="0" rIns="0" bIns="0" rtlCol="0" anchor="ctr"/>
          <a:lstStyle/>
          <a:p>
            <a:pPr marL="0" indent="0" algn="ctr">
              <a:buNone/>
            </a:pPr>
            <a:r>
              <a:rPr lang="en-US" sz="3000" b="1" dirty="0">
                <a:solidFill>
                  <a:schemeClr val="accent1"/>
                </a:solidFill>
                <a:latin typeface="Cambria" pitchFamily="34" charset="0"/>
                <a:ea typeface="Cambria" pitchFamily="34" charset="-122"/>
                <a:cs typeface="Cambria" pitchFamily="34" charset="-120"/>
              </a:rPr>
              <a:t>~800 B</a:t>
            </a:r>
            <a:endParaRPr lang="en-US" sz="3000" dirty="0"/>
          </a:p>
        </p:txBody>
      </p:sp>
      <p:sp>
        <p:nvSpPr>
          <p:cNvPr id="5" name="Stat caption 1"/>
          <p:cNvSpPr txBox="1"/>
          <p:nvPr/>
        </p:nvSpPr>
        <p:spPr>
          <a:xfrm>
            <a:off x="594360" y="2514600"/>
            <a:ext cx="1280160" cy="777240"/>
          </a:xfrm>
          <a:prstGeom prst="rect">
            <a:avLst/>
          </a:prstGeom>
          <a:noFill/>
          <a:ln/>
        </p:spPr>
        <p:txBody>
          <a:bodyPr wrap="square" lIns="0" tIns="0" rIns="0" bIns="0" rtlCol="0" anchor="t"/>
          <a:lstStyle/>
          <a:p>
            <a:pPr marL="0" indent="0" algn="ctr">
              <a:buNone/>
            </a:pPr>
            <a:r>
              <a:rPr lang="en-US" sz="1400" dirty="0">
                <a:solidFill>
                  <a:schemeClr val="bg1"/>
                </a:solidFill>
              </a:rPr>
              <a:t>proof size</a:t>
            </a:r>
            <a:endParaRPr lang="en-US" sz="1400" dirty="0"/>
          </a:p>
        </p:txBody>
      </p:sp>
      <p:sp>
        <p:nvSpPr>
          <p:cNvPr id="6" name="Stat tile 2"/>
          <p:cNvSpPr/>
          <p:nvPr/>
        </p:nvSpPr>
        <p:spPr>
          <a:xfrm>
            <a:off x="2125980" y="1371600"/>
            <a:ext cx="1554480" cy="2103120"/>
          </a:xfrm>
          <a:prstGeom prst="roundRect">
            <a:avLst>
              <a:gd name="adj" fmla="val 7059"/>
            </a:avLst>
          </a:prstGeom>
          <a:solidFill>
            <a:schemeClr val="tx2"/>
          </a:solidFill>
          <a:ln w="12700">
            <a:solidFill>
              <a:schemeClr val="tx2"/>
            </a:solidFill>
            <a:prstDash val="solid"/>
          </a:ln>
        </p:spPr>
      </p:sp>
      <p:sp>
        <p:nvSpPr>
          <p:cNvPr id="7" name="Stat value 2"/>
          <p:cNvSpPr txBox="1"/>
          <p:nvPr/>
        </p:nvSpPr>
        <p:spPr>
          <a:xfrm>
            <a:off x="2171700" y="1645920"/>
            <a:ext cx="1463040" cy="731520"/>
          </a:xfrm>
          <a:prstGeom prst="rect">
            <a:avLst/>
          </a:prstGeom>
          <a:noFill/>
          <a:ln/>
        </p:spPr>
        <p:txBody>
          <a:bodyPr wrap="square" lIns="0" tIns="0" rIns="0" bIns="0" rtlCol="0" anchor="ctr"/>
          <a:lstStyle/>
          <a:p>
            <a:pPr marL="0" indent="0" algn="ctr">
              <a:buNone/>
            </a:pPr>
            <a:r>
              <a:rPr lang="en-US" sz="3000" b="1" dirty="0">
                <a:solidFill>
                  <a:schemeClr val="accent1"/>
                </a:solidFill>
                <a:latin typeface="Cambria" pitchFamily="34" charset="0"/>
                <a:ea typeface="Cambria" pitchFamily="34" charset="-122"/>
                <a:cs typeface="Cambria" pitchFamily="34" charset="-120"/>
              </a:rPr>
              <a:t>~1.4 s</a:t>
            </a:r>
            <a:endParaRPr lang="en-US" sz="3000" dirty="0"/>
          </a:p>
        </p:txBody>
      </p:sp>
      <p:sp>
        <p:nvSpPr>
          <p:cNvPr id="8" name="Stat caption 2"/>
          <p:cNvSpPr txBox="1"/>
          <p:nvPr/>
        </p:nvSpPr>
        <p:spPr>
          <a:xfrm>
            <a:off x="2263140" y="2514600"/>
            <a:ext cx="1280160" cy="777240"/>
          </a:xfrm>
          <a:prstGeom prst="rect">
            <a:avLst/>
          </a:prstGeom>
          <a:noFill/>
          <a:ln/>
        </p:spPr>
        <p:txBody>
          <a:bodyPr wrap="square" lIns="0" tIns="0" rIns="0" bIns="0" rtlCol="0" anchor="t"/>
          <a:lstStyle/>
          <a:p>
            <a:pPr marL="0" indent="0" algn="ctr">
              <a:buNone/>
            </a:pPr>
            <a:r>
              <a:rPr lang="en-US" sz="1400" dirty="0">
                <a:solidFill>
                  <a:schemeClr val="bg1"/>
                </a:solidFill>
              </a:rPr>
              <a:t>to prove, in the browser</a:t>
            </a:r>
            <a:endParaRPr lang="en-US" sz="1400" dirty="0"/>
          </a:p>
        </p:txBody>
      </p:sp>
      <p:sp>
        <p:nvSpPr>
          <p:cNvPr id="9" name="Stat tile 3"/>
          <p:cNvSpPr/>
          <p:nvPr/>
        </p:nvSpPr>
        <p:spPr>
          <a:xfrm>
            <a:off x="3794760" y="1371600"/>
            <a:ext cx="1554480" cy="2103120"/>
          </a:xfrm>
          <a:prstGeom prst="roundRect">
            <a:avLst>
              <a:gd name="adj" fmla="val 7059"/>
            </a:avLst>
          </a:prstGeom>
          <a:solidFill>
            <a:schemeClr val="tx2"/>
          </a:solidFill>
          <a:ln w="12700">
            <a:solidFill>
              <a:schemeClr val="tx2"/>
            </a:solidFill>
            <a:prstDash val="solid"/>
          </a:ln>
        </p:spPr>
      </p:sp>
      <p:sp>
        <p:nvSpPr>
          <p:cNvPr id="10" name="Stat value 3"/>
          <p:cNvSpPr txBox="1"/>
          <p:nvPr/>
        </p:nvSpPr>
        <p:spPr>
          <a:xfrm>
            <a:off x="3840480" y="1645920"/>
            <a:ext cx="1463040" cy="731520"/>
          </a:xfrm>
          <a:prstGeom prst="rect">
            <a:avLst/>
          </a:prstGeom>
          <a:noFill/>
          <a:ln/>
        </p:spPr>
        <p:txBody>
          <a:bodyPr wrap="square" lIns="0" tIns="0" rIns="0" bIns="0" rtlCol="0" anchor="ctr"/>
          <a:lstStyle/>
          <a:p>
            <a:pPr marL="0" indent="0" algn="ctr">
              <a:buNone/>
            </a:pPr>
            <a:r>
              <a:rPr lang="en-US" sz="3000" b="1" dirty="0">
                <a:solidFill>
                  <a:schemeClr val="accent1"/>
                </a:solidFill>
                <a:latin typeface="Cambria" pitchFamily="34" charset="0"/>
                <a:ea typeface="Cambria" pitchFamily="34" charset="-122"/>
                <a:cs typeface="Cambria" pitchFamily="34" charset="-120"/>
              </a:rPr>
              <a:t>8</a:t>
            </a:r>
            <a:endParaRPr lang="en-US" sz="3000" dirty="0"/>
          </a:p>
        </p:txBody>
      </p:sp>
      <p:sp>
        <p:nvSpPr>
          <p:cNvPr id="11" name="Stat caption 3"/>
          <p:cNvSpPr txBox="1"/>
          <p:nvPr/>
        </p:nvSpPr>
        <p:spPr>
          <a:xfrm>
            <a:off x="3931920" y="2514600"/>
            <a:ext cx="1280160" cy="777240"/>
          </a:xfrm>
          <a:prstGeom prst="rect">
            <a:avLst/>
          </a:prstGeom>
          <a:noFill/>
          <a:ln/>
        </p:spPr>
        <p:txBody>
          <a:bodyPr wrap="square" lIns="0" tIns="0" rIns="0" bIns="0" rtlCol="0" anchor="t"/>
          <a:lstStyle/>
          <a:p>
            <a:pPr marL="0" indent="0" algn="ctr">
              <a:buNone/>
            </a:pPr>
            <a:r>
              <a:rPr lang="en-US" sz="1400" dirty="0">
                <a:solidFill>
                  <a:schemeClr val="bg1"/>
                </a:solidFill>
              </a:rPr>
              <a:t>checks per verification</a:t>
            </a:r>
            <a:endParaRPr lang="en-US" sz="1400" dirty="0"/>
          </a:p>
        </p:txBody>
      </p:sp>
      <p:sp>
        <p:nvSpPr>
          <p:cNvPr id="12" name="Stat tile 4"/>
          <p:cNvSpPr/>
          <p:nvPr/>
        </p:nvSpPr>
        <p:spPr>
          <a:xfrm>
            <a:off x="5463540" y="1371600"/>
            <a:ext cx="1554480" cy="2103120"/>
          </a:xfrm>
          <a:prstGeom prst="roundRect">
            <a:avLst>
              <a:gd name="adj" fmla="val 7059"/>
            </a:avLst>
          </a:prstGeom>
          <a:solidFill>
            <a:schemeClr val="tx2"/>
          </a:solidFill>
          <a:ln w="12700">
            <a:solidFill>
              <a:schemeClr val="tx2"/>
            </a:solidFill>
            <a:prstDash val="solid"/>
          </a:ln>
        </p:spPr>
      </p:sp>
      <p:sp>
        <p:nvSpPr>
          <p:cNvPr id="13" name="Stat value 4"/>
          <p:cNvSpPr txBox="1"/>
          <p:nvPr/>
        </p:nvSpPr>
        <p:spPr>
          <a:xfrm>
            <a:off x="5509260" y="1645920"/>
            <a:ext cx="1463040" cy="731520"/>
          </a:xfrm>
          <a:prstGeom prst="rect">
            <a:avLst/>
          </a:prstGeom>
          <a:noFill/>
          <a:ln/>
        </p:spPr>
        <p:txBody>
          <a:bodyPr wrap="square" lIns="0" tIns="0" rIns="0" bIns="0" rtlCol="0" anchor="ctr"/>
          <a:lstStyle/>
          <a:p>
            <a:pPr marL="0" indent="0" algn="ctr">
              <a:buNone/>
            </a:pPr>
            <a:r>
              <a:rPr lang="en-US" sz="3000" b="1" dirty="0">
                <a:solidFill>
                  <a:schemeClr val="accent1"/>
                </a:solidFill>
                <a:latin typeface="Cambria" pitchFamily="34" charset="0"/>
                <a:ea typeface="Cambria" pitchFamily="34" charset="-122"/>
                <a:cs typeface="Cambria" pitchFamily="34" charset="-120"/>
              </a:rPr>
              <a:t>36</a:t>
            </a:r>
            <a:endParaRPr lang="en-US" sz="3000" dirty="0"/>
          </a:p>
        </p:txBody>
      </p:sp>
      <p:sp>
        <p:nvSpPr>
          <p:cNvPr id="14" name="Stat caption 4"/>
          <p:cNvSpPr txBox="1"/>
          <p:nvPr/>
        </p:nvSpPr>
        <p:spPr>
          <a:xfrm>
            <a:off x="5600700" y="2514600"/>
            <a:ext cx="1280160" cy="777240"/>
          </a:xfrm>
          <a:prstGeom prst="rect">
            <a:avLst/>
          </a:prstGeom>
          <a:noFill/>
          <a:ln/>
        </p:spPr>
        <p:txBody>
          <a:bodyPr wrap="square" lIns="0" tIns="0" rIns="0" bIns="0" rtlCol="0" anchor="t"/>
          <a:lstStyle/>
          <a:p>
            <a:pPr marL="0" indent="0" algn="ctr">
              <a:buNone/>
            </a:pPr>
            <a:r>
              <a:rPr lang="en-US" sz="1400" dirty="0">
                <a:solidFill>
                  <a:schemeClr val="bg1"/>
                </a:solidFill>
              </a:rPr>
              <a:t>automated tests passing</a:t>
            </a:r>
            <a:endParaRPr lang="en-US" sz="1400" dirty="0"/>
          </a:p>
        </p:txBody>
      </p:sp>
      <p:sp>
        <p:nvSpPr>
          <p:cNvPr id="15" name="Stat tile 5"/>
          <p:cNvSpPr/>
          <p:nvPr/>
        </p:nvSpPr>
        <p:spPr>
          <a:xfrm>
            <a:off x="7132320" y="1371600"/>
            <a:ext cx="1554480" cy="2103120"/>
          </a:xfrm>
          <a:prstGeom prst="roundRect">
            <a:avLst>
              <a:gd name="adj" fmla="val 7059"/>
            </a:avLst>
          </a:prstGeom>
          <a:solidFill>
            <a:schemeClr val="tx2"/>
          </a:solidFill>
          <a:ln w="12700">
            <a:solidFill>
              <a:schemeClr val="tx2"/>
            </a:solidFill>
            <a:prstDash val="solid"/>
          </a:ln>
        </p:spPr>
      </p:sp>
      <p:sp>
        <p:nvSpPr>
          <p:cNvPr id="16" name="Stat value 5"/>
          <p:cNvSpPr txBox="1"/>
          <p:nvPr/>
        </p:nvSpPr>
        <p:spPr>
          <a:xfrm>
            <a:off x="7178040" y="1645920"/>
            <a:ext cx="1463040" cy="731520"/>
          </a:xfrm>
          <a:prstGeom prst="rect">
            <a:avLst/>
          </a:prstGeom>
          <a:noFill/>
          <a:ln/>
        </p:spPr>
        <p:txBody>
          <a:bodyPr wrap="square" lIns="0" tIns="0" rIns="0" bIns="0" rtlCol="0" anchor="ctr"/>
          <a:lstStyle/>
          <a:p>
            <a:pPr marL="0" indent="0" algn="ctr">
              <a:buNone/>
            </a:pPr>
            <a:r>
              <a:rPr lang="en-US" sz="3000" b="1" dirty="0">
                <a:solidFill>
                  <a:schemeClr val="accent1"/>
                </a:solidFill>
                <a:latin typeface="Cambria" pitchFamily="34" charset="0"/>
                <a:ea typeface="Cambria" pitchFamily="34" charset="-122"/>
                <a:cs typeface="Cambria" pitchFamily="34" charset="-120"/>
              </a:rPr>
              <a:t>0</a:t>
            </a:r>
            <a:endParaRPr lang="en-US" sz="3000" dirty="0"/>
          </a:p>
        </p:txBody>
      </p:sp>
      <p:sp>
        <p:nvSpPr>
          <p:cNvPr id="17" name="Stat caption 5"/>
          <p:cNvSpPr txBox="1"/>
          <p:nvPr/>
        </p:nvSpPr>
        <p:spPr>
          <a:xfrm>
            <a:off x="7269480" y="2514600"/>
            <a:ext cx="1280160" cy="777240"/>
          </a:xfrm>
          <a:prstGeom prst="rect">
            <a:avLst/>
          </a:prstGeom>
          <a:noFill/>
          <a:ln/>
        </p:spPr>
        <p:txBody>
          <a:bodyPr wrap="square" lIns="0" tIns="0" rIns="0" bIns="0" rtlCol="0" anchor="t"/>
          <a:lstStyle/>
          <a:p>
            <a:pPr marL="0" indent="0" algn="ctr">
              <a:buNone/>
            </a:pPr>
            <a:r>
              <a:rPr lang="en-US" sz="1400" dirty="0">
                <a:solidFill>
                  <a:schemeClr val="bg1"/>
                </a:solidFill>
              </a:rPr>
              <a:t>biometric bytes leave the device</a:t>
            </a:r>
            <a:endParaRPr lang="en-US" sz="1400" dirty="0"/>
          </a:p>
        </p:txBody>
      </p:sp>
      <p:sp>
        <p:nvSpPr>
          <p:cNvPr id="18" name="Tech stack line"/>
          <p:cNvSpPr txBox="1"/>
          <p:nvPr/>
        </p:nvSpPr>
        <p:spPr>
          <a:xfrm>
            <a:off x="457200" y="3840480"/>
            <a:ext cx="8229600" cy="365760"/>
          </a:xfrm>
          <a:prstGeom prst="rect">
            <a:avLst/>
          </a:prstGeom>
          <a:noFill/>
          <a:ln/>
        </p:spPr>
        <p:txBody>
          <a:bodyPr wrap="square" lIns="0" tIns="0" rIns="0" bIns="0" rtlCol="0" anchor="ctr"/>
          <a:lstStyle/>
          <a:p>
            <a:pPr marL="0" indent="0" algn="ctr">
              <a:buNone/>
            </a:pPr>
            <a:r>
              <a:rPr lang="en-US" sz="1600" dirty="0">
                <a:solidFill>
                  <a:schemeClr val="accent6"/>
                </a:solidFill>
              </a:rPr>
              <a:t>Built with  Circom  ·  snarkjs  ·  Node.js  ·  Solidity  ·  WebAssembly</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914400"/>
            <a:ext cx="5303520" cy="1920240"/>
          </a:xfrm>
          <a:prstGeom prst="rect">
            <a:avLst/>
          </a:prstGeom>
          <a:noFill/>
          <a:ln/>
        </p:spPr>
        <p:txBody>
          <a:bodyPr wrap="square" lIns="0" tIns="0" rIns="0" bIns="0" rtlCol="0" anchor="b"/>
          <a:lstStyle/>
          <a:p>
            <a:pPr marL="0" indent="0" algn="l">
              <a:buNone/>
            </a:pPr>
            <a:r>
              <a:rPr lang="en-US" sz="4600" b="1" dirty="0">
                <a:solidFill>
                  <a:schemeClr val="bg1"/>
                </a:solidFill>
              </a:rPr>
              <a:t>Thank You.</a:t>
            </a:r>
            <a:endParaRPr lang="en-US" sz="4600" dirty="0"/>
          </a:p>
        </p:txBody>
      </p:sp>
      <p:sp>
        <p:nvSpPr>
          <p:cNvPr id="3" name="Text 0"/>
          <p:cNvSpPr>
            <a:spLocks noGrp="1"/>
          </p:cNvSpPr>
          <p:nvPr>
            <p:ph type="body" idx="101" hasCustomPrompt="1"/>
          </p:nvPr>
        </p:nvSpPr>
        <p:spPr>
          <a:xfrm>
            <a:off x="640080" y="3017520"/>
            <a:ext cx="5303520" cy="731520"/>
          </a:xfrm>
          <a:prstGeom prst="rect">
            <a:avLst/>
          </a:prstGeom>
          <a:noFill/>
          <a:ln/>
        </p:spPr>
        <p:txBody>
          <a:bodyPr wrap="square" lIns="0" tIns="0" rIns="0" bIns="0" rtlCol="0" anchor="t"/>
          <a:lstStyle/>
          <a:p>
            <a:pPr marL="0" indent="0" algn="l">
              <a:buNone/>
            </a:pPr>
            <a:r>
              <a:rPr lang="en-US" sz="2000" dirty="0">
                <a:solidFill>
                  <a:schemeClr val="accent6"/>
                </a:solidFill>
              </a:rPr>
              <a:t>Prove you're 18. Reveal nothing else.</a:t>
            </a:r>
            <a:endParaRPr lang="en-US" sz="2000" dirty="0"/>
          </a:p>
        </p:txBody>
      </p:sp>
      <p:sp>
        <p:nvSpPr>
          <p:cNvPr id="16" name="Hero circle"/>
          <p:cNvSpPr/>
          <p:nvPr/>
        </p:nvSpPr>
        <p:spPr>
          <a:xfrm>
            <a:off x="6172200" y="1005840"/>
            <a:ext cx="2468880" cy="2468880"/>
          </a:xfrm>
          <a:prstGeom prst="ellipse">
            <a:avLst/>
          </a:prstGeom>
          <a:solidFill>
            <a:schemeClr val="tx2"/>
          </a:solidFill>
          <a:ln w="12700">
            <a:solidFill>
              <a:schemeClr val="tx2"/>
            </a:solidFill>
            <a:prstDash val="solid"/>
          </a:ln>
        </p:spPr>
      </p:sp>
      <p:sp>
        <p:nvSpPr>
          <p:cNvPr id="17" name="Orbit mint"/>
          <p:cNvSpPr/>
          <p:nvPr/>
        </p:nvSpPr>
        <p:spPr>
          <a:xfrm>
            <a:off x="5897880" y="914400"/>
            <a:ext cx="365760" cy="365760"/>
          </a:xfrm>
          <a:prstGeom prst="ellipse">
            <a:avLst/>
          </a:prstGeom>
          <a:solidFill>
            <a:schemeClr val="accent1"/>
          </a:solidFill>
          <a:ln w="12700">
            <a:solidFill>
              <a:schemeClr val="accent1"/>
            </a:solidFill>
            <a:prstDash val="solid"/>
          </a:ln>
        </p:spPr>
      </p:sp>
      <p:sp>
        <p:nvSpPr>
          <p:cNvPr id="18" name="Orbit violet"/>
          <p:cNvSpPr/>
          <p:nvPr/>
        </p:nvSpPr>
        <p:spPr>
          <a:xfrm>
            <a:off x="8412480" y="685800"/>
            <a:ext cx="457200" cy="457200"/>
          </a:xfrm>
          <a:prstGeom prst="ellipse">
            <a:avLst/>
          </a:prstGeom>
          <a:solidFill>
            <a:schemeClr val="accent2"/>
          </a:solidFill>
          <a:ln w="12700">
            <a:solidFill>
              <a:schemeClr val="accent2"/>
            </a:solidFill>
            <a:prstDash val="solid"/>
          </a:ln>
        </p:spPr>
      </p:sp>
      <p:sp>
        <p:nvSpPr>
          <p:cNvPr id="19" name="Orbit amber"/>
          <p:cNvSpPr/>
          <p:nvPr/>
        </p:nvSpPr>
        <p:spPr>
          <a:xfrm>
            <a:off x="8366760" y="3383280"/>
            <a:ext cx="274320" cy="274320"/>
          </a:xfrm>
          <a:prstGeom prst="ellipse">
            <a:avLst/>
          </a:prstGeom>
          <a:solidFill>
            <a:schemeClr val="accent3"/>
          </a:solidFill>
          <a:ln w="12700">
            <a:solidFill>
              <a:schemeClr val="accent3"/>
            </a:solidFill>
            <a:prstDash val="solid"/>
          </a:ln>
        </p:spPr>
      </p:sp>
      <p:pic>
        <p:nvPicPr>
          <p:cNvPr id="20" name="Hero shield" descr="Shield"/>
          <p:cNvPicPr>
            <a:picLocks noChangeAspect="1"/>
          </p:cNvPicPr>
          <p:nvPr/>
        </p:nvPicPr>
        <p:blipFill>
          <a:blip r:embed="rId3"/>
          <a:stretch>
            <a:fillRect/>
          </a:stretch>
        </p:blipFill>
        <p:spPr>
          <a:xfrm>
            <a:off x="6858000" y="1691640"/>
            <a:ext cx="1097280" cy="1097280"/>
          </a:xfrm>
          <a:prstGeom prst="rect">
            <a:avLst/>
          </a:prstGeom>
        </p:spPr>
      </p:pic>
    </p:spTree>
  </p:cSld>
  <p:clrMapOvr>
    <a:masterClrMapping/>
  </p:clrMapOvr>
</p:sld>
</file>

<file path=ppt/theme/theme1.xml><?xml version="1.0" encoding="utf-8"?>
<a:theme xmlns:a="http://schemas.openxmlformats.org/drawingml/2006/main" name="ZK Violet">
  <a:themeElements>
    <a:clrScheme name="ZK Violet">
      <a:dk1>
        <a:srgbClr val="170F36"/>
      </a:dk1>
      <a:lt1>
        <a:srgbClr val="FFFFFF"/>
      </a:lt1>
      <a:dk2>
        <a:srgbClr val="2A1F5C"/>
      </a:dk2>
      <a:lt2>
        <a:srgbClr val="F1EEFF"/>
      </a:lt2>
      <a:accent1>
        <a:srgbClr val="2EE6A6"/>
      </a:accent1>
      <a:accent2>
        <a:srgbClr val="7C5CFF"/>
      </a:accent2>
      <a:accent3>
        <a:srgbClr val="FFB547"/>
      </a:accent3>
      <a:accent4>
        <a:srgbClr val="FF5C7A"/>
      </a:accent4>
      <a:accent5>
        <a:srgbClr val="5BC8FF"/>
      </a:accent5>
      <a:accent6>
        <a:srgbClr val="B9AEFF"/>
      </a:accent6>
      <a:hlink>
        <a:srgbClr val="7C5CFF"/>
      </a:hlink>
      <a:folHlink>
        <a:srgbClr val="B9AEFF"/>
      </a:folHlink>
    </a:clrScheme>
    <a:fontScheme name="ZK Viole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1898</Words>
  <Application>Microsoft Office PowerPoint</Application>
  <PresentationFormat>On-screen Show (16:9)</PresentationFormat>
  <Paragraphs>262</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Courier New</vt:lpstr>
      <vt:lpstr>ZK Violet</vt:lpstr>
      <vt:lpstr>Prove it. Don't show it.</vt:lpstr>
      <vt:lpstr>KYC Today Overshares</vt:lpstr>
      <vt:lpstr>Prove Only What's Needed</vt:lpstr>
      <vt:lpstr>Three Ideas in 60 Seconds</vt:lpstr>
      <vt:lpstr>How It Works</vt:lpstr>
      <vt:lpstr>Six Members, Six Parts</vt:lpstr>
      <vt:lpstr>The ZK Circuit</vt:lpstr>
      <vt:lpstr>Issuer &amp; Revocation</vt:lpstr>
      <vt:lpstr>Identity Proofing</vt:lpstr>
      <vt:lpstr>Wallet &amp; Experience</vt:lpstr>
      <vt:lpstr>Quantum, AML &amp; Chain</vt:lpstr>
      <vt:lpstr>Gateway &amp; Testing</vt:lpstr>
      <vt:lpstr>Live Demo in 5 Steps</vt:lpstr>
      <vt:lpstr>Attacks We Block</vt:lpstr>
      <vt:lpstr>Results at a Glance</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Prove it. Don't show it. - ZKP eKYC</dc:title>
  <dc:subject>PptxGenJS Presentation</dc:subject>
  <dc:creator>Capstone Team DSN4091</dc:creator>
  <cp:lastModifiedBy>Karan Singh Negi</cp:lastModifiedBy>
  <cp:revision>3</cp:revision>
  <dcterms:created xsi:type="dcterms:W3CDTF">2026-10-05T19:01:10Z</dcterms:created>
  <dcterms:modified xsi:type="dcterms:W3CDTF">2026-10-09T06:07:50Z</dcterms:modified>
</cp:coreProperties>
</file>